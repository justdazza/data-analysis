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slideLayouts/slideLayout1.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embedTrueTypeFonts="1">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Lst>
  <p:sldSz cx="9144000" cy="5143500"/>
  <p:notesSz cx="5143500" cy="9144000"/>
  <p:embeddedFontLst>
    <p:embeddedFont>
      <p:font typeface="Roboto Mono"/>
      <p:bold r:id="rId13"/>
      <p:italic r:id="rId14"/>
      <p:boldItalic r:id="rId15"/>
    </p:embeddedFont>
  </p:embeddedFontLst>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font" Target="fonts/Font_1_Roboto_Mono_Bold.fntdata"/><Relationship Id="rId14" Type="http://schemas.openxmlformats.org/officeDocument/2006/relationships/font" Target="fonts/Font_2_Roboto_Mono_Italic.fntdata"/><Relationship Id="rId15" Type="http://schemas.openxmlformats.org/officeDocument/2006/relationships/font" Target="fonts/Font_3_Roboto_Mono_BoldItalic.fntdata"/><Relationship Id="rId1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r>
              <a:rPr lang="en-GB" sz="1400" b="0" u="none" strike="noStrike">
                <a:solidFill>
                  <a:srgbClr val="000000"/>
                </a:solidFill>
                <a:effectLst/>
                <a:uFillTx/>
                <a:latin typeface="Arial"/>
              </a:rPr>
              <a:t>Click to move the slide</a:t>
            </a:r>
            <a:endParaRPr lang="en-GB" sz="1400" b="0" u="none" strike="noStrike">
              <a:solidFill>
                <a:srgbClr val="000000"/>
              </a:solidFill>
              <a:effectLst/>
              <a:uFillTx/>
              <a:latin typeface="Arial"/>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GB" sz="2000" b="0" u="none" strike="noStrike">
                <a:solidFill>
                  <a:srgbClr val="000000"/>
                </a:solidFill>
                <a:effectLst/>
                <a:uFillTx/>
                <a:latin typeface="Arial"/>
              </a:rPr>
              <a:t>Click to edit the notes' format</a:t>
            </a:r>
            <a:endParaRPr lang="en-GB" sz="2000" b="0" u="none" strike="noStrik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GB" sz="1400" b="0" u="none" strike="noStrike">
                <a:solidFill>
                  <a:srgbClr val="000000"/>
                </a:solidFill>
                <a:effectLst/>
                <a:uFillTx/>
                <a:latin typeface="Times New Roman"/>
              </a:rPr>
              <a:t> </a:t>
            </a:r>
            <a:endParaRPr lang="en-GB"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GB" sz="1400" b="0" u="none" strike="noStrike">
                <a:solidFill>
                  <a:srgbClr val="000000"/>
                </a:solidFill>
                <a:effectLst/>
                <a:uFillTx/>
                <a:latin typeface="Times New Roman"/>
              </a:defRPr>
            </a:lvl1pPr>
          </a:lstStyle>
          <a:p>
            <a:pPr indent="0" algn="r">
              <a:buNone/>
            </a:pPr>
            <a:r>
              <a:rPr lang="en-GB" sz="1400" b="0" u="none" strike="noStrike">
                <a:solidFill>
                  <a:srgbClr val="000000"/>
                </a:solidFill>
                <a:effectLst/>
                <a:uFillTx/>
                <a:latin typeface="Times New Roman"/>
              </a:rPr>
              <a:t> </a:t>
            </a:r>
            <a:endParaRPr lang="en-GB"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GB" sz="1400" b="0" u="none" strike="noStrike">
                <a:solidFill>
                  <a:srgbClr val="000000"/>
                </a:solidFill>
                <a:effectLst/>
                <a:uFillTx/>
                <a:latin typeface="Times New Roman"/>
              </a:defRPr>
            </a:lvl1pPr>
          </a:lstStyle>
          <a:p>
            <a:pPr indent="0" algn="l">
              <a:buNone/>
            </a:pPr>
            <a:r>
              <a:rPr lang="en-GB" sz="1400" b="0" u="none" strike="noStrike">
                <a:solidFill>
                  <a:srgbClr val="000000"/>
                </a:solidFill>
                <a:effectLst/>
                <a:uFillTx/>
                <a:latin typeface="Times New Roman"/>
              </a:rPr>
              <a:t> </a:t>
            </a:r>
            <a:endParaRPr lang="en-GB"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GB" sz="1400" b="0" u="none" strike="noStrike">
                <a:solidFill>
                  <a:srgbClr val="000000"/>
                </a:solidFill>
                <a:effectLst/>
                <a:uFillTx/>
                <a:latin typeface="Times New Roman"/>
              </a:defRPr>
            </a:lvl1pPr>
          </a:lstStyle>
          <a:p>
            <a:pPr indent="0" algn="r">
              <a:buNone/>
            </a:pPr>
            <a:fld id="{50FD55FD-AD18-4040-B70D-54C33D158652}" type="slidenum">
              <a:rPr lang="en-GB" sz="1400" b="0" u="none" strike="noStrike">
                <a:solidFill>
                  <a:srgbClr val="000000"/>
                </a:solidFill>
                <a:effectLst/>
                <a:uFillTx/>
                <a:latin typeface="Times New Roman"/>
              </a:rPr>
              <a:t>1</a:t>
            </a:fld>
            <a:endParaRPr lang="en-GB"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sldImg"/>
          </p:nvPr>
        </p:nvSpPr>
        <p:spPr>
          <a:xfrm>
            <a:off x="685800" y="1143000"/>
            <a:ext cx="5486040" cy="3085920"/>
          </a:xfrm>
          <a:prstGeom prst="rect">
            <a:avLst/>
          </a:prstGeom>
          <a:ln w="0">
            <a:noFill/>
          </a:ln>
        </p:spPr>
      </p:sp>
      <p:sp>
        <p:nvSpPr>
          <p:cNvPr id="12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GB" sz="1200" b="0" u="none" strike="noStrike">
              <a:solidFill>
                <a:schemeClr val="dk1"/>
              </a:solidFill>
              <a:effectLst/>
              <a:uFillTx/>
              <a:latin typeface="Calibri"/>
            </a:endParaRPr>
          </a:p>
        </p:txBody>
      </p:sp>
      <p:sp>
        <p:nvSpPr>
          <p:cNvPr id="130"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9A685399-55DC-4652-863E-05DC523A2507}" type="slidenum">
              <a:rPr lang="en-US" sz="1400" b="0" u="none" strike="noStrike">
                <a:solidFill>
                  <a:srgbClr val="000000"/>
                </a:solidFill>
                <a:effectLst/>
                <a:uFillTx/>
                <a:latin typeface="Times New Roman"/>
              </a:rPr>
              <a:t>1</a:t>
            </a:fld>
            <a:endParaRPr lang="en-GB" sz="14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PlaceHolder 1"/>
          <p:cNvSpPr>
            <a:spLocks noGrp="1"/>
          </p:cNvSpPr>
          <p:nvPr>
            <p:ph type="sldImg"/>
          </p:nvPr>
        </p:nvSpPr>
        <p:spPr>
          <a:xfrm>
            <a:off x="685800" y="1143000"/>
            <a:ext cx="5486040" cy="3085920"/>
          </a:xfrm>
          <a:prstGeom prst="rect">
            <a:avLst/>
          </a:prstGeom>
          <a:ln w="0">
            <a:noFill/>
          </a:ln>
        </p:spPr>
      </p:sp>
      <p:sp>
        <p:nvSpPr>
          <p:cNvPr id="13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spcBef>
                <a:spcPts val="1199"/>
              </a:spcBef>
              <a:buNone/>
              <a:tabLst>
                <a:tab pos="0" algn="l"/>
              </a:tabLst>
            </a:pPr>
            <a:r>
              <a:rPr lang="en-US" sz="1100" b="0" u="none" strike="noStrike">
                <a:solidFill>
                  <a:schemeClr val="dk1"/>
                </a:solidFill>
                <a:effectLst/>
                <a:uFillTx/>
                <a:latin typeface="Arial"/>
                <a:ea typeface="Arial"/>
              </a:rPr>
              <a:t>Before I began the analysis, I conducted a rigorous data integrity phase. I processed over 70,000 rows of raw LFB data. To ensure this was manageable and reproducible, I utilised Python to automate the cleaning of station names and the handling of null values. &gt; I also engineered several 'Calculated Fields,' such as the gap between actual attendance and the 360-second target. This methodology ensures that every insight I’m about to show you is grounded in a clean, high-integrity dataset, which is the foundation of any reliable improvement project.</a:t>
            </a:r>
            <a:endParaRPr lang="en-GB" sz="1100" b="0" u="none" strike="noStrike">
              <a:solidFill>
                <a:srgbClr val="000000"/>
              </a:solidFill>
              <a:effectLst/>
              <a:uFillTx/>
              <a:latin typeface="Arial"/>
            </a:endParaRPr>
          </a:p>
          <a:p>
            <a:pPr indent="0" algn="l">
              <a:lnSpc>
                <a:spcPct val="100000"/>
              </a:lnSpc>
              <a:spcBef>
                <a:spcPts val="1199"/>
              </a:spcBef>
              <a:buNone/>
              <a:tabLst>
                <a:tab pos="0" algn="l"/>
              </a:tabLst>
            </a:pPr>
            <a:endParaRPr lang="en-GB" sz="1100" b="0" u="none" strike="noStrike">
              <a:solidFill>
                <a:srgbClr val="000000"/>
              </a:solidFill>
              <a:effectLst/>
              <a:uFillTx/>
              <a:latin typeface="Arial"/>
            </a:endParaRPr>
          </a:p>
          <a:p>
            <a:pPr indent="0" algn="l">
              <a:lnSpc>
                <a:spcPct val="115000"/>
              </a:lnSpc>
              <a:spcBef>
                <a:spcPts val="1199"/>
              </a:spcBef>
              <a:buNone/>
              <a:tabLst>
                <a:tab pos="0" algn="l"/>
              </a:tabLst>
            </a:pPr>
            <a:r>
              <a:rPr lang="en-US" sz="1100" b="0" u="none" strike="noStrike">
                <a:solidFill>
                  <a:schemeClr val="dk1"/>
                </a:solidFill>
                <a:effectLst/>
                <a:uFillTx/>
                <a:latin typeface="Arial"/>
                <a:ea typeface="Arial"/>
              </a:rPr>
              <a:t>Pandas techniques:</a:t>
            </a:r>
            <a:br>
              <a:rPr sz="1100"/>
            </a:br>
            <a:r>
              <a:rPr lang="en-US" sz="1100" b="1" u="none" strike="noStrike">
                <a:solidFill>
                  <a:schemeClr val="dk1"/>
                </a:solidFill>
                <a:effectLst/>
                <a:uFillTx/>
                <a:latin typeface="Arial"/>
                <a:ea typeface="Arial"/>
              </a:rPr>
              <a:t>For the names:</a:t>
            </a:r>
            <a:r>
              <a:rPr lang="en-US" sz="1100" b="0" u="none" strike="noStrike">
                <a:solidFill>
                  <a:schemeClr val="dk1"/>
                </a:solidFill>
                <a:effectLst/>
                <a:uFillTx/>
                <a:latin typeface="Arial"/>
                <a:ea typeface="Arial"/>
              </a:rPr>
              <a:t> </a:t>
            </a:r>
            <a:r>
              <a:rPr lang="en-US" sz="1100" b="0" u="none" strike="noStrike">
                <a:solidFill>
                  <a:srgbClr val="188038"/>
                </a:solidFill>
                <a:effectLst/>
                <a:uFillTx/>
                <a:latin typeface="Roboto Mono"/>
                <a:ea typeface="Roboto Mono"/>
              </a:rPr>
              <a:t>df['IncidentStationGround'] = df['IncidentStationGround'].str.title().str.strip()</a:t>
            </a:r>
            <a:r>
              <a:rPr lang="en-US" sz="1100" b="0" u="none" strike="noStrike">
                <a:solidFill>
                  <a:schemeClr val="dk1"/>
                </a:solidFill>
                <a:effectLst/>
                <a:uFillTx/>
                <a:latin typeface="Arial"/>
                <a:ea typeface="Arial"/>
              </a:rPr>
              <a:t> (This forces every station to "Proper Case" and removes accidental spaces).</a:t>
            </a:r>
            <a:br>
              <a:rPr sz="1100"/>
            </a:br>
            <a:r>
              <a:rPr lang="en-US" sz="1100" b="1" u="none" strike="noStrike">
                <a:solidFill>
                  <a:schemeClr val="dk1"/>
                </a:solidFill>
                <a:effectLst/>
                <a:uFillTx/>
                <a:latin typeface="Arial"/>
                <a:ea typeface="Arial"/>
              </a:rPr>
              <a:t>For the times:</a:t>
            </a:r>
            <a:r>
              <a:rPr lang="en-US" sz="1100" b="0" u="none" strike="noStrike">
                <a:solidFill>
                  <a:schemeClr val="dk1"/>
                </a:solidFill>
                <a:effectLst/>
                <a:uFillTx/>
                <a:latin typeface="Arial"/>
                <a:ea typeface="Arial"/>
              </a:rPr>
              <a:t> </a:t>
            </a:r>
            <a:r>
              <a:rPr lang="en-US" sz="1100" b="0" u="none" strike="noStrike">
                <a:solidFill>
                  <a:srgbClr val="188038"/>
                </a:solidFill>
                <a:effectLst/>
                <a:uFillTx/>
                <a:latin typeface="Roboto Mono"/>
                <a:ea typeface="Roboto Mono"/>
              </a:rPr>
              <a:t>df = df.dropna(subset=['FirstPumpArriving_AttendanceTime'])</a:t>
            </a:r>
            <a:r>
              <a:rPr lang="en-US" sz="1100" b="0" u="none" strike="noStrike">
                <a:solidFill>
                  <a:schemeClr val="dk1"/>
                </a:solidFill>
                <a:effectLst/>
                <a:uFillTx/>
                <a:latin typeface="Arial"/>
                <a:ea typeface="Arial"/>
              </a:rPr>
              <a:t> (This drops any records where no attendance time was recorded).</a:t>
            </a:r>
            <a:endParaRPr lang="en-GB" sz="1100" b="0" u="none" strike="noStrike">
              <a:solidFill>
                <a:srgbClr val="000000"/>
              </a:solidFill>
              <a:effectLst/>
              <a:uFillTx/>
              <a:latin typeface="Arial"/>
            </a:endParaRPr>
          </a:p>
          <a:p>
            <a:pPr indent="0" algn="l">
              <a:lnSpc>
                <a:spcPct val="100000"/>
              </a:lnSpc>
              <a:spcBef>
                <a:spcPts val="1199"/>
              </a:spcBef>
              <a:buNone/>
              <a:tabLst>
                <a:tab pos="0" algn="l"/>
              </a:tabLst>
            </a:pPr>
            <a:endParaRPr lang="en-GB" sz="1100" b="0" u="none" strike="noStrike">
              <a:solidFill>
                <a:srgbClr val="000000"/>
              </a:solidFill>
              <a:effectLst/>
              <a:uFillTx/>
              <a:latin typeface="Arial"/>
            </a:endParaRPr>
          </a:p>
        </p:txBody>
      </p:sp>
      <p:sp>
        <p:nvSpPr>
          <p:cNvPr id="133"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27E18C68-A8A8-494D-8FB7-AED21A7CDBD1}" type="slidenum">
              <a:rPr lang="en-US" sz="1400" b="0" u="none" strike="noStrike">
                <a:solidFill>
                  <a:srgbClr val="000000"/>
                </a:solidFill>
                <a:effectLst/>
                <a:uFillTx/>
                <a:latin typeface="Times New Roman"/>
              </a:rPr>
              <a:t>1</a:t>
            </a:fld>
            <a:endParaRPr lang="en-GB" sz="14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sldImg"/>
          </p:nvPr>
        </p:nvSpPr>
        <p:spPr>
          <a:xfrm>
            <a:off x="685800" y="1143000"/>
            <a:ext cx="5486040" cy="3085920"/>
          </a:xfrm>
          <a:prstGeom prst="rect">
            <a:avLst/>
          </a:prstGeom>
          <a:ln w="0">
            <a:noFill/>
          </a:ln>
        </p:spPr>
      </p:sp>
      <p:sp>
        <p:nvSpPr>
          <p:cNvPr id="13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15000"/>
              </a:lnSpc>
              <a:spcBef>
                <a:spcPts val="1199"/>
              </a:spcBef>
              <a:buNone/>
              <a:tabLst>
                <a:tab pos="0" algn="l"/>
              </a:tabLst>
            </a:pPr>
            <a:r>
              <a:rPr lang="en-US" sz="1100" b="1" u="none" strike="noStrike">
                <a:solidFill>
                  <a:schemeClr val="dk1"/>
                </a:solidFill>
                <a:effectLst/>
                <a:uFillTx/>
                <a:latin typeface="Arial"/>
                <a:ea typeface="Arial"/>
              </a:rPr>
              <a:t>The Opening Hook</a:t>
            </a:r>
            <a:r>
              <a:rPr lang="en-US" sz="1100" b="0" u="none" strike="noStrike">
                <a:solidFill>
                  <a:schemeClr val="dk1"/>
                </a:solidFill>
                <a:effectLst/>
                <a:uFillTx/>
                <a:latin typeface="Arial"/>
                <a:ea typeface="Arial"/>
              </a:rPr>
              <a:t> Now that we’ve established the integrity of the data, this dashboard provides a high-level summary of our operational landscape over the last 12 months. These six metrics represent the 'vital signs' of our service and set the stage for the deeper analysis to follow.</a:t>
            </a:r>
            <a:endParaRPr lang="en-GB" sz="1100" b="0" u="none" strike="noStrike">
              <a:solidFill>
                <a:srgbClr val="000000"/>
              </a:solidFill>
              <a:effectLst/>
              <a:uFillTx/>
              <a:latin typeface="Arial"/>
            </a:endParaRPr>
          </a:p>
          <a:p>
            <a:pPr indent="0" algn="l">
              <a:lnSpc>
                <a:spcPct val="115000"/>
              </a:lnSpc>
              <a:spcBef>
                <a:spcPts val="1199"/>
              </a:spcBef>
              <a:buNone/>
              <a:tabLst>
                <a:tab pos="0" algn="l"/>
              </a:tabLst>
            </a:pPr>
            <a:r>
              <a:rPr lang="en-US" sz="1100" b="1" u="none" strike="noStrike">
                <a:solidFill>
                  <a:schemeClr val="dk1"/>
                </a:solidFill>
                <a:effectLst/>
                <a:uFillTx/>
                <a:latin typeface="Arial"/>
                <a:ea typeface="Arial"/>
              </a:rPr>
              <a:t>The Volume &amp; Geography (Boxes 1 &amp; 2)</a:t>
            </a:r>
            <a:r>
              <a:rPr lang="en-US" sz="1100" b="0" u="none" strike="noStrike">
                <a:solidFill>
                  <a:schemeClr val="dk1"/>
                </a:solidFill>
                <a:effectLst/>
                <a:uFillTx/>
                <a:latin typeface="Arial"/>
                <a:ea typeface="Arial"/>
              </a:rPr>
              <a:t> Firstly, we are looking at a total demand of </a:t>
            </a:r>
            <a:r>
              <a:rPr lang="en-US" sz="1100" b="1" u="none" strike="noStrike">
                <a:solidFill>
                  <a:schemeClr val="dk1"/>
                </a:solidFill>
                <a:effectLst/>
                <a:uFillTx/>
                <a:latin typeface="Arial"/>
                <a:ea typeface="Arial"/>
              </a:rPr>
              <a:t>31,250 incidents</a:t>
            </a:r>
            <a:r>
              <a:rPr lang="en-US" sz="1100" b="0" u="none" strike="noStrike">
                <a:solidFill>
                  <a:schemeClr val="dk1"/>
                </a:solidFill>
                <a:effectLst/>
                <a:uFillTx/>
                <a:latin typeface="Arial"/>
                <a:ea typeface="Arial"/>
              </a:rPr>
              <a:t>. While this is a broad figure, it is highly concentrated. </a:t>
            </a:r>
            <a:r>
              <a:rPr lang="en-US" sz="1100" b="1" u="none" strike="noStrike">
                <a:solidFill>
                  <a:schemeClr val="dk1"/>
                </a:solidFill>
                <a:effectLst/>
                <a:uFillTx/>
                <a:latin typeface="Arial"/>
                <a:ea typeface="Arial"/>
              </a:rPr>
              <a:t>Westminster</a:t>
            </a:r>
            <a:r>
              <a:rPr lang="en-US" sz="1100" b="0" u="none" strike="noStrike">
                <a:solidFill>
                  <a:schemeClr val="dk1"/>
                </a:solidFill>
                <a:effectLst/>
                <a:uFillTx/>
                <a:latin typeface="Arial"/>
                <a:ea typeface="Arial"/>
              </a:rPr>
              <a:t> remains our primary hotspot with nearly 9,000 incidents—meaning a single borough is driving roughly 28% of the total workload we are discussing today.</a:t>
            </a:r>
            <a:endParaRPr lang="en-GB" sz="1100" b="0" u="none" strike="noStrike">
              <a:solidFill>
                <a:srgbClr val="000000"/>
              </a:solidFill>
              <a:effectLst/>
              <a:uFillTx/>
              <a:latin typeface="Arial"/>
            </a:endParaRPr>
          </a:p>
          <a:p>
            <a:pPr indent="0" algn="l">
              <a:lnSpc>
                <a:spcPct val="115000"/>
              </a:lnSpc>
              <a:spcBef>
                <a:spcPts val="1199"/>
              </a:spcBef>
              <a:buNone/>
              <a:tabLst>
                <a:tab pos="0" algn="l"/>
              </a:tabLst>
            </a:pPr>
            <a:r>
              <a:rPr lang="en-US" sz="1100" b="1" u="none" strike="noStrike">
                <a:solidFill>
                  <a:schemeClr val="dk1"/>
                </a:solidFill>
                <a:effectLst/>
                <a:uFillTx/>
                <a:latin typeface="Arial"/>
                <a:ea typeface="Arial"/>
              </a:rPr>
              <a:t>The Risk Profile (Boxes 3 &amp; 5)</a:t>
            </a:r>
            <a:r>
              <a:rPr lang="en-US" sz="1100" b="0" u="none" strike="noStrike">
                <a:solidFill>
                  <a:schemeClr val="dk1"/>
                </a:solidFill>
                <a:effectLst/>
                <a:uFillTx/>
                <a:latin typeface="Arial"/>
                <a:ea typeface="Arial"/>
              </a:rPr>
              <a:t> To understand the nature of this demand, we look at </a:t>
            </a:r>
            <a:r>
              <a:rPr lang="en-US" sz="1100" b="1" u="none" strike="noStrike">
                <a:solidFill>
                  <a:schemeClr val="dk1"/>
                </a:solidFill>
                <a:effectLst/>
                <a:uFillTx/>
                <a:latin typeface="Arial"/>
                <a:ea typeface="Arial"/>
              </a:rPr>
              <a:t>Dwellings and Outdoor Structures</a:t>
            </a:r>
            <a:r>
              <a:rPr lang="en-US" sz="1100" b="0" u="none" strike="noStrike">
                <a:solidFill>
                  <a:schemeClr val="dk1"/>
                </a:solidFill>
                <a:effectLst/>
                <a:uFillTx/>
                <a:latin typeface="Arial"/>
                <a:ea typeface="Arial"/>
              </a:rPr>
              <a:t>. Dwellings represent our critical life-safety risk with over 5,800 incidents. However, as an Improvement Technician, I want to draw your attention to Outdoor Structures. This is our highest volume driver, often consisting of nuisance refuse fires. This is a key area for efficiency gains; by reducing these low-level incidents, we protect our capacity for high-risk dwelling fires.</a:t>
            </a:r>
            <a:endParaRPr lang="en-GB" sz="1100" b="0" u="none" strike="noStrike">
              <a:solidFill>
                <a:srgbClr val="000000"/>
              </a:solidFill>
              <a:effectLst/>
              <a:uFillTx/>
              <a:latin typeface="Arial"/>
            </a:endParaRPr>
          </a:p>
          <a:p>
            <a:pPr indent="0" algn="l">
              <a:lnSpc>
                <a:spcPct val="115000"/>
              </a:lnSpc>
              <a:spcBef>
                <a:spcPts val="1199"/>
              </a:spcBef>
              <a:buNone/>
              <a:tabLst>
                <a:tab pos="0" algn="l"/>
              </a:tabLst>
            </a:pPr>
            <a:r>
              <a:rPr lang="en-US" sz="1100" b="1" u="none" strike="noStrike">
                <a:solidFill>
                  <a:schemeClr val="dk1"/>
                </a:solidFill>
                <a:effectLst/>
                <a:uFillTx/>
                <a:latin typeface="Arial"/>
                <a:ea typeface="Arial"/>
              </a:rPr>
              <a:t>The Performance &amp; Timing (Boxes 4 &amp; 6)</a:t>
            </a:r>
            <a:r>
              <a:rPr lang="en-US" sz="1100" b="0" u="none" strike="noStrike">
                <a:solidFill>
                  <a:schemeClr val="dk1"/>
                </a:solidFill>
                <a:effectLst/>
                <a:uFillTx/>
                <a:latin typeface="Arial"/>
                <a:ea typeface="Arial"/>
              </a:rPr>
              <a:t> Crucially, our performance remains resilient. </a:t>
            </a:r>
            <a:r>
              <a:rPr lang="en-US" sz="1100" b="1" u="none" strike="noStrike">
                <a:solidFill>
                  <a:schemeClr val="dk1"/>
                </a:solidFill>
                <a:effectLst/>
                <a:uFillTx/>
                <a:latin typeface="Arial"/>
                <a:ea typeface="Arial"/>
              </a:rPr>
              <a:t>100% of our top ten busiest stations</a:t>
            </a:r>
            <a:r>
              <a:rPr lang="en-US" sz="1100" b="0" u="none" strike="noStrike">
                <a:solidFill>
                  <a:schemeClr val="dk1"/>
                </a:solidFill>
                <a:effectLst/>
                <a:uFillTx/>
                <a:latin typeface="Arial"/>
                <a:ea typeface="Arial"/>
              </a:rPr>
              <a:t> are currently meeting the 360-second attendance target. This is achieved despite the </a:t>
            </a:r>
            <a:r>
              <a:rPr lang="en-US" sz="1100" b="1" u="none" strike="noStrike">
                <a:solidFill>
                  <a:schemeClr val="dk1"/>
                </a:solidFill>
                <a:effectLst/>
                <a:uFillTx/>
                <a:latin typeface="Arial"/>
                <a:ea typeface="Arial"/>
              </a:rPr>
              <a:t>Peak Operational Window</a:t>
            </a:r>
            <a:r>
              <a:rPr lang="en-US" sz="1100" b="0" u="none" strike="noStrike">
                <a:solidFill>
                  <a:schemeClr val="dk1"/>
                </a:solidFill>
                <a:effectLst/>
                <a:uFillTx/>
                <a:latin typeface="Arial"/>
                <a:ea typeface="Arial"/>
              </a:rPr>
              <a:t> occurring between 17:00 and 21:00 every day. This evening surge is where our resources are under the most pressure, yet the data shows our turnout and response procedures are holding firm.</a:t>
            </a:r>
            <a:endParaRPr lang="en-GB" sz="1100" b="0" u="none" strike="noStrike">
              <a:solidFill>
                <a:srgbClr val="000000"/>
              </a:solidFill>
              <a:effectLst/>
              <a:uFillTx/>
              <a:latin typeface="Arial"/>
            </a:endParaRPr>
          </a:p>
          <a:p>
            <a:pPr indent="0" algn="l">
              <a:lnSpc>
                <a:spcPct val="115000"/>
              </a:lnSpc>
              <a:spcBef>
                <a:spcPts val="1199"/>
              </a:spcBef>
              <a:buNone/>
              <a:tabLst>
                <a:tab pos="0" algn="l"/>
              </a:tabLst>
            </a:pPr>
            <a:r>
              <a:rPr lang="en-US" sz="1100" b="1" u="none" strike="noStrike">
                <a:solidFill>
                  <a:schemeClr val="dk1"/>
                </a:solidFill>
                <a:effectLst/>
                <a:uFillTx/>
                <a:latin typeface="Arial"/>
                <a:ea typeface="Arial"/>
              </a:rPr>
              <a:t>The "So What?" (The Transition)</a:t>
            </a:r>
            <a:r>
              <a:rPr lang="en-US" sz="1100" b="0" u="none" strike="noStrike">
                <a:solidFill>
                  <a:schemeClr val="dk1"/>
                </a:solidFill>
                <a:effectLst/>
                <a:uFillTx/>
                <a:latin typeface="Arial"/>
                <a:ea typeface="Arial"/>
              </a:rPr>
              <a:t> In summary, we are a service that is meeting its targets, but one that is heavily weighted toward specific types of risk in specific geographical corridors. My next slides will break down exactly what these incidents look like so we can move from 'reacting' to 'preventing'.</a:t>
            </a:r>
            <a:endParaRPr lang="en-GB" sz="1100" b="0" u="none" strike="noStrike">
              <a:solidFill>
                <a:srgbClr val="000000"/>
              </a:solidFill>
              <a:effectLst/>
              <a:uFillTx/>
              <a:latin typeface="Arial"/>
            </a:endParaRPr>
          </a:p>
          <a:p>
            <a:pPr indent="0" algn="l">
              <a:lnSpc>
                <a:spcPct val="100000"/>
              </a:lnSpc>
              <a:spcBef>
                <a:spcPts val="1199"/>
              </a:spcBef>
              <a:buNone/>
              <a:tabLst>
                <a:tab pos="0" algn="l"/>
              </a:tabLst>
            </a:pPr>
            <a:endParaRPr lang="en-GB" sz="1200" b="0" u="none" strike="noStrike">
              <a:solidFill>
                <a:srgbClr val="000000"/>
              </a:solidFill>
              <a:effectLst/>
              <a:uFillTx/>
              <a:latin typeface="Arial"/>
            </a:endParaRPr>
          </a:p>
        </p:txBody>
      </p:sp>
      <p:sp>
        <p:nvSpPr>
          <p:cNvPr id="136"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A73CD6F6-9715-493B-9860-81209ECF94D3}" type="slidenum">
              <a:rPr lang="en-US" sz="1400" b="0" u="none" strike="noStrike">
                <a:solidFill>
                  <a:srgbClr val="000000"/>
                </a:solidFill>
                <a:effectLst/>
                <a:uFillTx/>
                <a:latin typeface="Times New Roman"/>
              </a:rPr>
              <a:t>1</a:t>
            </a:fld>
            <a:endParaRPr lang="en-GB" sz="14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PlaceHolder 1"/>
          <p:cNvSpPr>
            <a:spLocks noGrp="1"/>
          </p:cNvSpPr>
          <p:nvPr>
            <p:ph type="sldImg"/>
          </p:nvPr>
        </p:nvSpPr>
        <p:spPr>
          <a:xfrm>
            <a:off x="685800" y="1143000"/>
            <a:ext cx="5486040" cy="3085920"/>
          </a:xfrm>
          <a:prstGeom prst="rect">
            <a:avLst/>
          </a:prstGeom>
          <a:ln w="0">
            <a:noFill/>
          </a:ln>
        </p:spPr>
      </p:sp>
      <p:sp>
        <p:nvSpPr>
          <p:cNvPr id="13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GB" sz="1200" b="0" u="none" strike="noStrike">
              <a:solidFill>
                <a:schemeClr val="dk1"/>
              </a:solidFill>
              <a:effectLst/>
              <a:uFillTx/>
              <a:latin typeface="Calibri"/>
            </a:endParaRPr>
          </a:p>
        </p:txBody>
      </p:sp>
      <p:sp>
        <p:nvSpPr>
          <p:cNvPr id="139"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929152FD-8655-464B-BCB1-8107F7E7437C}" type="slidenum">
              <a:rPr lang="en-US" sz="1400" b="0" u="none" strike="noStrike">
                <a:solidFill>
                  <a:srgbClr val="000000"/>
                </a:solidFill>
                <a:effectLst/>
                <a:uFillTx/>
                <a:latin typeface="Times New Roman"/>
              </a:rPr>
              <a:t>1</a:t>
            </a:fld>
            <a:endParaRPr lang="en-GB" sz="14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sldImg"/>
          </p:nvPr>
        </p:nvSpPr>
        <p:spPr>
          <a:xfrm>
            <a:off x="685800" y="1143000"/>
            <a:ext cx="5486040" cy="3085920"/>
          </a:xfrm>
          <a:prstGeom prst="rect">
            <a:avLst/>
          </a:prstGeom>
          <a:ln w="0">
            <a:noFill/>
          </a:ln>
        </p:spPr>
      </p:sp>
      <p:sp>
        <p:nvSpPr>
          <p:cNvPr id="14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spcBef>
                <a:spcPts val="1199"/>
              </a:spcBef>
              <a:buNone/>
              <a:tabLst>
                <a:tab pos="0" algn="l"/>
              </a:tabLst>
            </a:pPr>
            <a:r>
              <a:rPr lang="en-US" sz="1100" b="0" u="none" strike="noStrike">
                <a:solidFill>
                  <a:schemeClr val="dk1"/>
                </a:solidFill>
                <a:effectLst/>
                <a:uFillTx/>
                <a:latin typeface="Arial"/>
                <a:ea typeface="Arial"/>
              </a:rPr>
              <a:t>As we look at the temporal demand, notice how the </a:t>
            </a:r>
            <a:r>
              <a:rPr lang="en-US" sz="1100" b="1" u="none" strike="noStrike">
                <a:solidFill>
                  <a:schemeClr val="dk1"/>
                </a:solidFill>
                <a:effectLst/>
                <a:uFillTx/>
                <a:latin typeface="Arial"/>
                <a:ea typeface="Arial"/>
              </a:rPr>
              <a:t>Resource Pressure (Red Line)</a:t>
            </a:r>
            <a:r>
              <a:rPr lang="en-US" sz="1100" b="0" u="none" strike="noStrike">
                <a:solidFill>
                  <a:schemeClr val="dk1"/>
                </a:solidFill>
                <a:effectLst/>
                <a:uFillTx/>
                <a:latin typeface="Arial"/>
                <a:ea typeface="Arial"/>
              </a:rPr>
              <a:t> tracks almost perfectly with the </a:t>
            </a:r>
            <a:r>
              <a:rPr lang="en-US" sz="1100" b="1" u="none" strike="noStrike">
                <a:solidFill>
                  <a:schemeClr val="dk1"/>
                </a:solidFill>
                <a:effectLst/>
                <a:uFillTx/>
                <a:latin typeface="Arial"/>
                <a:ea typeface="Arial"/>
              </a:rPr>
              <a:t>Incident Volume (Dark Blue Bars)</a:t>
            </a:r>
            <a:r>
              <a:rPr lang="en-US" sz="1100" b="0" u="none" strike="noStrike">
                <a:solidFill>
                  <a:schemeClr val="dk1"/>
                </a:solidFill>
                <a:effectLst/>
                <a:uFillTx/>
                <a:latin typeface="Arial"/>
                <a:ea typeface="Arial"/>
              </a:rPr>
              <a:t>. This confirms that our surge is predictable, peaking sharply between 16:00 and 20:00. We aren't seeing a 'lag' in response; as calls come in, we are committing pump hours immediately. &gt; This 'High-Pressure Window' corresponds with the late-afternoon shift from commercial activity to residential risk. This is the period where our available buffer is thinnest, making it the primary target for ensuring maximum resource readiness. By identifying this precise four-hour block, we can move from reactive management to proactive resource positioning.</a:t>
            </a:r>
            <a:endParaRPr lang="en-GB" sz="1100" b="0" u="none" strike="noStrike">
              <a:solidFill>
                <a:srgbClr val="000000"/>
              </a:solidFill>
              <a:effectLst/>
              <a:uFillTx/>
              <a:latin typeface="Arial"/>
            </a:endParaRPr>
          </a:p>
        </p:txBody>
      </p:sp>
      <p:sp>
        <p:nvSpPr>
          <p:cNvPr id="142"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442EAC47-AF97-4125-9A58-E8D0947453AC}" type="slidenum">
              <a:rPr lang="en-US" sz="1400" b="0" u="none" strike="noStrike">
                <a:solidFill>
                  <a:srgbClr val="000000"/>
                </a:solidFill>
                <a:effectLst/>
                <a:uFillTx/>
                <a:latin typeface="Times New Roman"/>
              </a:rPr>
              <a:t>1</a:t>
            </a:fld>
            <a:endParaRPr lang="en-GB" sz="14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PlaceHolder 1"/>
          <p:cNvSpPr>
            <a:spLocks noGrp="1"/>
          </p:cNvSpPr>
          <p:nvPr>
            <p:ph type="sldImg"/>
          </p:nvPr>
        </p:nvSpPr>
        <p:spPr>
          <a:xfrm>
            <a:off x="685800" y="1143000"/>
            <a:ext cx="5486040" cy="3085920"/>
          </a:xfrm>
          <a:prstGeom prst="rect">
            <a:avLst/>
          </a:prstGeom>
          <a:ln w="0">
            <a:noFill/>
          </a:ln>
        </p:spPr>
      </p:sp>
      <p:sp>
        <p:nvSpPr>
          <p:cNvPr id="14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15000"/>
              </a:lnSpc>
              <a:spcBef>
                <a:spcPts val="1199"/>
              </a:spcBef>
              <a:buNone/>
              <a:tabLst>
                <a:tab pos="0" algn="l"/>
              </a:tabLst>
            </a:pPr>
            <a:r>
              <a:rPr lang="en-US" sz="1100" b="0" u="none" strike="noStrike">
                <a:solidFill>
                  <a:schemeClr val="dk1"/>
                </a:solidFill>
                <a:effectLst/>
                <a:uFillTx/>
                <a:latin typeface="Arial"/>
                <a:ea typeface="Arial"/>
              </a:rPr>
              <a:t>We’ve seen </a:t>
            </a:r>
            <a:r>
              <a:rPr lang="en-US" sz="1100" b="0" i="1" u="none" strike="noStrike">
                <a:solidFill>
                  <a:schemeClr val="dk1"/>
                </a:solidFill>
                <a:effectLst/>
                <a:uFillTx/>
                <a:latin typeface="Arial"/>
                <a:ea typeface="Arial"/>
              </a:rPr>
              <a:t>what</a:t>
            </a:r>
            <a:r>
              <a:rPr lang="en-US" sz="1100" b="0" u="none" strike="noStrike">
                <a:solidFill>
                  <a:schemeClr val="dk1"/>
                </a:solidFill>
                <a:effectLst/>
                <a:uFillTx/>
                <a:latin typeface="Arial"/>
                <a:ea typeface="Arial"/>
              </a:rPr>
              <a:t> types of incidents we face and </a:t>
            </a:r>
            <a:r>
              <a:rPr lang="en-US" sz="1100" b="0" i="1" u="none" strike="noStrike">
                <a:solidFill>
                  <a:schemeClr val="dk1"/>
                </a:solidFill>
                <a:effectLst/>
                <a:uFillTx/>
                <a:latin typeface="Arial"/>
                <a:ea typeface="Arial"/>
              </a:rPr>
              <a:t>when</a:t>
            </a:r>
            <a:r>
              <a:rPr lang="en-US" sz="1100" b="0" u="none" strike="noStrike">
                <a:solidFill>
                  <a:schemeClr val="dk1"/>
                </a:solidFill>
                <a:effectLst/>
                <a:uFillTx/>
                <a:latin typeface="Arial"/>
                <a:ea typeface="Arial"/>
              </a:rPr>
              <a:t> they peak in the late afternoon. Now, we look at the 'Where.' If we want to find the most significant opportunities for improvement, we have to look at our hotspots."</a:t>
            </a:r>
            <a:endParaRPr lang="en-GB" sz="1100" b="0" u="none" strike="noStrike">
              <a:solidFill>
                <a:srgbClr val="000000"/>
              </a:solidFill>
              <a:effectLst/>
              <a:uFillTx/>
              <a:latin typeface="Arial"/>
            </a:endParaRPr>
          </a:p>
          <a:p>
            <a:pPr indent="0" algn="l">
              <a:lnSpc>
                <a:spcPct val="115000"/>
              </a:lnSpc>
              <a:spcBef>
                <a:spcPts val="1199"/>
              </a:spcBef>
              <a:buNone/>
              <a:tabLst>
                <a:tab pos="0" algn="l"/>
              </a:tabLst>
            </a:pPr>
            <a:r>
              <a:rPr lang="en-US" sz="1100" b="1" u="none" strike="noStrike">
                <a:solidFill>
                  <a:schemeClr val="dk1"/>
                </a:solidFill>
                <a:effectLst/>
                <a:uFillTx/>
                <a:latin typeface="Arial"/>
                <a:ea typeface="Arial"/>
              </a:rPr>
              <a:t>The Westminster Outlier</a:t>
            </a:r>
            <a:r>
              <a:rPr lang="en-US" sz="1100" b="0" u="none" strike="noStrike">
                <a:solidFill>
                  <a:schemeClr val="dk1"/>
                </a:solidFill>
                <a:effectLst/>
                <a:uFillTx/>
                <a:latin typeface="Arial"/>
                <a:ea typeface="Arial"/>
              </a:rPr>
              <a:t> "As you can see from the bar chart, </a:t>
            </a:r>
            <a:r>
              <a:rPr lang="en-US" sz="1100" b="1" u="none" strike="noStrike">
                <a:solidFill>
                  <a:schemeClr val="dk1"/>
                </a:solidFill>
                <a:effectLst/>
                <a:uFillTx/>
                <a:latin typeface="Arial"/>
                <a:ea typeface="Arial"/>
              </a:rPr>
              <a:t>Westminster</a:t>
            </a:r>
            <a:r>
              <a:rPr lang="en-US" sz="1100" b="0" u="none" strike="noStrike">
                <a:solidFill>
                  <a:schemeClr val="dk1"/>
                </a:solidFill>
                <a:effectLst/>
                <a:uFillTx/>
                <a:latin typeface="Arial"/>
                <a:ea typeface="Arial"/>
              </a:rPr>
              <a:t> is in a league of its own. It isn't just a busy borough; it’s an outlier that outperforms the next closest area by a massive margin. When we drill down into the station level, two names consistently sit at the top: </a:t>
            </a:r>
            <a:r>
              <a:rPr lang="en-US" sz="1100" b="1" u="none" strike="noStrike">
                <a:solidFill>
                  <a:schemeClr val="dk1"/>
                </a:solidFill>
                <a:effectLst/>
                <a:uFillTx/>
                <a:latin typeface="Arial"/>
                <a:ea typeface="Arial"/>
              </a:rPr>
              <a:t>Paddington and Soho</a:t>
            </a:r>
            <a:r>
              <a:rPr lang="en-US" sz="1100" b="0" u="none" strike="noStrike">
                <a:solidFill>
                  <a:schemeClr val="dk1"/>
                </a:solidFill>
                <a:effectLst/>
                <a:uFillTx/>
                <a:latin typeface="Arial"/>
                <a:ea typeface="Arial"/>
              </a:rPr>
              <a:t>."</a:t>
            </a:r>
            <a:endParaRPr lang="en-GB" sz="1100" b="0" u="none" strike="noStrike">
              <a:solidFill>
                <a:srgbClr val="000000"/>
              </a:solidFill>
              <a:effectLst/>
              <a:uFillTx/>
              <a:latin typeface="Arial"/>
            </a:endParaRPr>
          </a:p>
          <a:p>
            <a:pPr indent="0" algn="l">
              <a:lnSpc>
                <a:spcPct val="115000"/>
              </a:lnSpc>
              <a:spcBef>
                <a:spcPts val="1199"/>
              </a:spcBef>
              <a:buNone/>
              <a:tabLst>
                <a:tab pos="0" algn="l"/>
              </a:tabLst>
            </a:pPr>
            <a:r>
              <a:rPr lang="en-US" sz="1100" b="1" u="none" strike="noStrike">
                <a:solidFill>
                  <a:schemeClr val="dk1"/>
                </a:solidFill>
                <a:effectLst/>
                <a:uFillTx/>
                <a:latin typeface="Arial"/>
                <a:ea typeface="Arial"/>
              </a:rPr>
              <a:t>The Improvement Angle</a:t>
            </a:r>
            <a:r>
              <a:rPr lang="en-US" sz="1100" b="0" u="none" strike="noStrike">
                <a:solidFill>
                  <a:schemeClr val="dk1"/>
                </a:solidFill>
                <a:effectLst/>
                <a:uFillTx/>
                <a:latin typeface="Arial"/>
                <a:ea typeface="Arial"/>
              </a:rPr>
              <a:t> "From an Improvement Technician's perspective, this is where we find our biggest 'Return on Investment.' If we can implement a successful prevention or efficiency project in Westminster, it has a disproportionately positive effect on the entire Brigade’s capacity. However, simply saying they are 'busy' isn't enough."</a:t>
            </a:r>
            <a:endParaRPr lang="en-GB" sz="1100" b="0" u="none" strike="noStrike">
              <a:solidFill>
                <a:srgbClr val="000000"/>
              </a:solidFill>
              <a:effectLst/>
              <a:uFillTx/>
              <a:latin typeface="Arial"/>
            </a:endParaRPr>
          </a:p>
          <a:p>
            <a:pPr indent="0" algn="l">
              <a:lnSpc>
                <a:spcPct val="115000"/>
              </a:lnSpc>
              <a:spcBef>
                <a:spcPts val="1199"/>
              </a:spcBef>
              <a:buNone/>
              <a:tabLst>
                <a:tab pos="0" algn="l"/>
              </a:tabLst>
            </a:pPr>
            <a:r>
              <a:rPr lang="en-US" sz="1100" b="1" u="none" strike="noStrike">
                <a:solidFill>
                  <a:schemeClr val="dk1"/>
                </a:solidFill>
                <a:effectLst/>
                <a:uFillTx/>
                <a:latin typeface="Arial"/>
                <a:ea typeface="Arial"/>
              </a:rPr>
              <a:t>The "So What?" (The Bridge to the DNA Slide)</a:t>
            </a:r>
            <a:r>
              <a:rPr lang="en-US" sz="1100" b="0" u="none" strike="noStrike">
                <a:solidFill>
                  <a:schemeClr val="dk1"/>
                </a:solidFill>
                <a:effectLst/>
                <a:uFillTx/>
                <a:latin typeface="Arial"/>
                <a:ea typeface="Arial"/>
              </a:rPr>
              <a:t> "To truly improve these areas, we have to understand </a:t>
            </a:r>
            <a:r>
              <a:rPr lang="en-US" sz="1100" b="0" i="1" u="none" strike="noStrike">
                <a:solidFill>
                  <a:schemeClr val="dk1"/>
                </a:solidFill>
                <a:effectLst/>
                <a:uFillTx/>
                <a:latin typeface="Arial"/>
                <a:ea typeface="Arial"/>
              </a:rPr>
              <a:t>why</a:t>
            </a:r>
            <a:r>
              <a:rPr lang="en-US" sz="1100" b="0" u="none" strike="noStrike">
                <a:solidFill>
                  <a:schemeClr val="dk1"/>
                </a:solidFill>
                <a:effectLst/>
                <a:uFillTx/>
                <a:latin typeface="Arial"/>
                <a:ea typeface="Arial"/>
              </a:rPr>
              <a:t> they are busy. Though Paddington and Soho are only a few miles apart, their workloads look completely different. This brings us to the concept of </a:t>
            </a:r>
            <a:r>
              <a:rPr lang="en-US" sz="1100" b="1" u="none" strike="noStrike">
                <a:solidFill>
                  <a:schemeClr val="dk1"/>
                </a:solidFill>
                <a:effectLst/>
                <a:uFillTx/>
                <a:latin typeface="Arial"/>
                <a:ea typeface="Arial"/>
              </a:rPr>
              <a:t>Operational DNA</a:t>
            </a:r>
            <a:r>
              <a:rPr lang="en-US" sz="1100" b="0" u="none" strike="noStrike">
                <a:solidFill>
                  <a:schemeClr val="dk1"/>
                </a:solidFill>
                <a:effectLst/>
                <a:uFillTx/>
                <a:latin typeface="Arial"/>
                <a:ea typeface="Arial"/>
              </a:rPr>
              <a:t>.</a:t>
            </a:r>
            <a:endParaRPr lang="en-GB" sz="1100" b="0" u="none" strike="noStrike">
              <a:solidFill>
                <a:srgbClr val="000000"/>
              </a:solidFill>
              <a:effectLst/>
              <a:uFillTx/>
              <a:latin typeface="Arial"/>
            </a:endParaRPr>
          </a:p>
          <a:p>
            <a:pPr indent="0" algn="l">
              <a:lnSpc>
                <a:spcPct val="100000"/>
              </a:lnSpc>
              <a:spcBef>
                <a:spcPts val="1199"/>
              </a:spcBef>
              <a:buNone/>
              <a:tabLst>
                <a:tab pos="0" algn="l"/>
              </a:tabLst>
            </a:pPr>
            <a:endParaRPr lang="en-GB" sz="1100" b="0" u="none" strike="noStrike">
              <a:solidFill>
                <a:srgbClr val="000000"/>
              </a:solidFill>
              <a:effectLst/>
              <a:uFillTx/>
              <a:latin typeface="Arial"/>
            </a:endParaRPr>
          </a:p>
        </p:txBody>
      </p:sp>
      <p:sp>
        <p:nvSpPr>
          <p:cNvPr id="145"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AAA6DE8D-5208-4DAE-B696-A53E50D7C809}" type="slidenum">
              <a:rPr lang="en-US" sz="1400" b="0" u="none" strike="noStrike">
                <a:solidFill>
                  <a:srgbClr val="000000"/>
                </a:solidFill>
                <a:effectLst/>
                <a:uFillTx/>
                <a:latin typeface="Times New Roman"/>
              </a:rPr>
              <a:t>1</a:t>
            </a:fld>
            <a:endParaRPr lang="en-GB" sz="14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type="sldImg"/>
          </p:nvPr>
        </p:nvSpPr>
        <p:spPr>
          <a:xfrm>
            <a:off x="685800" y="1143000"/>
            <a:ext cx="5486040" cy="3085920"/>
          </a:xfrm>
          <a:prstGeom prst="rect">
            <a:avLst/>
          </a:prstGeom>
          <a:ln w="0">
            <a:noFill/>
          </a:ln>
        </p:spPr>
      </p:sp>
      <p:sp>
        <p:nvSpPr>
          <p:cNvPr id="14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15000"/>
              </a:lnSpc>
              <a:spcBef>
                <a:spcPts val="1199"/>
              </a:spcBef>
              <a:buNone/>
              <a:tabLst>
                <a:tab pos="0" algn="l"/>
              </a:tabLst>
            </a:pPr>
            <a:r>
              <a:rPr lang="en-US" sz="1100" b="1" u="none" strike="noStrike">
                <a:solidFill>
                  <a:schemeClr val="dk1"/>
                </a:solidFill>
                <a:effectLst/>
                <a:uFillTx/>
                <a:latin typeface="Arial"/>
                <a:ea typeface="Arial"/>
              </a:rPr>
              <a:t>The Opening</a:t>
            </a:r>
            <a:r>
              <a:rPr lang="en-US" sz="1100" b="0" u="none" strike="noStrike">
                <a:solidFill>
                  <a:schemeClr val="dk1"/>
                </a:solidFill>
                <a:effectLst/>
                <a:uFillTx/>
                <a:latin typeface="Arial"/>
                <a:ea typeface="Arial"/>
              </a:rPr>
              <a:t> "We know Westminster is our busiest borough, but to improve it, we have to understand the specific 'DNA' of its stations. This chart compares our two highest-volume hubs: Soho and Paddington."</a:t>
            </a:r>
            <a:endParaRPr lang="en-GB" sz="1100" b="0" u="none" strike="noStrike">
              <a:solidFill>
                <a:srgbClr val="000000"/>
              </a:solidFill>
              <a:effectLst/>
              <a:uFillTx/>
              <a:latin typeface="Arial"/>
            </a:endParaRPr>
          </a:p>
          <a:p>
            <a:pPr indent="0" algn="l">
              <a:lnSpc>
                <a:spcPct val="115000"/>
              </a:lnSpc>
              <a:spcBef>
                <a:spcPts val="1199"/>
              </a:spcBef>
              <a:buNone/>
              <a:tabLst>
                <a:tab pos="0" algn="l"/>
              </a:tabLst>
            </a:pPr>
            <a:r>
              <a:rPr lang="en-US" sz="1100" b="1" u="none" strike="noStrike">
                <a:solidFill>
                  <a:schemeClr val="dk1"/>
                </a:solidFill>
                <a:effectLst/>
                <a:uFillTx/>
                <a:latin typeface="Arial"/>
                <a:ea typeface="Arial"/>
              </a:rPr>
              <a:t>The Contrast</a:t>
            </a:r>
            <a:r>
              <a:rPr lang="en-US" sz="1100" b="0" u="none" strike="noStrike">
                <a:solidFill>
                  <a:schemeClr val="dk1"/>
                </a:solidFill>
                <a:effectLst/>
                <a:uFillTx/>
                <a:latin typeface="Arial"/>
                <a:ea typeface="Arial"/>
              </a:rPr>
              <a:t> "Look at the colour distribution. </a:t>
            </a:r>
            <a:r>
              <a:rPr lang="en-US" sz="1100" b="1" u="none" strike="noStrike">
                <a:solidFill>
                  <a:schemeClr val="dk1"/>
                </a:solidFill>
                <a:effectLst/>
                <a:uFillTx/>
                <a:latin typeface="Arial"/>
                <a:ea typeface="Arial"/>
              </a:rPr>
              <a:t>Soho is a commercial engine.</a:t>
            </a:r>
            <a:r>
              <a:rPr lang="en-US" sz="1100" b="0" u="none" strike="noStrike">
                <a:solidFill>
                  <a:schemeClr val="dk1"/>
                </a:solidFill>
                <a:effectLst/>
                <a:uFillTx/>
                <a:latin typeface="Arial"/>
                <a:ea typeface="Arial"/>
              </a:rPr>
              <a:t> Its DNA is dominated by non-residential incidents—think bars, restaurants, and offices. This is 'Red' risk. Now look at </a:t>
            </a:r>
            <a:r>
              <a:rPr lang="en-US" sz="1100" b="1" u="none" strike="noStrike">
                <a:solidFill>
                  <a:schemeClr val="dk1"/>
                </a:solidFill>
                <a:effectLst/>
                <a:uFillTx/>
                <a:latin typeface="Arial"/>
                <a:ea typeface="Arial"/>
              </a:rPr>
              <a:t>Paddington. It is a residential hub.</a:t>
            </a:r>
            <a:r>
              <a:rPr lang="en-US" sz="1100" b="0" u="none" strike="noStrike">
                <a:solidFill>
                  <a:schemeClr val="dk1"/>
                </a:solidFill>
                <a:effectLst/>
                <a:uFillTx/>
                <a:latin typeface="Arial"/>
                <a:ea typeface="Arial"/>
              </a:rPr>
              <a:t> Its DNA is skewed toward dwellings. This is 'Blue' risk."</a:t>
            </a:r>
            <a:endParaRPr lang="en-GB" sz="1100" b="0" u="none" strike="noStrike">
              <a:solidFill>
                <a:srgbClr val="000000"/>
              </a:solidFill>
              <a:effectLst/>
              <a:uFillTx/>
              <a:latin typeface="Arial"/>
            </a:endParaRPr>
          </a:p>
          <a:p>
            <a:pPr indent="0" algn="l">
              <a:lnSpc>
                <a:spcPct val="115000"/>
              </a:lnSpc>
              <a:spcBef>
                <a:spcPts val="1199"/>
              </a:spcBef>
              <a:buNone/>
              <a:tabLst>
                <a:tab pos="0" algn="l"/>
              </a:tabLst>
            </a:pPr>
            <a:r>
              <a:rPr lang="en-US" sz="1100" b="1" u="none" strike="noStrike">
                <a:solidFill>
                  <a:schemeClr val="dk1"/>
                </a:solidFill>
                <a:effectLst/>
                <a:uFillTx/>
                <a:latin typeface="Arial"/>
                <a:ea typeface="Arial"/>
              </a:rPr>
              <a:t>The Technician's Conclusion</a:t>
            </a:r>
            <a:r>
              <a:rPr lang="en-US" sz="1100" b="0" u="none" strike="noStrike">
                <a:solidFill>
                  <a:schemeClr val="dk1"/>
                </a:solidFill>
                <a:effectLst/>
                <a:uFillTx/>
                <a:latin typeface="Arial"/>
                <a:ea typeface="Arial"/>
              </a:rPr>
              <a:t> "This is a vital distinction. It proves that an 'improvement' in Soho might look like a business engagement seminar, while an 'improvement' in Paddington looks like targeted residential smoke alarm campaigns. By understanding the DNA of the ground, we ensure our prevention efforts aren't just busy—they’re effective."</a:t>
            </a:r>
            <a:endParaRPr lang="en-GB" sz="1100" b="0" u="none" strike="noStrike">
              <a:solidFill>
                <a:srgbClr val="000000"/>
              </a:solidFill>
              <a:effectLst/>
              <a:uFillTx/>
              <a:latin typeface="Arial"/>
            </a:endParaRPr>
          </a:p>
          <a:p>
            <a:pPr indent="0" algn="l">
              <a:lnSpc>
                <a:spcPct val="115000"/>
              </a:lnSpc>
              <a:spcBef>
                <a:spcPts val="1199"/>
              </a:spcBef>
              <a:buNone/>
              <a:tabLst>
                <a:tab pos="0" algn="l"/>
              </a:tabLst>
            </a:pPr>
            <a:r>
              <a:rPr lang="en-US" sz="1100" b="1" u="none" strike="noStrike">
                <a:solidFill>
                  <a:schemeClr val="dk1"/>
                </a:solidFill>
                <a:effectLst/>
                <a:uFillTx/>
                <a:latin typeface="Arial"/>
                <a:ea typeface="Arial"/>
              </a:rPr>
              <a:t>The Transition</a:t>
            </a:r>
            <a:r>
              <a:rPr lang="en-US" sz="1100" b="0" u="none" strike="noStrike">
                <a:solidFill>
                  <a:schemeClr val="dk1"/>
                </a:solidFill>
                <a:effectLst/>
                <a:uFillTx/>
                <a:latin typeface="Arial"/>
                <a:ea typeface="Arial"/>
              </a:rPr>
              <a:t> "Now that we’ve mastered the 'What,' 'When,' 'Where,' and 'Why,' let’s look at the ultimate result of our current strategy: our </a:t>
            </a:r>
            <a:r>
              <a:rPr lang="en-US" sz="1100" b="1" u="none" strike="noStrike">
                <a:solidFill>
                  <a:schemeClr val="dk1"/>
                </a:solidFill>
                <a:effectLst/>
                <a:uFillTx/>
                <a:latin typeface="Arial"/>
                <a:ea typeface="Arial"/>
              </a:rPr>
              <a:t>Response Performance</a:t>
            </a:r>
            <a:r>
              <a:rPr lang="en-US" sz="1100" b="0" u="none" strike="noStrike">
                <a:solidFill>
                  <a:schemeClr val="dk1"/>
                </a:solidFill>
                <a:effectLst/>
                <a:uFillTx/>
                <a:latin typeface="Arial"/>
                <a:ea typeface="Arial"/>
              </a:rPr>
              <a:t>."</a:t>
            </a:r>
            <a:endParaRPr lang="en-GB" sz="1100" b="0" u="none" strike="noStrike">
              <a:solidFill>
                <a:srgbClr val="000000"/>
              </a:solidFill>
              <a:effectLst/>
              <a:uFillTx/>
              <a:latin typeface="Arial"/>
            </a:endParaRPr>
          </a:p>
          <a:p>
            <a:pPr indent="0" algn="l">
              <a:lnSpc>
                <a:spcPct val="100000"/>
              </a:lnSpc>
              <a:spcBef>
                <a:spcPts val="1199"/>
              </a:spcBef>
              <a:buNone/>
              <a:tabLst>
                <a:tab pos="0" algn="l"/>
              </a:tabLst>
            </a:pPr>
            <a:endParaRPr lang="en-GB" sz="1200" b="0" u="none" strike="noStrike">
              <a:solidFill>
                <a:srgbClr val="000000"/>
              </a:solidFill>
              <a:effectLst/>
              <a:uFillTx/>
              <a:latin typeface="Arial"/>
            </a:endParaRPr>
          </a:p>
        </p:txBody>
      </p:sp>
      <p:sp>
        <p:nvSpPr>
          <p:cNvPr id="148"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751177C5-A069-4B31-A780-46681FD7EDA8}" type="slidenum">
              <a:rPr lang="en-US" sz="1400" b="0" u="none" strike="noStrike">
                <a:solidFill>
                  <a:srgbClr val="000000"/>
                </a:solidFill>
                <a:effectLst/>
                <a:uFillTx/>
                <a:latin typeface="Times New Roman"/>
              </a:rPr>
              <a:t>1</a:t>
            </a:fld>
            <a:endParaRPr lang="en-GB" sz="14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PlaceHolder 1"/>
          <p:cNvSpPr>
            <a:spLocks noGrp="1"/>
          </p:cNvSpPr>
          <p:nvPr>
            <p:ph type="sldImg"/>
          </p:nvPr>
        </p:nvSpPr>
        <p:spPr>
          <a:xfrm>
            <a:off x="685800" y="1143000"/>
            <a:ext cx="5486040" cy="3085920"/>
          </a:xfrm>
          <a:prstGeom prst="rect">
            <a:avLst/>
          </a:prstGeom>
          <a:ln w="0">
            <a:noFill/>
          </a:ln>
        </p:spPr>
      </p:sp>
      <p:sp>
        <p:nvSpPr>
          <p:cNvPr id="150"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p>
            <a:pPr indent="0" algn="l">
              <a:lnSpc>
                <a:spcPct val="115000"/>
              </a:lnSpc>
              <a:spcBef>
                <a:spcPts val="1199"/>
              </a:spcBef>
              <a:buNone/>
              <a:tabLst>
                <a:tab pos="0" algn="l"/>
              </a:tabLst>
            </a:pPr>
            <a:r>
              <a:rPr lang="en-US" sz="1100" b="1" u="none" strike="noStrike">
                <a:solidFill>
                  <a:schemeClr val="dk1"/>
                </a:solidFill>
                <a:effectLst/>
                <a:uFillTx/>
                <a:latin typeface="Arial"/>
                <a:ea typeface="Arial"/>
              </a:rPr>
              <a:t>The Closing Hook</a:t>
            </a:r>
            <a:r>
              <a:rPr lang="en-US" sz="1100" b="0" u="none" strike="noStrike">
                <a:solidFill>
                  <a:schemeClr val="dk1"/>
                </a:solidFill>
                <a:effectLst/>
                <a:uFillTx/>
                <a:latin typeface="Arial"/>
                <a:ea typeface="Arial"/>
              </a:rPr>
              <a:t> "We’ve analyzed the what, the when, and the why. Now, we look at the results. This scorecard is the ultimate proof of our operational health."</a:t>
            </a:r>
            <a:endParaRPr lang="en-GB" sz="1100" b="0" u="none" strike="noStrike">
              <a:solidFill>
                <a:srgbClr val="000000"/>
              </a:solidFill>
              <a:effectLst/>
              <a:uFillTx/>
              <a:latin typeface="Arial"/>
            </a:endParaRPr>
          </a:p>
          <a:p>
            <a:pPr indent="0" algn="l">
              <a:lnSpc>
                <a:spcPct val="115000"/>
              </a:lnSpc>
              <a:spcBef>
                <a:spcPts val="1199"/>
              </a:spcBef>
              <a:buNone/>
              <a:tabLst>
                <a:tab pos="0" algn="l"/>
              </a:tabLst>
            </a:pPr>
            <a:r>
              <a:rPr lang="en-US" sz="1100" b="1" u="none" strike="noStrike">
                <a:solidFill>
                  <a:schemeClr val="dk1"/>
                </a:solidFill>
                <a:effectLst/>
                <a:uFillTx/>
                <a:latin typeface="Arial"/>
                <a:ea typeface="Arial"/>
              </a:rPr>
              <a:t>The Achievement</a:t>
            </a:r>
            <a:r>
              <a:rPr lang="en-US" sz="1100" b="0" u="none" strike="noStrike">
                <a:solidFill>
                  <a:schemeClr val="dk1"/>
                </a:solidFill>
                <a:effectLst/>
                <a:uFillTx/>
                <a:latin typeface="Arial"/>
                <a:ea typeface="Arial"/>
              </a:rPr>
              <a:t> "In the most demanding environments in London, we are winning. </a:t>
            </a:r>
            <a:r>
              <a:rPr lang="en-US" sz="1100" b="1" u="none" strike="noStrike">
                <a:solidFill>
                  <a:schemeClr val="dk1"/>
                </a:solidFill>
                <a:effectLst/>
                <a:uFillTx/>
                <a:latin typeface="Arial"/>
                <a:ea typeface="Arial"/>
              </a:rPr>
              <a:t>Paddington is arriving 52 seconds ahead of target</a:t>
            </a:r>
            <a:r>
              <a:rPr lang="en-US" sz="1100" b="0" u="none" strike="noStrike">
                <a:solidFill>
                  <a:schemeClr val="dk1"/>
                </a:solidFill>
                <a:effectLst/>
                <a:uFillTx/>
                <a:latin typeface="Arial"/>
                <a:ea typeface="Arial"/>
              </a:rPr>
              <a:t>, and </a:t>
            </a:r>
            <a:r>
              <a:rPr lang="en-US" sz="1100" b="1" u="none" strike="noStrike">
                <a:solidFill>
                  <a:schemeClr val="dk1"/>
                </a:solidFill>
                <a:effectLst/>
                <a:uFillTx/>
                <a:latin typeface="Arial"/>
                <a:ea typeface="Arial"/>
              </a:rPr>
              <a:t>Soho is arriving 37 seconds ahead</a:t>
            </a:r>
            <a:r>
              <a:rPr lang="en-US" sz="1100" b="0" u="none" strike="noStrike">
                <a:solidFill>
                  <a:schemeClr val="dk1"/>
                </a:solidFill>
                <a:effectLst/>
                <a:uFillTx/>
                <a:latin typeface="Arial"/>
                <a:ea typeface="Arial"/>
              </a:rPr>
              <a:t>. These aren't just numbers; these are lives saved in those dwelling fires and commercial properties we identified earlier."</a:t>
            </a:r>
            <a:endParaRPr lang="en-GB" sz="1100" b="0" u="none" strike="noStrike">
              <a:solidFill>
                <a:srgbClr val="000000"/>
              </a:solidFill>
              <a:effectLst/>
              <a:uFillTx/>
              <a:latin typeface="Arial"/>
            </a:endParaRPr>
          </a:p>
          <a:p>
            <a:pPr indent="0" algn="l">
              <a:lnSpc>
                <a:spcPct val="115000"/>
              </a:lnSpc>
              <a:spcBef>
                <a:spcPts val="1199"/>
              </a:spcBef>
              <a:buNone/>
              <a:tabLst>
                <a:tab pos="0" algn="l"/>
              </a:tabLst>
            </a:pPr>
            <a:r>
              <a:rPr lang="en-US" sz="1100" b="1" u="none" strike="noStrike">
                <a:solidFill>
                  <a:schemeClr val="dk1"/>
                </a:solidFill>
                <a:effectLst/>
                <a:uFillTx/>
                <a:latin typeface="Arial"/>
                <a:ea typeface="Arial"/>
              </a:rPr>
              <a:t>The Technician’s Value Add</a:t>
            </a:r>
            <a:r>
              <a:rPr lang="en-US" sz="1100" b="0" u="none" strike="noStrike">
                <a:solidFill>
                  <a:schemeClr val="dk1"/>
                </a:solidFill>
                <a:effectLst/>
                <a:uFillTx/>
                <a:latin typeface="Arial"/>
                <a:ea typeface="Arial"/>
              </a:rPr>
              <a:t> "As an Improvement Technician, my conclusion is this: We don't need a radical overhaul of </a:t>
            </a:r>
            <a:r>
              <a:rPr lang="en-US" sz="1100" b="0" i="1" u="none" strike="noStrike">
                <a:solidFill>
                  <a:schemeClr val="dk1"/>
                </a:solidFill>
                <a:effectLst/>
                <a:uFillTx/>
                <a:latin typeface="Arial"/>
                <a:ea typeface="Arial"/>
              </a:rPr>
              <a:t>how</a:t>
            </a:r>
            <a:r>
              <a:rPr lang="en-US" sz="1100" b="0" u="none" strike="noStrike">
                <a:solidFill>
                  <a:schemeClr val="dk1"/>
                </a:solidFill>
                <a:effectLst/>
                <a:uFillTx/>
                <a:latin typeface="Arial"/>
                <a:ea typeface="Arial"/>
              </a:rPr>
              <a:t> we respond—our response is excellent. Instead, our improvement focus should be on </a:t>
            </a:r>
            <a:r>
              <a:rPr lang="en-US" sz="1100" b="1" u="none" strike="noStrike">
                <a:solidFill>
                  <a:schemeClr val="dk1"/>
                </a:solidFill>
                <a:effectLst/>
                <a:uFillTx/>
                <a:latin typeface="Arial"/>
                <a:ea typeface="Arial"/>
              </a:rPr>
              <a:t>protecting this performance</a:t>
            </a:r>
            <a:r>
              <a:rPr lang="en-US" sz="1100" b="0" u="none" strike="noStrike">
                <a:solidFill>
                  <a:schemeClr val="dk1"/>
                </a:solidFill>
                <a:effectLst/>
                <a:uFillTx/>
                <a:latin typeface="Arial"/>
                <a:ea typeface="Arial"/>
              </a:rPr>
              <a:t>. By targeting the 'Outdoor' nuisance fires we saw in our DNA slide, we can reduce the wear and tear on these high-performing crews and ensure that even if demand grows, these attendance times remain in the green."</a:t>
            </a:r>
            <a:endParaRPr lang="en-GB" sz="1100" b="0" u="none" strike="noStrike">
              <a:solidFill>
                <a:srgbClr val="000000"/>
              </a:solidFill>
              <a:effectLst/>
              <a:uFillTx/>
              <a:latin typeface="Arial"/>
            </a:endParaRPr>
          </a:p>
          <a:p>
            <a:pPr indent="0" algn="l">
              <a:lnSpc>
                <a:spcPct val="115000"/>
              </a:lnSpc>
              <a:spcBef>
                <a:spcPts val="1199"/>
              </a:spcBef>
              <a:buNone/>
              <a:tabLst>
                <a:tab pos="0" algn="l"/>
              </a:tabLst>
            </a:pPr>
            <a:r>
              <a:rPr lang="en-US" sz="1100" b="1" u="none" strike="noStrike">
                <a:solidFill>
                  <a:schemeClr val="dk1"/>
                </a:solidFill>
                <a:effectLst/>
                <a:uFillTx/>
                <a:latin typeface="Arial"/>
                <a:ea typeface="Arial"/>
              </a:rPr>
              <a:t>The End</a:t>
            </a:r>
            <a:r>
              <a:rPr lang="en-US" sz="1100" b="0" u="none" strike="noStrike">
                <a:solidFill>
                  <a:schemeClr val="dk1"/>
                </a:solidFill>
                <a:effectLst/>
                <a:uFillTx/>
                <a:latin typeface="Arial"/>
                <a:ea typeface="Arial"/>
              </a:rPr>
              <a:t> "Thank you for your time. I’m now happy to take any questions on the data or my methodology."</a:t>
            </a:r>
            <a:endParaRPr lang="en-GB" sz="1100" b="0" u="none" strike="noStrike">
              <a:solidFill>
                <a:srgbClr val="000000"/>
              </a:solidFill>
              <a:effectLst/>
              <a:uFillTx/>
              <a:latin typeface="Arial"/>
            </a:endParaRPr>
          </a:p>
          <a:p>
            <a:pPr indent="0" algn="l">
              <a:lnSpc>
                <a:spcPct val="100000"/>
              </a:lnSpc>
              <a:spcBef>
                <a:spcPts val="1199"/>
              </a:spcBef>
              <a:buNone/>
              <a:tabLst>
                <a:tab pos="0" algn="l"/>
              </a:tabLst>
            </a:pPr>
            <a:endParaRPr lang="en-GB" sz="1100" b="0" u="none" strike="noStrike">
              <a:solidFill>
                <a:srgbClr val="000000"/>
              </a:solidFill>
              <a:effectLst/>
              <a:uFillTx/>
              <a:latin typeface="Arial"/>
            </a:endParaRPr>
          </a:p>
        </p:txBody>
      </p:sp>
      <p:sp>
        <p:nvSpPr>
          <p:cNvPr id="151"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5AAA61BB-6134-49F5-9CFA-F674AA8D37A9}" type="slidenum">
              <a:rPr lang="en-US" sz="1400" b="0" u="none" strike="noStrike">
                <a:solidFill>
                  <a:srgbClr val="000000"/>
                </a:solidFill>
                <a:effectLst/>
                <a:uFillTx/>
                <a:latin typeface="Times New Roman"/>
              </a:rPr>
              <a:t>1</a:t>
            </a:fld>
            <a:endParaRPr lang="en-GB" sz="14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PlaceHolder 1"/>
          <p:cNvSpPr>
            <a:spLocks noGrp="1"/>
          </p:cNvSpPr>
          <p:nvPr>
            <p:ph type="sldImg"/>
          </p:nvPr>
        </p:nvSpPr>
        <p:spPr>
          <a:xfrm>
            <a:off x="685800" y="1143000"/>
            <a:ext cx="5486040" cy="3085920"/>
          </a:xfrm>
          <a:prstGeom prst="rect">
            <a:avLst/>
          </a:prstGeom>
          <a:ln w="0">
            <a:noFill/>
          </a:ln>
        </p:spPr>
      </p:sp>
      <p:sp>
        <p:nvSpPr>
          <p:cNvPr id="15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15000"/>
              </a:lnSpc>
              <a:spcBef>
                <a:spcPts val="1199"/>
              </a:spcBef>
              <a:buNone/>
              <a:tabLst>
                <a:tab pos="0" algn="l"/>
              </a:tabLst>
            </a:pPr>
            <a:r>
              <a:rPr lang="en-US" sz="1100" b="0" u="none" strike="noStrike">
                <a:solidFill>
                  <a:schemeClr val="dk1"/>
                </a:solidFill>
                <a:effectLst/>
                <a:uFillTx/>
                <a:latin typeface="Arial"/>
                <a:ea typeface="Arial"/>
              </a:rPr>
              <a:t>To conclude, this presentation has moved from raw data to a strategic roadmap.</a:t>
            </a:r>
            <a:endParaRPr lang="en-GB" sz="1100" b="0" u="none" strike="noStrike">
              <a:solidFill>
                <a:srgbClr val="000000"/>
              </a:solidFill>
              <a:effectLst/>
              <a:uFillTx/>
              <a:latin typeface="Arial"/>
            </a:endParaRPr>
          </a:p>
          <a:p>
            <a:pPr indent="0" algn="l">
              <a:lnSpc>
                <a:spcPct val="115000"/>
              </a:lnSpc>
              <a:spcBef>
                <a:spcPts val="1199"/>
              </a:spcBef>
              <a:buNone/>
              <a:tabLst>
                <a:tab pos="0" algn="l"/>
              </a:tabLst>
            </a:pPr>
            <a:r>
              <a:rPr lang="en-US" sz="1100" b="0" u="none" strike="noStrike">
                <a:solidFill>
                  <a:schemeClr val="dk1"/>
                </a:solidFill>
                <a:effectLst/>
                <a:uFillTx/>
                <a:latin typeface="Arial"/>
                <a:ea typeface="Arial"/>
              </a:rPr>
              <a:t>We have identified that while Westminster is an outlier, its demand is predictable. By using our </a:t>
            </a:r>
            <a:r>
              <a:rPr lang="en-US" sz="1100" b="1" u="none" strike="noStrike">
                <a:solidFill>
                  <a:schemeClr val="dk1"/>
                </a:solidFill>
                <a:effectLst/>
                <a:uFillTx/>
                <a:latin typeface="Arial"/>
                <a:ea typeface="Arial"/>
              </a:rPr>
              <a:t>Operational DNA</a:t>
            </a:r>
            <a:r>
              <a:rPr lang="en-US" sz="1100" b="0" u="none" strike="noStrike">
                <a:solidFill>
                  <a:schemeClr val="dk1"/>
                </a:solidFill>
                <a:effectLst/>
                <a:uFillTx/>
                <a:latin typeface="Arial"/>
                <a:ea typeface="Arial"/>
              </a:rPr>
              <a:t> to guide our prevention (Point 1) and our </a:t>
            </a:r>
            <a:r>
              <a:rPr lang="en-US" sz="1100" b="1" u="none" strike="noStrike">
                <a:solidFill>
                  <a:schemeClr val="dk1"/>
                </a:solidFill>
                <a:effectLst/>
                <a:uFillTx/>
                <a:latin typeface="Arial"/>
                <a:ea typeface="Arial"/>
              </a:rPr>
              <a:t>Temporal Analysis</a:t>
            </a:r>
            <a:r>
              <a:rPr lang="en-US" sz="1100" b="0" u="none" strike="noStrike">
                <a:solidFill>
                  <a:schemeClr val="dk1"/>
                </a:solidFill>
                <a:effectLst/>
                <a:uFillTx/>
                <a:latin typeface="Arial"/>
                <a:ea typeface="Arial"/>
              </a:rPr>
              <a:t> to protect our 16:00–20:00 peak (Point 2), we can save lives through precision. Simultaneously, by targeting nuisance fires (Point 3) and scaling the efficiency we see in Soho and Paddington (Point 4), we protect the Brigade’s budget and capacity.</a:t>
            </a:r>
            <a:endParaRPr lang="en-GB" sz="1100" b="0" u="none" strike="noStrike">
              <a:solidFill>
                <a:srgbClr val="000000"/>
              </a:solidFill>
              <a:effectLst/>
              <a:uFillTx/>
              <a:latin typeface="Arial"/>
            </a:endParaRPr>
          </a:p>
          <a:p>
            <a:pPr indent="0" algn="l">
              <a:lnSpc>
                <a:spcPct val="115000"/>
              </a:lnSpc>
              <a:spcBef>
                <a:spcPts val="1199"/>
              </a:spcBef>
              <a:buNone/>
              <a:tabLst>
                <a:tab pos="0" algn="l"/>
              </a:tabLst>
            </a:pPr>
            <a:r>
              <a:rPr lang="en-US" sz="1100" b="0" u="none" strike="noStrike">
                <a:solidFill>
                  <a:schemeClr val="dk1"/>
                </a:solidFill>
                <a:effectLst/>
                <a:uFillTx/>
                <a:latin typeface="Arial"/>
                <a:ea typeface="Arial"/>
              </a:rPr>
              <a:t>This is how we transition from a reactive service to a proactive, data-driven organisation. Thank you for your time, I'm now happy to take any questions.</a:t>
            </a:r>
            <a:endParaRPr lang="en-GB" sz="1100" b="0" u="none" strike="noStrike">
              <a:solidFill>
                <a:srgbClr val="000000"/>
              </a:solidFill>
              <a:effectLst/>
              <a:uFillTx/>
              <a:latin typeface="Arial"/>
            </a:endParaRPr>
          </a:p>
          <a:p>
            <a:pPr indent="0" algn="l">
              <a:lnSpc>
                <a:spcPct val="100000"/>
              </a:lnSpc>
              <a:spcBef>
                <a:spcPts val="1199"/>
              </a:spcBef>
              <a:buNone/>
              <a:tabLst>
                <a:tab pos="0" algn="l"/>
              </a:tabLst>
            </a:pPr>
            <a:endParaRPr lang="en-GB" sz="1100" b="0" u="none" strike="noStrike">
              <a:solidFill>
                <a:srgbClr val="000000"/>
              </a:solidFill>
              <a:effectLst/>
              <a:uFillTx/>
              <a:latin typeface="Arial"/>
            </a:endParaRPr>
          </a:p>
        </p:txBody>
      </p:sp>
      <p:sp>
        <p:nvSpPr>
          <p:cNvPr id="154"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D840BC81-CE1F-4BE9-88FB-F2037D1F4601}" type="slidenum">
              <a:rPr lang="en-US" sz="1400" b="0" u="none" strike="noStrike">
                <a:solidFill>
                  <a:srgbClr val="000000"/>
                </a:solidFill>
                <a:effectLst/>
                <a:uFillTx/>
                <a:latin typeface="Times New Roman"/>
              </a:rPr>
              <a:t>&lt;number&gt;</a:t>
            </a:fld>
            <a:endParaRPr lang="en-GB" sz="14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lvl1pPr indent="0" algn="l">
              <a:buNone/>
              <a:defRPr lang="en-GB" sz="1400" b="0" u="none" strike="noStrike">
                <a:solidFill>
                  <a:srgbClr val="000000"/>
                </a:solidFill>
                <a:effectLst/>
                <a:uFillTx/>
                <a:latin typeface="Arial"/>
              </a:defRPr>
            </a:lvl1pPr>
          </a:lstStyle>
          <a:p>
            <a:pPr indent="0" algn="l">
              <a:buNone/>
            </a:pPr>
            <a:r>
              <a:rPr lang="en-GB" sz="1400" b="0" u="none" strike="noStrike">
                <a:solidFill>
                  <a:srgbClr val="000000"/>
                </a:solidFill>
                <a:effectLst/>
                <a:uFillTx/>
                <a:latin typeface="Arial"/>
              </a:rPr>
              <a:t>Click to edit the title text format</a:t>
            </a:r>
            <a:endParaRPr lang="en-GB" sz="1400" b="0" u="none" strike="noStrike">
              <a:solidFill>
                <a:srgbClr val="000000"/>
              </a:solidFill>
              <a:effectLst/>
              <a:uFillTx/>
              <a:latin typeface="Arial"/>
            </a:endParaRP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GB" sz="1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GB" sz="1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GB" sz="1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GB" sz="1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GB"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GB"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GB"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endParaRPr lang="en-GB" sz="14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endParaRPr lang="en-GB" sz="14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endParaRPr lang="en-GB" sz="1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endParaRPr lang="en-GB" sz="14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endParaRPr lang="en-GB"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endParaRPr lang="en-GB"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endParaRPr lang="en-GB" sz="2000" b="0" u="none" strike="noStrike">
              <a:solidFill>
                <a:srgbClr val="000000"/>
              </a:solidFill>
              <a:effectLst/>
              <a:uFillTx/>
              <a:latin typeface="Arial"/>
            </a:endParaRPr>
          </a:p>
        </p:txBody>
      </p:sp>
    </p:spTree>
  </p:cSld>
  <p:clrMap bg1="lt1" tx1="dk1" bg2="dk2" tx2="lt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hyperlink" Target="https://data.london.gov.uk/dataset/london-fire-brigade-incident-records-em8xy/" TargetMode="External"/><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10" name="Google Shape;16;p1"/>
          <p:cNvSpPr/>
          <p:nvPr/>
        </p:nvSpPr>
        <p:spPr>
          <a:xfrm>
            <a:off x="0" y="0"/>
            <a:ext cx="182520" cy="5143320"/>
          </a:xfrm>
          <a:prstGeom prst="rect">
            <a:avLst/>
          </a:prstGeom>
          <a:solidFill>
            <a:srgbClr val="E53935"/>
          </a:solidFill>
          <a:ln w="0">
            <a:noFill/>
          </a:ln>
        </p:spPr>
        <p:style>
          <a:lnRef idx="0"/>
          <a:fillRef idx="0"/>
          <a:effectRef idx="0"/>
          <a:fontRef idx="minor"/>
        </p:style>
        <p:txBody>
          <a:bodyPr tIns="91440" bIns="91440" anchor="ctr">
            <a:noAutofit/>
          </a:bodyPr>
          <a:p>
            <a:endParaRPr lang="en-GB" sz="1400" b="0" u="none" strike="noStrike">
              <a:solidFill>
                <a:srgbClr val="FFFFFF"/>
              </a:solidFill>
              <a:effectLst/>
              <a:uFillTx/>
              <a:latin typeface="Arial"/>
            </a:endParaRPr>
          </a:p>
        </p:txBody>
      </p:sp>
      <p:sp>
        <p:nvSpPr>
          <p:cNvPr id="11" name="Google Shape;17;p1"/>
          <p:cNvSpPr/>
          <p:nvPr/>
        </p:nvSpPr>
        <p:spPr>
          <a:xfrm>
            <a:off x="7498080" y="-731520"/>
            <a:ext cx="3200040" cy="3200040"/>
          </a:xfrm>
          <a:prstGeom prst="ellipse">
            <a:avLst/>
          </a:prstGeom>
          <a:solidFill>
            <a:srgbClr val="1565C0">
              <a:alpha val="25000"/>
            </a:srgbClr>
          </a:solidFill>
          <a:ln w="0">
            <a:noFill/>
          </a:ln>
        </p:spPr>
        <p:style>
          <a:lnRef idx="0"/>
          <a:fillRef idx="0"/>
          <a:effectRef idx="0"/>
          <a:fontRef idx="minor"/>
        </p:style>
        <p:txBody>
          <a:bodyPr tIns="91440" bIns="91440" anchor="ctr">
            <a:noAutofit/>
          </a:bodyPr>
          <a:p>
            <a:endParaRPr lang="en-GB" sz="1400" b="0" u="none" strike="noStrike">
              <a:solidFill>
                <a:srgbClr val="FFFFFF"/>
              </a:solidFill>
              <a:effectLst/>
              <a:uFillTx/>
              <a:latin typeface="Arial"/>
            </a:endParaRPr>
          </a:p>
        </p:txBody>
      </p:sp>
      <p:sp>
        <p:nvSpPr>
          <p:cNvPr id="12" name="Google Shape;18;p1"/>
          <p:cNvSpPr/>
          <p:nvPr/>
        </p:nvSpPr>
        <p:spPr>
          <a:xfrm>
            <a:off x="8046720" y="3200400"/>
            <a:ext cx="2285640" cy="2285640"/>
          </a:xfrm>
          <a:prstGeom prst="ellipse">
            <a:avLst/>
          </a:prstGeom>
          <a:solidFill>
            <a:srgbClr val="0288D1">
              <a:alpha val="20000"/>
            </a:srgbClr>
          </a:solidFill>
          <a:ln w="0">
            <a:noFill/>
          </a:ln>
        </p:spPr>
        <p:style>
          <a:lnRef idx="0"/>
          <a:fillRef idx="0"/>
          <a:effectRef idx="0"/>
          <a:fontRef idx="minor"/>
        </p:style>
        <p:txBody>
          <a:bodyPr tIns="91440" bIns="91440" anchor="ctr">
            <a:noAutofit/>
          </a:bodyPr>
          <a:p>
            <a:endParaRPr lang="en-GB" sz="1400" b="0" u="none" strike="noStrike">
              <a:solidFill>
                <a:srgbClr val="FFFFFF"/>
              </a:solidFill>
              <a:effectLst/>
              <a:uFillTx/>
              <a:latin typeface="Arial"/>
            </a:endParaRPr>
          </a:p>
        </p:txBody>
      </p:sp>
      <p:sp>
        <p:nvSpPr>
          <p:cNvPr id="13" name="Google Shape;19;p1"/>
          <p:cNvSpPr/>
          <p:nvPr/>
        </p:nvSpPr>
        <p:spPr>
          <a:xfrm>
            <a:off x="457200" y="1188720"/>
            <a:ext cx="6400440" cy="2011320"/>
          </a:xfrm>
          <a:prstGeom prst="rect">
            <a:avLst/>
          </a:prstGeom>
          <a:noFill/>
          <a:ln w="0">
            <a:noFill/>
          </a:ln>
        </p:spPr>
        <p:style>
          <a:lnRef idx="0"/>
          <a:fillRef idx="0"/>
          <a:effectRef idx="0"/>
          <a:fontRef idx="minor"/>
        </p:style>
        <p:txBody>
          <a:bodyPr anchor="t">
            <a:noAutofit/>
          </a:bodyPr>
          <a:p>
            <a:pPr>
              <a:lnSpc>
                <a:spcPct val="100000"/>
              </a:lnSpc>
              <a:tabLst>
                <a:tab pos="0" algn="l"/>
              </a:tabLst>
            </a:pPr>
            <a:r>
              <a:rPr lang="en-US" sz="5200" b="1" u="none" strike="noStrike">
                <a:solidFill>
                  <a:srgbClr val="FFFFFF"/>
                </a:solidFill>
                <a:effectLst/>
                <a:uFillTx/>
                <a:latin typeface="Calibri"/>
                <a:ea typeface="Calibri"/>
              </a:rPr>
              <a:t>Operational Demand Analysis</a:t>
            </a:r>
            <a:endParaRPr lang="en-GB" sz="5200" b="0" u="none" strike="noStrike">
              <a:solidFill>
                <a:srgbClr val="FFFFFF"/>
              </a:solidFill>
              <a:effectLst/>
              <a:uFillTx/>
              <a:latin typeface="Arial"/>
            </a:endParaRPr>
          </a:p>
        </p:txBody>
      </p:sp>
      <p:sp>
        <p:nvSpPr>
          <p:cNvPr id="14" name="Google Shape;20;p1"/>
          <p:cNvSpPr/>
          <p:nvPr/>
        </p:nvSpPr>
        <p:spPr>
          <a:xfrm>
            <a:off x="457200" y="3108960"/>
            <a:ext cx="5943240" cy="548280"/>
          </a:xfrm>
          <a:prstGeom prst="rect">
            <a:avLst/>
          </a:prstGeom>
          <a:noFill/>
          <a:ln w="0">
            <a:noFill/>
          </a:ln>
        </p:spPr>
        <p:style>
          <a:lnRef idx="0"/>
          <a:fillRef idx="0"/>
          <a:effectRef idx="0"/>
          <a:fontRef idx="minor"/>
        </p:style>
        <p:txBody>
          <a:bodyPr anchor="ctr">
            <a:noAutofit/>
          </a:bodyPr>
          <a:p>
            <a:pPr>
              <a:lnSpc>
                <a:spcPct val="100000"/>
              </a:lnSpc>
              <a:tabLst>
                <a:tab pos="0" algn="l"/>
              </a:tabLst>
            </a:pPr>
            <a:r>
              <a:rPr lang="en-US" sz="1500" b="0" u="none" strike="noStrike">
                <a:solidFill>
                  <a:srgbClr val="A0B8D0"/>
                </a:solidFill>
                <a:effectLst/>
                <a:uFillTx/>
                <a:latin typeface="Calibri"/>
                <a:ea typeface="Calibri"/>
              </a:rPr>
              <a:t>LFB Incident Data Review</a:t>
            </a:r>
            <a:endParaRPr lang="en-GB" sz="1500" b="0" u="none" strike="noStrike">
              <a:solidFill>
                <a:srgbClr val="FFFFFF"/>
              </a:solidFill>
              <a:effectLst/>
              <a:uFillTx/>
              <a:latin typeface="Arial"/>
            </a:endParaRPr>
          </a:p>
        </p:txBody>
      </p:sp>
      <p:sp>
        <p:nvSpPr>
          <p:cNvPr id="15" name="Google Shape;21;p1"/>
          <p:cNvSpPr/>
          <p:nvPr/>
        </p:nvSpPr>
        <p:spPr>
          <a:xfrm>
            <a:off x="457200" y="3931920"/>
            <a:ext cx="8229240" cy="731160"/>
          </a:xfrm>
          <a:prstGeom prst="rect">
            <a:avLst/>
          </a:prstGeom>
          <a:solidFill>
            <a:srgbClr val="1565C0">
              <a:alpha val="20000"/>
            </a:srgbClr>
          </a:solidFill>
          <a:ln w="0">
            <a:noFill/>
          </a:ln>
        </p:spPr>
        <p:style>
          <a:lnRef idx="0"/>
          <a:fillRef idx="0"/>
          <a:effectRef idx="0"/>
          <a:fontRef idx="minor"/>
        </p:style>
        <p:txBody>
          <a:bodyPr tIns="91440" bIns="91440" anchor="ctr">
            <a:noAutofit/>
          </a:bodyPr>
          <a:p>
            <a:endParaRPr lang="en-GB" sz="1400" b="0" u="none" strike="noStrike">
              <a:solidFill>
                <a:srgbClr val="FFFFFF"/>
              </a:solidFill>
              <a:effectLst/>
              <a:uFillTx/>
              <a:latin typeface="Arial"/>
            </a:endParaRPr>
          </a:p>
        </p:txBody>
      </p:sp>
      <p:sp>
        <p:nvSpPr>
          <p:cNvPr id="16" name="Google Shape;22;p1"/>
          <p:cNvSpPr/>
          <p:nvPr/>
        </p:nvSpPr>
        <p:spPr>
          <a:xfrm>
            <a:off x="640080" y="3931920"/>
            <a:ext cx="8046360" cy="731160"/>
          </a:xfrm>
          <a:prstGeom prst="rect">
            <a:avLst/>
          </a:prstGeom>
          <a:noFill/>
          <a:ln w="0">
            <a:noFill/>
          </a:ln>
        </p:spPr>
        <p:style>
          <a:lnRef idx="0"/>
          <a:fillRef idx="0"/>
          <a:effectRef idx="0"/>
          <a:fontRef idx="minor"/>
        </p:style>
        <p:txBody>
          <a:bodyPr anchor="ctr">
            <a:noAutofit/>
          </a:bodyPr>
          <a:p>
            <a:pPr>
              <a:lnSpc>
                <a:spcPct val="100000"/>
              </a:lnSpc>
              <a:tabLst>
                <a:tab pos="0" algn="l"/>
              </a:tabLst>
            </a:pPr>
            <a:r>
              <a:rPr lang="en-US" sz="1200" b="0" u="none" strike="noStrike">
                <a:solidFill>
                  <a:srgbClr val="A0B8D0"/>
                </a:solidFill>
                <a:effectLst/>
                <a:uFillTx/>
                <a:latin typeface="Calibri"/>
                <a:ea typeface="Calibri"/>
              </a:rPr>
              <a:t>The goal of this analysis is to identify high-volume trends and geographical hotspots to drive targeted fire prevention and resource efficiency</a:t>
            </a:r>
            <a:endParaRPr lang="en-GB"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A"/>
        </a:solidFill>
      </p:bgPr>
    </p:bg>
    <p:spTree>
      <p:nvGrpSpPr>
        <p:cNvPr id="1" name=""/>
        <p:cNvGrpSpPr/>
        <p:nvPr/>
      </p:nvGrpSpPr>
      <p:grpSpPr>
        <a:xfrm>
          <a:off x="0" y="0"/>
          <a:ext cx="0" cy="0"/>
          <a:chOff x="0" y="0"/>
          <a:chExt cx="0" cy="0"/>
        </a:xfrm>
      </p:grpSpPr>
      <p:sp>
        <p:nvSpPr>
          <p:cNvPr id="17" name="Google Shape;28;p2"/>
          <p:cNvSpPr/>
          <p:nvPr/>
        </p:nvSpPr>
        <p:spPr>
          <a:xfrm>
            <a:off x="0" y="0"/>
            <a:ext cx="9143640" cy="959760"/>
          </a:xfrm>
          <a:prstGeom prst="rect">
            <a:avLst/>
          </a:prstGeom>
          <a:solidFill>
            <a:srgbClr val="0D1B2A"/>
          </a:solidFill>
          <a:ln w="0">
            <a:noFill/>
          </a:ln>
        </p:spPr>
        <p:style>
          <a:lnRef idx="0"/>
          <a:fillRef idx="0"/>
          <a:effectRef idx="0"/>
          <a:fontRef idx="minor"/>
        </p:style>
        <p:txBody>
          <a:bodyPr tIns="91440" bIns="91440" anchor="ctr">
            <a:noAutofit/>
          </a:bodyPr>
          <a:p>
            <a:endParaRPr lang="en-GB" sz="1400" b="0" u="none" strike="noStrike">
              <a:solidFill>
                <a:srgbClr val="FFFFFF"/>
              </a:solidFill>
              <a:effectLst/>
              <a:uFillTx/>
              <a:latin typeface="Arial"/>
            </a:endParaRPr>
          </a:p>
        </p:txBody>
      </p:sp>
      <p:sp>
        <p:nvSpPr>
          <p:cNvPr id="18" name="Google Shape;29;p2"/>
          <p:cNvSpPr/>
          <p:nvPr/>
        </p:nvSpPr>
        <p:spPr>
          <a:xfrm>
            <a:off x="0" y="0"/>
            <a:ext cx="136800" cy="5143320"/>
          </a:xfrm>
          <a:prstGeom prst="rect">
            <a:avLst/>
          </a:prstGeom>
          <a:solidFill>
            <a:srgbClr val="E53935"/>
          </a:solidFill>
          <a:ln w="0">
            <a:noFill/>
          </a:ln>
        </p:spPr>
        <p:style>
          <a:lnRef idx="0"/>
          <a:fillRef idx="0"/>
          <a:effectRef idx="0"/>
          <a:fontRef idx="minor"/>
        </p:style>
        <p:txBody>
          <a:bodyPr tIns="91440" bIns="91440" anchor="ctr">
            <a:noAutofit/>
          </a:bodyPr>
          <a:p>
            <a:endParaRPr lang="en-GB" sz="1400" b="0" u="none" strike="noStrike">
              <a:solidFill>
                <a:srgbClr val="FFFFFF"/>
              </a:solidFill>
              <a:effectLst/>
              <a:uFillTx/>
              <a:latin typeface="Arial"/>
            </a:endParaRPr>
          </a:p>
        </p:txBody>
      </p:sp>
      <p:sp>
        <p:nvSpPr>
          <p:cNvPr id="19" name="Google Shape;30;p2"/>
          <p:cNvSpPr/>
          <p:nvPr/>
        </p:nvSpPr>
        <p:spPr>
          <a:xfrm>
            <a:off x="320040" y="0"/>
            <a:ext cx="6400440" cy="9140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3000" b="1" u="none" strike="noStrike">
                <a:solidFill>
                  <a:srgbClr val="FFFFFF"/>
                </a:solidFill>
                <a:effectLst/>
                <a:uFillTx/>
                <a:latin typeface="Calibri"/>
                <a:ea typeface="Calibri"/>
              </a:rPr>
              <a:t>Methodology &amp; Data Integrity</a:t>
            </a:r>
            <a:endParaRPr lang="en-GB" sz="3000" b="0" u="none" strike="noStrike">
              <a:solidFill>
                <a:srgbClr val="000000"/>
              </a:solidFill>
              <a:effectLst/>
              <a:uFillTx/>
              <a:latin typeface="Arial"/>
            </a:endParaRPr>
          </a:p>
        </p:txBody>
      </p:sp>
      <p:sp>
        <p:nvSpPr>
          <p:cNvPr id="20" name="Google Shape;31;p2"/>
          <p:cNvSpPr/>
          <p:nvPr/>
        </p:nvSpPr>
        <p:spPr>
          <a:xfrm>
            <a:off x="320040" y="502920"/>
            <a:ext cx="8229240" cy="4568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300" b="0" u="none" strike="noStrike">
                <a:solidFill>
                  <a:srgbClr val="9BB8D0"/>
                </a:solidFill>
                <a:effectLst/>
                <a:uFillTx/>
                <a:latin typeface="Calibri"/>
                <a:ea typeface="Calibri"/>
              </a:rPr>
              <a:t>Ensuring accuracy and reliability across large-scale datasets</a:t>
            </a:r>
            <a:endParaRPr lang="en-GB" sz="1300" b="0" u="none" strike="noStrike">
              <a:solidFill>
                <a:srgbClr val="000000"/>
              </a:solidFill>
              <a:effectLst/>
              <a:uFillTx/>
              <a:latin typeface="Arial"/>
            </a:endParaRPr>
          </a:p>
        </p:txBody>
      </p:sp>
      <p:sp>
        <p:nvSpPr>
          <p:cNvPr id="21" name="Google Shape;32;p2"/>
          <p:cNvSpPr/>
          <p:nvPr/>
        </p:nvSpPr>
        <p:spPr>
          <a:xfrm>
            <a:off x="320040" y="1143000"/>
            <a:ext cx="4023000" cy="1599840"/>
          </a:xfrm>
          <a:prstGeom prst="rect">
            <a:avLst/>
          </a:prstGeom>
          <a:solidFill>
            <a:srgbClr val="FFFFFF"/>
          </a:solidFill>
          <a:ln w="0">
            <a:noFill/>
          </a:ln>
          <a:effectLst>
            <a:outerShdw algn="bl" blurRad="76320" dir="8100000" dist="37674" rotWithShape="0">
              <a:srgbClr val="000000">
                <a:alpha val="12000"/>
              </a:srgbClr>
            </a:outerShdw>
          </a:effectLst>
        </p:spPr>
        <p:style>
          <a:lnRef idx="0"/>
          <a:fillRef idx="0"/>
          <a:effectRef idx="0"/>
          <a:fontRef idx="minor"/>
        </p:style>
        <p:txBody>
          <a:bodyPr tIns="91440" bIns="91440" anchor="ctr">
            <a:noAutofit/>
          </a:bodyPr>
          <a:p>
            <a:endParaRPr lang="en-GB" sz="1400" b="0" u="none" strike="noStrike">
              <a:solidFill>
                <a:srgbClr val="000000"/>
              </a:solidFill>
              <a:effectLst/>
              <a:uFillTx/>
              <a:latin typeface="Arial"/>
            </a:endParaRPr>
          </a:p>
        </p:txBody>
      </p:sp>
      <p:sp>
        <p:nvSpPr>
          <p:cNvPr id="22" name="Google Shape;33;p2"/>
          <p:cNvSpPr/>
          <p:nvPr/>
        </p:nvSpPr>
        <p:spPr>
          <a:xfrm>
            <a:off x="320040" y="1143000"/>
            <a:ext cx="109440" cy="1599840"/>
          </a:xfrm>
          <a:prstGeom prst="rect">
            <a:avLst/>
          </a:prstGeom>
          <a:solidFill>
            <a:srgbClr val="E53935"/>
          </a:solidFill>
          <a:ln w="0">
            <a:noFill/>
          </a:ln>
        </p:spPr>
        <p:style>
          <a:lnRef idx="0"/>
          <a:fillRef idx="0"/>
          <a:effectRef idx="0"/>
          <a:fontRef idx="minor"/>
        </p:style>
        <p:txBody>
          <a:bodyPr tIns="91440" bIns="91440" anchor="ctr">
            <a:noAutofit/>
          </a:bodyPr>
          <a:p>
            <a:endParaRPr lang="en-GB" sz="1400" b="0" u="none" strike="noStrike">
              <a:solidFill>
                <a:srgbClr val="FFFFFF"/>
              </a:solidFill>
              <a:effectLst/>
              <a:uFillTx/>
              <a:latin typeface="Arial"/>
            </a:endParaRPr>
          </a:p>
        </p:txBody>
      </p:sp>
      <p:sp>
        <p:nvSpPr>
          <p:cNvPr id="23" name="Google Shape;34;p2"/>
          <p:cNvSpPr/>
          <p:nvPr/>
        </p:nvSpPr>
        <p:spPr>
          <a:xfrm>
            <a:off x="521280" y="1234440"/>
            <a:ext cx="3657240" cy="2739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300" b="1" u="none" strike="noStrike">
                <a:solidFill>
                  <a:srgbClr val="E53935"/>
                </a:solidFill>
                <a:effectLst/>
                <a:uFillTx/>
                <a:latin typeface="Calibri"/>
                <a:ea typeface="Calibri"/>
              </a:rPr>
              <a:t>Data Sourcing &amp; Scale</a:t>
            </a:r>
            <a:endParaRPr lang="en-GB" sz="1300" b="0" u="none" strike="noStrike">
              <a:solidFill>
                <a:srgbClr val="000000"/>
              </a:solidFill>
              <a:effectLst/>
              <a:uFillTx/>
              <a:latin typeface="Arial"/>
            </a:endParaRPr>
          </a:p>
        </p:txBody>
      </p:sp>
      <p:sp>
        <p:nvSpPr>
          <p:cNvPr id="24" name="Google Shape;35;p2"/>
          <p:cNvSpPr/>
          <p:nvPr/>
        </p:nvSpPr>
        <p:spPr>
          <a:xfrm>
            <a:off x="521280" y="1769760"/>
            <a:ext cx="3657240" cy="5482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100" b="0" u="none" strike="noStrike">
                <a:solidFill>
                  <a:srgbClr val="1A202C"/>
                </a:solidFill>
                <a:effectLst/>
                <a:uFillTx/>
                <a:latin typeface="Calibri"/>
                <a:ea typeface="Calibri"/>
              </a:rPr>
              <a:t>Sourced from the London Fire Brigade Open Data portal (2024 onwards)</a:t>
            </a:r>
            <a:br>
              <a:rPr sz="1100"/>
            </a:br>
            <a:r>
              <a:rPr lang="en-US" sz="1100" b="0" u="sng" strike="noStrike">
                <a:solidFill>
                  <a:schemeClr val="hlink"/>
                </a:solidFill>
                <a:effectLst/>
                <a:uFillTx/>
                <a:latin typeface="Calibri"/>
                <a:ea typeface="Calibri"/>
                <a:hlinkClick r:id="rId1"/>
              </a:rPr>
              <a:t>https://data.london.gov.uk/dataset/london-fire-brigade-incident-records-em8xy/</a:t>
            </a:r>
            <a:endParaRPr lang="en-GB" sz="1100" b="0" u="none" strike="noStrike">
              <a:solidFill>
                <a:srgbClr val="000000"/>
              </a:solidFill>
              <a:effectLst/>
              <a:uFillTx/>
              <a:latin typeface="Arial"/>
            </a:endParaRPr>
          </a:p>
          <a:p>
            <a:pPr>
              <a:lnSpc>
                <a:spcPct val="100000"/>
              </a:lnSpc>
              <a:tabLst>
                <a:tab pos="0" algn="l"/>
              </a:tabLst>
            </a:pPr>
            <a:endParaRPr lang="en-GB" sz="1100" b="0" u="none" strike="noStrike">
              <a:solidFill>
                <a:srgbClr val="000000"/>
              </a:solidFill>
              <a:effectLst/>
              <a:uFillTx/>
              <a:latin typeface="Arial"/>
            </a:endParaRPr>
          </a:p>
          <a:p>
            <a:pPr>
              <a:lnSpc>
                <a:spcPct val="100000"/>
              </a:lnSpc>
              <a:tabLst>
                <a:tab pos="0" algn="l"/>
              </a:tabLst>
            </a:pPr>
            <a:endParaRPr lang="en-GB" sz="1100" b="0" u="none" strike="noStrike">
              <a:solidFill>
                <a:srgbClr val="000000"/>
              </a:solidFill>
              <a:effectLst/>
              <a:uFillTx/>
              <a:latin typeface="Arial"/>
            </a:endParaRPr>
          </a:p>
        </p:txBody>
      </p:sp>
      <p:sp>
        <p:nvSpPr>
          <p:cNvPr id="25" name="Google Shape;36;p2"/>
          <p:cNvSpPr/>
          <p:nvPr/>
        </p:nvSpPr>
        <p:spPr>
          <a:xfrm>
            <a:off x="4663440" y="1143000"/>
            <a:ext cx="4023000" cy="1599840"/>
          </a:xfrm>
          <a:prstGeom prst="rect">
            <a:avLst/>
          </a:prstGeom>
          <a:solidFill>
            <a:srgbClr val="FFFFFF"/>
          </a:solidFill>
          <a:ln w="0">
            <a:noFill/>
          </a:ln>
          <a:effectLst>
            <a:outerShdw algn="bl" blurRad="76320" dir="8100000" dist="37674" rotWithShape="0">
              <a:srgbClr val="000000">
                <a:alpha val="12000"/>
              </a:srgbClr>
            </a:outerShdw>
          </a:effectLst>
        </p:spPr>
        <p:style>
          <a:lnRef idx="0"/>
          <a:fillRef idx="0"/>
          <a:effectRef idx="0"/>
          <a:fontRef idx="minor"/>
        </p:style>
        <p:txBody>
          <a:bodyPr tIns="91440" bIns="91440" anchor="ctr">
            <a:noAutofit/>
          </a:bodyPr>
          <a:p>
            <a:endParaRPr lang="en-GB" sz="1400" b="0" u="none" strike="noStrike">
              <a:solidFill>
                <a:srgbClr val="000000"/>
              </a:solidFill>
              <a:effectLst/>
              <a:uFillTx/>
              <a:latin typeface="Arial"/>
            </a:endParaRPr>
          </a:p>
        </p:txBody>
      </p:sp>
      <p:sp>
        <p:nvSpPr>
          <p:cNvPr id="26" name="Google Shape;37;p2"/>
          <p:cNvSpPr/>
          <p:nvPr/>
        </p:nvSpPr>
        <p:spPr>
          <a:xfrm>
            <a:off x="4663440" y="1143000"/>
            <a:ext cx="109440" cy="1599840"/>
          </a:xfrm>
          <a:prstGeom prst="rect">
            <a:avLst/>
          </a:prstGeom>
          <a:solidFill>
            <a:srgbClr val="F57C00"/>
          </a:solidFill>
          <a:ln w="0">
            <a:noFill/>
          </a:ln>
        </p:spPr>
        <p:style>
          <a:lnRef idx="0"/>
          <a:fillRef idx="0"/>
          <a:effectRef idx="0"/>
          <a:fontRef idx="minor"/>
        </p:style>
        <p:txBody>
          <a:bodyPr tIns="91440" bIns="91440" anchor="ctr">
            <a:noAutofit/>
          </a:bodyPr>
          <a:p>
            <a:endParaRPr lang="en-GB" sz="1400" b="0" u="none" strike="noStrike">
              <a:solidFill>
                <a:srgbClr val="FFFFFF"/>
              </a:solidFill>
              <a:effectLst/>
              <a:uFillTx/>
              <a:latin typeface="Arial"/>
            </a:endParaRPr>
          </a:p>
        </p:txBody>
      </p:sp>
      <p:sp>
        <p:nvSpPr>
          <p:cNvPr id="27" name="Google Shape;38;p2"/>
          <p:cNvSpPr/>
          <p:nvPr/>
        </p:nvSpPr>
        <p:spPr>
          <a:xfrm>
            <a:off x="4864680" y="1234440"/>
            <a:ext cx="3657240" cy="2739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300" b="1" u="none" strike="noStrike">
                <a:solidFill>
                  <a:srgbClr val="F57C00"/>
                </a:solidFill>
                <a:effectLst/>
                <a:uFillTx/>
                <a:latin typeface="Calibri"/>
                <a:ea typeface="Calibri"/>
              </a:rPr>
              <a:t>Automated Cleaning (Python)</a:t>
            </a:r>
            <a:endParaRPr lang="en-GB" sz="1300" b="0" u="none" strike="noStrike">
              <a:solidFill>
                <a:srgbClr val="000000"/>
              </a:solidFill>
              <a:effectLst/>
              <a:uFillTx/>
              <a:latin typeface="Arial"/>
            </a:endParaRPr>
          </a:p>
        </p:txBody>
      </p:sp>
      <p:sp>
        <p:nvSpPr>
          <p:cNvPr id="28" name="Google Shape;39;p2"/>
          <p:cNvSpPr/>
          <p:nvPr/>
        </p:nvSpPr>
        <p:spPr>
          <a:xfrm>
            <a:off x="4864680" y="1617840"/>
            <a:ext cx="3657240" cy="5482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100" b="1" u="none" strike="noStrike">
                <a:solidFill>
                  <a:srgbClr val="1A202C"/>
                </a:solidFill>
                <a:effectLst/>
                <a:uFillTx/>
                <a:latin typeface="Calibri"/>
                <a:ea typeface="Calibri"/>
              </a:rPr>
              <a:t>Technique:</a:t>
            </a:r>
            <a:r>
              <a:rPr lang="en-US" sz="1100" b="0" u="none" strike="noStrike">
                <a:solidFill>
                  <a:srgbClr val="1A202C"/>
                </a:solidFill>
                <a:effectLst/>
                <a:uFillTx/>
                <a:latin typeface="Calibri"/>
                <a:ea typeface="Calibri"/>
              </a:rPr>
              <a:t> Python Scripting (Pandas &amp; NumPy)</a:t>
            </a:r>
            <a:endParaRPr lang="en-GB" sz="1100" b="0" u="none" strike="noStrike">
              <a:solidFill>
                <a:srgbClr val="000000"/>
              </a:solidFill>
              <a:effectLst/>
              <a:uFillTx/>
              <a:latin typeface="Arial"/>
            </a:endParaRPr>
          </a:p>
          <a:p>
            <a:pPr>
              <a:lnSpc>
                <a:spcPct val="100000"/>
              </a:lnSpc>
              <a:tabLst>
                <a:tab pos="0" algn="l"/>
              </a:tabLst>
            </a:pPr>
            <a:endParaRPr lang="en-GB" sz="1100" b="0" u="none" strike="noStrike">
              <a:solidFill>
                <a:srgbClr val="000000"/>
              </a:solidFill>
              <a:effectLst/>
              <a:uFillTx/>
              <a:latin typeface="Arial"/>
            </a:endParaRPr>
          </a:p>
          <a:p>
            <a:pPr>
              <a:lnSpc>
                <a:spcPct val="100000"/>
              </a:lnSpc>
              <a:tabLst>
                <a:tab pos="0" algn="l"/>
              </a:tabLst>
            </a:pPr>
            <a:r>
              <a:rPr lang="en-US" sz="1100" b="1" u="none" strike="noStrike">
                <a:solidFill>
                  <a:srgbClr val="1A202C"/>
                </a:solidFill>
                <a:effectLst/>
                <a:uFillTx/>
                <a:latin typeface="Calibri"/>
                <a:ea typeface="Calibri"/>
              </a:rPr>
              <a:t>Process:</a:t>
            </a:r>
            <a:r>
              <a:rPr lang="en-US" sz="1100" b="0" u="none" strike="noStrike">
                <a:solidFill>
                  <a:srgbClr val="1A202C"/>
                </a:solidFill>
                <a:effectLst/>
                <a:uFillTx/>
                <a:latin typeface="Calibri"/>
                <a:ea typeface="Calibri"/>
              </a:rPr>
              <a:t> Used for handling missing values in AttendanceTime and standardising IncidentStationGround naming conventions.</a:t>
            </a:r>
            <a:endParaRPr lang="en-GB" sz="1100" b="0" u="none" strike="noStrike">
              <a:solidFill>
                <a:srgbClr val="000000"/>
              </a:solidFill>
              <a:effectLst/>
              <a:uFillTx/>
              <a:latin typeface="Arial"/>
            </a:endParaRPr>
          </a:p>
        </p:txBody>
      </p:sp>
      <p:sp>
        <p:nvSpPr>
          <p:cNvPr id="29" name="Google Shape;40;p2"/>
          <p:cNvSpPr/>
          <p:nvPr/>
        </p:nvSpPr>
        <p:spPr>
          <a:xfrm>
            <a:off x="320040" y="2926080"/>
            <a:ext cx="4023000" cy="1599840"/>
          </a:xfrm>
          <a:prstGeom prst="rect">
            <a:avLst/>
          </a:prstGeom>
          <a:solidFill>
            <a:srgbClr val="FFFFFF"/>
          </a:solidFill>
          <a:ln w="0">
            <a:noFill/>
          </a:ln>
          <a:effectLst>
            <a:outerShdw algn="bl" blurRad="76320" dir="8100000" dist="37674" rotWithShape="0">
              <a:srgbClr val="000000">
                <a:alpha val="12000"/>
              </a:srgbClr>
            </a:outerShdw>
          </a:effectLst>
        </p:spPr>
        <p:style>
          <a:lnRef idx="0"/>
          <a:fillRef idx="0"/>
          <a:effectRef idx="0"/>
          <a:fontRef idx="minor"/>
        </p:style>
        <p:txBody>
          <a:bodyPr tIns="91440" bIns="91440" anchor="ctr">
            <a:noAutofit/>
          </a:bodyPr>
          <a:p>
            <a:endParaRPr lang="en-GB" sz="1400" b="0" u="none" strike="noStrike">
              <a:solidFill>
                <a:srgbClr val="000000"/>
              </a:solidFill>
              <a:effectLst/>
              <a:uFillTx/>
              <a:latin typeface="Arial"/>
            </a:endParaRPr>
          </a:p>
        </p:txBody>
      </p:sp>
      <p:sp>
        <p:nvSpPr>
          <p:cNvPr id="30" name="Google Shape;41;p2"/>
          <p:cNvSpPr/>
          <p:nvPr/>
        </p:nvSpPr>
        <p:spPr>
          <a:xfrm>
            <a:off x="320040" y="2926080"/>
            <a:ext cx="109440" cy="1599840"/>
          </a:xfrm>
          <a:prstGeom prst="rect">
            <a:avLst/>
          </a:prstGeom>
          <a:solidFill>
            <a:srgbClr val="7B1FA2"/>
          </a:solidFill>
          <a:ln w="0">
            <a:noFill/>
          </a:ln>
        </p:spPr>
        <p:style>
          <a:lnRef idx="0"/>
          <a:fillRef idx="0"/>
          <a:effectRef idx="0"/>
          <a:fontRef idx="minor"/>
        </p:style>
        <p:txBody>
          <a:bodyPr tIns="91440" bIns="91440" anchor="ctr">
            <a:noAutofit/>
          </a:bodyPr>
          <a:p>
            <a:endParaRPr lang="en-GB" sz="1400" b="0" u="none" strike="noStrike">
              <a:solidFill>
                <a:srgbClr val="FFFFFF"/>
              </a:solidFill>
              <a:effectLst/>
              <a:uFillTx/>
              <a:latin typeface="Arial"/>
            </a:endParaRPr>
          </a:p>
        </p:txBody>
      </p:sp>
      <p:sp>
        <p:nvSpPr>
          <p:cNvPr id="31" name="Google Shape;42;p2"/>
          <p:cNvSpPr/>
          <p:nvPr/>
        </p:nvSpPr>
        <p:spPr>
          <a:xfrm>
            <a:off x="521280" y="3017520"/>
            <a:ext cx="3657240" cy="2739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300" b="1" u="none" strike="noStrike">
                <a:solidFill>
                  <a:srgbClr val="7B1FA2"/>
                </a:solidFill>
                <a:effectLst/>
                <a:uFillTx/>
                <a:latin typeface="Calibri"/>
                <a:ea typeface="Calibri"/>
              </a:rPr>
              <a:t>Feature Engineering</a:t>
            </a:r>
            <a:endParaRPr lang="en-GB" sz="1300" b="0" u="none" strike="noStrike">
              <a:solidFill>
                <a:srgbClr val="000000"/>
              </a:solidFill>
              <a:effectLst/>
              <a:uFillTx/>
              <a:latin typeface="Arial"/>
            </a:endParaRPr>
          </a:p>
        </p:txBody>
      </p:sp>
      <p:sp>
        <p:nvSpPr>
          <p:cNvPr id="32" name="Google Shape;43;p2"/>
          <p:cNvSpPr/>
          <p:nvPr/>
        </p:nvSpPr>
        <p:spPr>
          <a:xfrm>
            <a:off x="521280" y="3489840"/>
            <a:ext cx="3657240" cy="5482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100" b="1" u="none" strike="noStrike">
                <a:solidFill>
                  <a:srgbClr val="1A202C"/>
                </a:solidFill>
                <a:effectLst/>
                <a:uFillTx/>
                <a:latin typeface="Calibri"/>
                <a:ea typeface="Calibri"/>
              </a:rPr>
              <a:t>Calculated Fields:</a:t>
            </a:r>
            <a:r>
              <a:rPr lang="en-US" sz="1100" b="0" u="none" strike="noStrike">
                <a:solidFill>
                  <a:srgbClr val="1A202C"/>
                </a:solidFill>
                <a:effectLst/>
                <a:uFillTx/>
                <a:latin typeface="Calibri"/>
                <a:ea typeface="Calibri"/>
              </a:rPr>
              <a:t> Derived custom metrics like Attendance Target Gap and Peak Surge Windows.</a:t>
            </a:r>
            <a:endParaRPr lang="en-GB" sz="1100" b="0" u="none" strike="noStrike">
              <a:solidFill>
                <a:srgbClr val="000000"/>
              </a:solidFill>
              <a:effectLst/>
              <a:uFillTx/>
              <a:latin typeface="Arial"/>
            </a:endParaRPr>
          </a:p>
          <a:p>
            <a:pPr>
              <a:lnSpc>
                <a:spcPct val="100000"/>
              </a:lnSpc>
              <a:tabLst>
                <a:tab pos="0" algn="l"/>
              </a:tabLst>
            </a:pPr>
            <a:endParaRPr lang="en-GB" sz="1100" b="0" u="none" strike="noStrike">
              <a:solidFill>
                <a:srgbClr val="000000"/>
              </a:solidFill>
              <a:effectLst/>
              <a:uFillTx/>
              <a:latin typeface="Arial"/>
            </a:endParaRPr>
          </a:p>
          <a:p>
            <a:pPr>
              <a:lnSpc>
                <a:spcPct val="100000"/>
              </a:lnSpc>
              <a:tabLst>
                <a:tab pos="0" algn="l"/>
              </a:tabLst>
            </a:pPr>
            <a:r>
              <a:rPr lang="en-US" sz="1100" b="1" u="none" strike="noStrike">
                <a:solidFill>
                  <a:srgbClr val="1A202C"/>
                </a:solidFill>
                <a:effectLst/>
                <a:uFillTx/>
                <a:latin typeface="Calibri"/>
                <a:ea typeface="Calibri"/>
              </a:rPr>
              <a:t>Process:</a:t>
            </a:r>
            <a:r>
              <a:rPr lang="en-US" sz="1100" b="0" u="none" strike="noStrike">
                <a:solidFill>
                  <a:srgbClr val="1A202C"/>
                </a:solidFill>
                <a:effectLst/>
                <a:uFillTx/>
                <a:latin typeface="Calibri"/>
                <a:ea typeface="Calibri"/>
              </a:rPr>
              <a:t> Converted raw seconds into performance-ready minute benchmarks.</a:t>
            </a:r>
            <a:endParaRPr lang="en-GB" sz="1100" b="0" u="none" strike="noStrike">
              <a:solidFill>
                <a:srgbClr val="000000"/>
              </a:solidFill>
              <a:effectLst/>
              <a:uFillTx/>
              <a:latin typeface="Arial"/>
            </a:endParaRPr>
          </a:p>
        </p:txBody>
      </p:sp>
      <p:sp>
        <p:nvSpPr>
          <p:cNvPr id="33" name="Google Shape;44;p2"/>
          <p:cNvSpPr/>
          <p:nvPr/>
        </p:nvSpPr>
        <p:spPr>
          <a:xfrm>
            <a:off x="4663440" y="2926080"/>
            <a:ext cx="4023000" cy="1599840"/>
          </a:xfrm>
          <a:prstGeom prst="rect">
            <a:avLst/>
          </a:prstGeom>
          <a:solidFill>
            <a:srgbClr val="FFFFFF"/>
          </a:solidFill>
          <a:ln w="0">
            <a:noFill/>
          </a:ln>
          <a:effectLst>
            <a:outerShdw algn="bl" blurRad="76320" dir="8100000" dist="37674" rotWithShape="0">
              <a:srgbClr val="000000">
                <a:alpha val="12000"/>
              </a:srgbClr>
            </a:outerShdw>
          </a:effectLst>
        </p:spPr>
        <p:style>
          <a:lnRef idx="0"/>
          <a:fillRef idx="0"/>
          <a:effectRef idx="0"/>
          <a:fontRef idx="minor"/>
        </p:style>
        <p:txBody>
          <a:bodyPr tIns="91440" bIns="91440" anchor="ctr">
            <a:noAutofit/>
          </a:bodyPr>
          <a:p>
            <a:endParaRPr lang="en-GB" sz="1400" b="0" u="none" strike="noStrike">
              <a:solidFill>
                <a:srgbClr val="000000"/>
              </a:solidFill>
              <a:effectLst/>
              <a:uFillTx/>
              <a:latin typeface="Arial"/>
            </a:endParaRPr>
          </a:p>
        </p:txBody>
      </p:sp>
      <p:sp>
        <p:nvSpPr>
          <p:cNvPr id="34" name="Google Shape;45;p2"/>
          <p:cNvSpPr/>
          <p:nvPr/>
        </p:nvSpPr>
        <p:spPr>
          <a:xfrm>
            <a:off x="4663440" y="2926080"/>
            <a:ext cx="109440" cy="1599840"/>
          </a:xfrm>
          <a:prstGeom prst="rect">
            <a:avLst/>
          </a:prstGeom>
          <a:solidFill>
            <a:srgbClr val="2E7D32"/>
          </a:solidFill>
          <a:ln w="0">
            <a:noFill/>
          </a:ln>
        </p:spPr>
        <p:style>
          <a:lnRef idx="0"/>
          <a:fillRef idx="0"/>
          <a:effectRef idx="0"/>
          <a:fontRef idx="minor"/>
        </p:style>
        <p:txBody>
          <a:bodyPr tIns="91440" bIns="91440" anchor="ctr">
            <a:noAutofit/>
          </a:bodyPr>
          <a:p>
            <a:endParaRPr lang="en-GB" sz="1400" b="0" u="none" strike="noStrike">
              <a:solidFill>
                <a:srgbClr val="FFFFFF"/>
              </a:solidFill>
              <a:effectLst/>
              <a:uFillTx/>
              <a:latin typeface="Arial"/>
            </a:endParaRPr>
          </a:p>
        </p:txBody>
      </p:sp>
      <p:sp>
        <p:nvSpPr>
          <p:cNvPr id="35" name="Google Shape;46;p2"/>
          <p:cNvSpPr/>
          <p:nvPr/>
        </p:nvSpPr>
        <p:spPr>
          <a:xfrm>
            <a:off x="4864680" y="3017520"/>
            <a:ext cx="3657240" cy="2739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300" b="1" u="none" strike="noStrike">
                <a:solidFill>
                  <a:srgbClr val="2E7D32"/>
                </a:solidFill>
                <a:effectLst/>
                <a:uFillTx/>
                <a:latin typeface="Calibri"/>
                <a:ea typeface="Calibri"/>
              </a:rPr>
              <a:t>Temporal Alignment &amp; Filtering</a:t>
            </a:r>
            <a:endParaRPr lang="en-GB" sz="1300" b="0" u="none" strike="noStrike">
              <a:solidFill>
                <a:srgbClr val="000000"/>
              </a:solidFill>
              <a:effectLst/>
              <a:uFillTx/>
              <a:latin typeface="Arial"/>
            </a:endParaRPr>
          </a:p>
        </p:txBody>
      </p:sp>
      <p:sp>
        <p:nvSpPr>
          <p:cNvPr id="36" name="Google Shape;47;p2"/>
          <p:cNvSpPr/>
          <p:nvPr/>
        </p:nvSpPr>
        <p:spPr>
          <a:xfrm>
            <a:off x="4892040" y="3489840"/>
            <a:ext cx="3657240" cy="5482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100" b="1" u="none" strike="noStrike">
                <a:solidFill>
                  <a:srgbClr val="1A202C"/>
                </a:solidFill>
                <a:effectLst/>
                <a:uFillTx/>
                <a:latin typeface="Calibri"/>
                <a:ea typeface="Calibri"/>
              </a:rPr>
              <a:t>Logic: </a:t>
            </a:r>
            <a:r>
              <a:rPr lang="en-US" sz="1100" b="0" u="none" strike="noStrike">
                <a:solidFill>
                  <a:srgbClr val="1A202C"/>
                </a:solidFill>
                <a:effectLst/>
                <a:uFillTx/>
                <a:latin typeface="Calibri"/>
                <a:ea typeface="Calibri"/>
              </a:rPr>
              <a:t>Refined the raw ~300,000 record dataset to a specific 12-month operational window (March 2025 - February 2026).</a:t>
            </a:r>
            <a:endParaRPr lang="en-GB" sz="1100" b="0" u="none" strike="noStrike">
              <a:solidFill>
                <a:srgbClr val="000000"/>
              </a:solidFill>
              <a:effectLst/>
              <a:uFillTx/>
              <a:latin typeface="Arial"/>
            </a:endParaRPr>
          </a:p>
          <a:p>
            <a:pPr>
              <a:lnSpc>
                <a:spcPct val="100000"/>
              </a:lnSpc>
              <a:tabLst>
                <a:tab pos="0" algn="l"/>
              </a:tabLst>
            </a:pPr>
            <a:endParaRPr lang="en-GB" sz="1100" b="0" u="none" strike="noStrike">
              <a:solidFill>
                <a:srgbClr val="000000"/>
              </a:solidFill>
              <a:effectLst/>
              <a:uFillTx/>
              <a:latin typeface="Arial"/>
            </a:endParaRPr>
          </a:p>
          <a:p>
            <a:pPr>
              <a:lnSpc>
                <a:spcPct val="100000"/>
              </a:lnSpc>
              <a:tabLst>
                <a:tab pos="0" algn="l"/>
              </a:tabLst>
            </a:pPr>
            <a:r>
              <a:rPr lang="en-US" sz="1100" b="1" u="none" strike="noStrike">
                <a:solidFill>
                  <a:srgbClr val="1A202C"/>
                </a:solidFill>
                <a:effectLst/>
                <a:uFillTx/>
                <a:latin typeface="Calibri"/>
                <a:ea typeface="Calibri"/>
              </a:rPr>
              <a:t>Outcome:</a:t>
            </a:r>
            <a:r>
              <a:rPr lang="en-US" sz="1100" b="0" u="none" strike="noStrike">
                <a:solidFill>
                  <a:srgbClr val="1A202C"/>
                </a:solidFill>
                <a:effectLst/>
                <a:uFillTx/>
                <a:latin typeface="Calibri"/>
                <a:ea typeface="Calibri"/>
              </a:rPr>
              <a:t> Ensures the analysis reflects the most recent performance cycle for maximum strategic relevance.</a:t>
            </a:r>
            <a:endParaRPr lang="en-GB" sz="1100" b="0" u="none" strike="noStrike">
              <a:solidFill>
                <a:srgbClr val="000000"/>
              </a:solidFill>
              <a:effectLst/>
              <a:uFillTx/>
              <a:latin typeface="Arial"/>
            </a:endParaRPr>
          </a:p>
        </p:txBody>
      </p:sp>
      <p:sp>
        <p:nvSpPr>
          <p:cNvPr id="37" name="Google Shape;48;p2"/>
          <p:cNvSpPr/>
          <p:nvPr/>
        </p:nvSpPr>
        <p:spPr>
          <a:xfrm>
            <a:off x="320040" y="4800600"/>
            <a:ext cx="8503560" cy="273960"/>
          </a:xfrm>
          <a:prstGeom prst="rect">
            <a:avLst/>
          </a:prstGeom>
          <a:noFill/>
          <a:ln w="0">
            <a:noFill/>
          </a:ln>
        </p:spPr>
        <p:style>
          <a:lnRef idx="0"/>
          <a:fillRef idx="0"/>
          <a:effectRef idx="0"/>
          <a:fontRef idx="minor"/>
        </p:style>
        <p:txBody>
          <a:bodyPr anchor="ctr">
            <a:noAutofit/>
          </a:bodyPr>
          <a:p>
            <a:pPr algn="ctr">
              <a:lnSpc>
                <a:spcPct val="100000"/>
              </a:lnSpc>
              <a:tabLst>
                <a:tab pos="0" algn="l"/>
              </a:tabLst>
            </a:pPr>
            <a:r>
              <a:rPr lang="en-US" sz="1000" b="0" u="none" strike="noStrike">
                <a:solidFill>
                  <a:srgbClr val="607080"/>
                </a:solidFill>
                <a:effectLst/>
                <a:uFillTx/>
                <a:latin typeface="Calibri"/>
                <a:ea typeface="Calibri"/>
              </a:rPr>
              <a:t>Null attendance records removed • Station naming standardised • Dataset ready for analysis</a:t>
            </a:r>
            <a:endParaRPr lang="en-GB"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A"/>
        </a:solidFill>
      </p:bgPr>
    </p:bg>
    <p:spTree>
      <p:nvGrpSpPr>
        <p:cNvPr id="1" name=""/>
        <p:cNvGrpSpPr/>
        <p:nvPr/>
      </p:nvGrpSpPr>
      <p:grpSpPr>
        <a:xfrm>
          <a:off x="0" y="0"/>
          <a:ext cx="0" cy="0"/>
          <a:chOff x="0" y="0"/>
          <a:chExt cx="0" cy="0"/>
        </a:xfrm>
      </p:grpSpPr>
      <p:sp>
        <p:nvSpPr>
          <p:cNvPr id="38" name="Google Shape;54;p3"/>
          <p:cNvSpPr/>
          <p:nvPr/>
        </p:nvSpPr>
        <p:spPr>
          <a:xfrm>
            <a:off x="0" y="0"/>
            <a:ext cx="9143640" cy="959760"/>
          </a:xfrm>
          <a:prstGeom prst="rect">
            <a:avLst/>
          </a:prstGeom>
          <a:solidFill>
            <a:srgbClr val="0D1B2A"/>
          </a:solidFill>
          <a:ln w="0">
            <a:noFill/>
          </a:ln>
        </p:spPr>
        <p:style>
          <a:lnRef idx="0"/>
          <a:fillRef idx="0"/>
          <a:effectRef idx="0"/>
          <a:fontRef idx="minor"/>
        </p:style>
        <p:txBody>
          <a:bodyPr tIns="91440" bIns="91440" anchor="ctr">
            <a:noAutofit/>
          </a:bodyPr>
          <a:p>
            <a:endParaRPr lang="en-GB" sz="1400" b="0" u="none" strike="noStrike">
              <a:solidFill>
                <a:srgbClr val="FFFFFF"/>
              </a:solidFill>
              <a:effectLst/>
              <a:uFillTx/>
              <a:latin typeface="Arial"/>
            </a:endParaRPr>
          </a:p>
        </p:txBody>
      </p:sp>
      <p:sp>
        <p:nvSpPr>
          <p:cNvPr id="39" name="Google Shape;55;p3"/>
          <p:cNvSpPr/>
          <p:nvPr/>
        </p:nvSpPr>
        <p:spPr>
          <a:xfrm>
            <a:off x="0" y="0"/>
            <a:ext cx="136800" cy="5143320"/>
          </a:xfrm>
          <a:prstGeom prst="rect">
            <a:avLst/>
          </a:prstGeom>
          <a:solidFill>
            <a:srgbClr val="0288D1"/>
          </a:solidFill>
          <a:ln w="0">
            <a:noFill/>
          </a:ln>
        </p:spPr>
        <p:style>
          <a:lnRef idx="0"/>
          <a:fillRef idx="0"/>
          <a:effectRef idx="0"/>
          <a:fontRef idx="minor"/>
        </p:style>
        <p:txBody>
          <a:bodyPr tIns="91440" bIns="91440" anchor="ctr">
            <a:noAutofit/>
          </a:bodyPr>
          <a:p>
            <a:endParaRPr lang="en-GB" sz="1400" b="0" u="none" strike="noStrike">
              <a:solidFill>
                <a:srgbClr val="FFFFFF"/>
              </a:solidFill>
              <a:effectLst/>
              <a:uFillTx/>
              <a:latin typeface="Arial"/>
            </a:endParaRPr>
          </a:p>
        </p:txBody>
      </p:sp>
      <p:sp>
        <p:nvSpPr>
          <p:cNvPr id="40" name="Google Shape;56;p3"/>
          <p:cNvSpPr/>
          <p:nvPr/>
        </p:nvSpPr>
        <p:spPr>
          <a:xfrm>
            <a:off x="320040" y="0"/>
            <a:ext cx="7314840" cy="9140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3000" b="1" u="none" strike="noStrike">
                <a:solidFill>
                  <a:srgbClr val="FFFFFF"/>
                </a:solidFill>
                <a:effectLst/>
                <a:uFillTx/>
                <a:latin typeface="Calibri"/>
                <a:ea typeface="Calibri"/>
              </a:rPr>
              <a:t>Key Statistics at a Glance</a:t>
            </a:r>
            <a:endParaRPr lang="en-GB" sz="3000" b="0" u="none" strike="noStrike">
              <a:solidFill>
                <a:srgbClr val="000000"/>
              </a:solidFill>
              <a:effectLst/>
              <a:uFillTx/>
              <a:latin typeface="Arial"/>
            </a:endParaRPr>
          </a:p>
        </p:txBody>
      </p:sp>
      <p:sp>
        <p:nvSpPr>
          <p:cNvPr id="41" name="Google Shape;57;p3"/>
          <p:cNvSpPr/>
          <p:nvPr/>
        </p:nvSpPr>
        <p:spPr>
          <a:xfrm>
            <a:off x="274320" y="1097280"/>
            <a:ext cx="2742840" cy="1691280"/>
          </a:xfrm>
          <a:prstGeom prst="rect">
            <a:avLst/>
          </a:prstGeom>
          <a:solidFill>
            <a:srgbClr val="FFFFFF"/>
          </a:solidFill>
          <a:ln w="0">
            <a:noFill/>
          </a:ln>
          <a:effectLst>
            <a:outerShdw algn="bl" blurRad="76320" dir="8100000" dist="37674" rotWithShape="0">
              <a:srgbClr val="000000">
                <a:alpha val="12000"/>
              </a:srgbClr>
            </a:outerShdw>
          </a:effectLst>
        </p:spPr>
        <p:style>
          <a:lnRef idx="0"/>
          <a:fillRef idx="0"/>
          <a:effectRef idx="0"/>
          <a:fontRef idx="minor"/>
        </p:style>
        <p:txBody>
          <a:bodyPr tIns="91440" bIns="91440" anchor="ctr">
            <a:noAutofit/>
          </a:bodyPr>
          <a:p>
            <a:endParaRPr lang="en-GB" sz="1400" b="0" u="none" strike="noStrike">
              <a:solidFill>
                <a:srgbClr val="000000"/>
              </a:solidFill>
              <a:effectLst/>
              <a:uFillTx/>
              <a:latin typeface="Arial"/>
            </a:endParaRPr>
          </a:p>
        </p:txBody>
      </p:sp>
      <p:sp>
        <p:nvSpPr>
          <p:cNvPr id="42" name="Google Shape;58;p3"/>
          <p:cNvSpPr/>
          <p:nvPr/>
        </p:nvSpPr>
        <p:spPr>
          <a:xfrm>
            <a:off x="274320" y="1097280"/>
            <a:ext cx="2742840" cy="72720"/>
          </a:xfrm>
          <a:prstGeom prst="rect">
            <a:avLst/>
          </a:prstGeom>
          <a:solidFill>
            <a:srgbClr val="1565C0"/>
          </a:solidFill>
          <a:ln w="0">
            <a:noFill/>
          </a:ln>
        </p:spPr>
        <p:style>
          <a:lnRef idx="0"/>
          <a:fillRef idx="0"/>
          <a:effectRef idx="0"/>
          <a:fontRef idx="minor"/>
        </p:style>
        <p:txBody>
          <a:bodyPr tIns="36360" bIns="36360" anchor="ctr">
            <a:noAutofit/>
          </a:bodyPr>
          <a:p>
            <a:endParaRPr lang="en-GB" sz="1400" b="0" u="none" strike="noStrike">
              <a:solidFill>
                <a:srgbClr val="FFFFFF"/>
              </a:solidFill>
              <a:effectLst/>
              <a:uFillTx/>
              <a:latin typeface="Arial"/>
            </a:endParaRPr>
          </a:p>
        </p:txBody>
      </p:sp>
      <p:sp>
        <p:nvSpPr>
          <p:cNvPr id="43" name="Google Shape;59;p3"/>
          <p:cNvSpPr/>
          <p:nvPr/>
        </p:nvSpPr>
        <p:spPr>
          <a:xfrm>
            <a:off x="274320" y="1207080"/>
            <a:ext cx="2742840" cy="68544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3200" b="1" u="none" strike="noStrike">
                <a:solidFill>
                  <a:srgbClr val="1565C0"/>
                </a:solidFill>
                <a:effectLst/>
                <a:uFillTx/>
                <a:latin typeface="Calibri"/>
                <a:ea typeface="Calibri"/>
              </a:rPr>
              <a:t>31,250</a:t>
            </a:r>
            <a:endParaRPr lang="en-GB" sz="3200" b="0" u="none" strike="noStrike">
              <a:solidFill>
                <a:srgbClr val="000000"/>
              </a:solidFill>
              <a:effectLst/>
              <a:uFillTx/>
              <a:latin typeface="Arial"/>
            </a:endParaRPr>
          </a:p>
        </p:txBody>
      </p:sp>
      <p:sp>
        <p:nvSpPr>
          <p:cNvPr id="44" name="Google Shape;60;p3"/>
          <p:cNvSpPr/>
          <p:nvPr/>
        </p:nvSpPr>
        <p:spPr>
          <a:xfrm>
            <a:off x="274320" y="1847160"/>
            <a:ext cx="2742840" cy="31968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1300" b="1" u="none" strike="noStrike">
                <a:solidFill>
                  <a:srgbClr val="1A202C"/>
                </a:solidFill>
                <a:effectLst/>
                <a:uFillTx/>
                <a:latin typeface="Calibri"/>
                <a:ea typeface="Calibri"/>
              </a:rPr>
              <a:t>Total Demand</a:t>
            </a:r>
            <a:endParaRPr lang="en-GB" sz="1300" b="0" u="none" strike="noStrike">
              <a:solidFill>
                <a:srgbClr val="000000"/>
              </a:solidFill>
              <a:effectLst/>
              <a:uFillTx/>
              <a:latin typeface="Arial"/>
            </a:endParaRPr>
          </a:p>
        </p:txBody>
      </p:sp>
      <p:sp>
        <p:nvSpPr>
          <p:cNvPr id="45" name="Google Shape;61;p3"/>
          <p:cNvSpPr/>
          <p:nvPr/>
        </p:nvSpPr>
        <p:spPr>
          <a:xfrm>
            <a:off x="274320" y="2148840"/>
            <a:ext cx="2742840" cy="45684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1000" b="0" u="none" strike="noStrike">
                <a:solidFill>
                  <a:srgbClr val="607080"/>
                </a:solidFill>
                <a:effectLst/>
                <a:uFillTx/>
                <a:latin typeface="Calibri"/>
                <a:ea typeface="Calibri"/>
              </a:rPr>
              <a:t>Total Incidents within the dataset</a:t>
            </a:r>
            <a:endParaRPr lang="en-GB" sz="1000" b="0" u="none" strike="noStrike">
              <a:solidFill>
                <a:srgbClr val="000000"/>
              </a:solidFill>
              <a:effectLst/>
              <a:uFillTx/>
              <a:latin typeface="Arial"/>
            </a:endParaRPr>
          </a:p>
        </p:txBody>
      </p:sp>
      <p:sp>
        <p:nvSpPr>
          <p:cNvPr id="46" name="Google Shape;62;p3"/>
          <p:cNvSpPr/>
          <p:nvPr/>
        </p:nvSpPr>
        <p:spPr>
          <a:xfrm>
            <a:off x="3200400" y="1097280"/>
            <a:ext cx="2742840" cy="1691280"/>
          </a:xfrm>
          <a:prstGeom prst="rect">
            <a:avLst/>
          </a:prstGeom>
          <a:solidFill>
            <a:srgbClr val="FFFFFF"/>
          </a:solidFill>
          <a:ln w="0">
            <a:noFill/>
          </a:ln>
          <a:effectLst>
            <a:outerShdw algn="bl" blurRad="76320" dir="8100000" dist="37674" rotWithShape="0">
              <a:srgbClr val="000000">
                <a:alpha val="12000"/>
              </a:srgbClr>
            </a:outerShdw>
          </a:effectLst>
        </p:spPr>
        <p:style>
          <a:lnRef idx="0"/>
          <a:fillRef idx="0"/>
          <a:effectRef idx="0"/>
          <a:fontRef idx="minor"/>
        </p:style>
        <p:txBody>
          <a:bodyPr tIns="91440" bIns="91440" anchor="ctr">
            <a:noAutofit/>
          </a:bodyPr>
          <a:p>
            <a:endParaRPr lang="en-GB" sz="1400" b="0" u="none" strike="noStrike">
              <a:solidFill>
                <a:srgbClr val="000000"/>
              </a:solidFill>
              <a:effectLst/>
              <a:uFillTx/>
              <a:latin typeface="Arial"/>
            </a:endParaRPr>
          </a:p>
        </p:txBody>
      </p:sp>
      <p:sp>
        <p:nvSpPr>
          <p:cNvPr id="47" name="Google Shape;63;p3"/>
          <p:cNvSpPr/>
          <p:nvPr/>
        </p:nvSpPr>
        <p:spPr>
          <a:xfrm>
            <a:off x="3200400" y="1097280"/>
            <a:ext cx="2742840" cy="72720"/>
          </a:xfrm>
          <a:prstGeom prst="rect">
            <a:avLst/>
          </a:prstGeom>
          <a:solidFill>
            <a:srgbClr val="0288D1"/>
          </a:solidFill>
          <a:ln w="0">
            <a:noFill/>
          </a:ln>
        </p:spPr>
        <p:style>
          <a:lnRef idx="0"/>
          <a:fillRef idx="0"/>
          <a:effectRef idx="0"/>
          <a:fontRef idx="minor"/>
        </p:style>
        <p:txBody>
          <a:bodyPr tIns="36360" bIns="36360" anchor="ctr">
            <a:noAutofit/>
          </a:bodyPr>
          <a:p>
            <a:endParaRPr lang="en-GB" sz="1400" b="0" u="none" strike="noStrike">
              <a:solidFill>
                <a:srgbClr val="FFFFFF"/>
              </a:solidFill>
              <a:effectLst/>
              <a:uFillTx/>
              <a:latin typeface="Arial"/>
            </a:endParaRPr>
          </a:p>
        </p:txBody>
      </p:sp>
      <p:sp>
        <p:nvSpPr>
          <p:cNvPr id="48" name="Google Shape;64;p3"/>
          <p:cNvSpPr/>
          <p:nvPr/>
        </p:nvSpPr>
        <p:spPr>
          <a:xfrm>
            <a:off x="3200400" y="1207080"/>
            <a:ext cx="2742840" cy="68544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3200" b="1" u="none" strike="noStrike">
                <a:solidFill>
                  <a:srgbClr val="0288D1"/>
                </a:solidFill>
                <a:effectLst/>
                <a:uFillTx/>
                <a:latin typeface="Calibri"/>
                <a:ea typeface="Calibri"/>
              </a:rPr>
              <a:t>Westminster</a:t>
            </a:r>
            <a:endParaRPr lang="en-GB" sz="3200" b="0" u="none" strike="noStrike">
              <a:solidFill>
                <a:srgbClr val="000000"/>
              </a:solidFill>
              <a:effectLst/>
              <a:uFillTx/>
              <a:latin typeface="Arial"/>
            </a:endParaRPr>
          </a:p>
        </p:txBody>
      </p:sp>
      <p:sp>
        <p:nvSpPr>
          <p:cNvPr id="49" name="Google Shape;65;p3"/>
          <p:cNvSpPr/>
          <p:nvPr/>
        </p:nvSpPr>
        <p:spPr>
          <a:xfrm>
            <a:off x="3200400" y="1847160"/>
            <a:ext cx="2742840" cy="31968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1300" b="1" u="none" strike="noStrike">
                <a:solidFill>
                  <a:srgbClr val="1A202C"/>
                </a:solidFill>
                <a:effectLst/>
                <a:uFillTx/>
                <a:latin typeface="Calibri"/>
                <a:ea typeface="Calibri"/>
              </a:rPr>
              <a:t>Primary Hotspot</a:t>
            </a:r>
            <a:endParaRPr lang="en-GB" sz="1300" b="0" u="none" strike="noStrike">
              <a:solidFill>
                <a:srgbClr val="000000"/>
              </a:solidFill>
              <a:effectLst/>
              <a:uFillTx/>
              <a:latin typeface="Arial"/>
            </a:endParaRPr>
          </a:p>
        </p:txBody>
      </p:sp>
      <p:sp>
        <p:nvSpPr>
          <p:cNvPr id="50" name="Google Shape;66;p3"/>
          <p:cNvSpPr/>
          <p:nvPr/>
        </p:nvSpPr>
        <p:spPr>
          <a:xfrm>
            <a:off x="3200400" y="2148840"/>
            <a:ext cx="2742840" cy="45684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1000" b="0" u="none" strike="noStrike">
                <a:solidFill>
                  <a:srgbClr val="607080"/>
                </a:solidFill>
                <a:effectLst/>
                <a:uFillTx/>
                <a:latin typeface="Calibri"/>
                <a:ea typeface="Calibri"/>
              </a:rPr>
              <a:t>8,774 Incidents</a:t>
            </a:r>
            <a:endParaRPr lang="en-GB" sz="1000" b="0" u="none" strike="noStrike">
              <a:solidFill>
                <a:srgbClr val="000000"/>
              </a:solidFill>
              <a:effectLst/>
              <a:uFillTx/>
              <a:latin typeface="Arial"/>
            </a:endParaRPr>
          </a:p>
        </p:txBody>
      </p:sp>
      <p:sp>
        <p:nvSpPr>
          <p:cNvPr id="51" name="Google Shape;67;p3"/>
          <p:cNvSpPr/>
          <p:nvPr/>
        </p:nvSpPr>
        <p:spPr>
          <a:xfrm>
            <a:off x="6126480" y="1097280"/>
            <a:ext cx="2742840" cy="1691280"/>
          </a:xfrm>
          <a:prstGeom prst="rect">
            <a:avLst/>
          </a:prstGeom>
          <a:solidFill>
            <a:srgbClr val="FFFFFF"/>
          </a:solidFill>
          <a:ln w="0">
            <a:noFill/>
          </a:ln>
          <a:effectLst>
            <a:outerShdw algn="bl" blurRad="76320" dir="8100000" dist="37674" rotWithShape="0">
              <a:srgbClr val="000000">
                <a:alpha val="12000"/>
              </a:srgbClr>
            </a:outerShdw>
          </a:effectLst>
        </p:spPr>
        <p:style>
          <a:lnRef idx="0"/>
          <a:fillRef idx="0"/>
          <a:effectRef idx="0"/>
          <a:fontRef idx="minor"/>
        </p:style>
        <p:txBody>
          <a:bodyPr tIns="91440" bIns="91440" anchor="ctr">
            <a:noAutofit/>
          </a:bodyPr>
          <a:p>
            <a:endParaRPr lang="en-GB" sz="1400" b="0" u="none" strike="noStrike">
              <a:solidFill>
                <a:srgbClr val="000000"/>
              </a:solidFill>
              <a:effectLst/>
              <a:uFillTx/>
              <a:latin typeface="Arial"/>
            </a:endParaRPr>
          </a:p>
        </p:txBody>
      </p:sp>
      <p:sp>
        <p:nvSpPr>
          <p:cNvPr id="52" name="Google Shape;68;p3"/>
          <p:cNvSpPr/>
          <p:nvPr/>
        </p:nvSpPr>
        <p:spPr>
          <a:xfrm>
            <a:off x="6126480" y="1097280"/>
            <a:ext cx="2742840" cy="72720"/>
          </a:xfrm>
          <a:prstGeom prst="rect">
            <a:avLst/>
          </a:prstGeom>
          <a:solidFill>
            <a:srgbClr val="F57C00"/>
          </a:solidFill>
          <a:ln w="0">
            <a:noFill/>
          </a:ln>
        </p:spPr>
        <p:style>
          <a:lnRef idx="0"/>
          <a:fillRef idx="0"/>
          <a:effectRef idx="0"/>
          <a:fontRef idx="minor"/>
        </p:style>
        <p:txBody>
          <a:bodyPr tIns="36360" bIns="36360" anchor="ctr">
            <a:noAutofit/>
          </a:bodyPr>
          <a:p>
            <a:endParaRPr lang="en-GB" sz="1400" b="0" u="none" strike="noStrike">
              <a:solidFill>
                <a:srgbClr val="FFFFFF"/>
              </a:solidFill>
              <a:effectLst/>
              <a:uFillTx/>
              <a:latin typeface="Arial"/>
            </a:endParaRPr>
          </a:p>
        </p:txBody>
      </p:sp>
      <p:sp>
        <p:nvSpPr>
          <p:cNvPr id="53" name="Google Shape;69;p3"/>
          <p:cNvSpPr/>
          <p:nvPr/>
        </p:nvSpPr>
        <p:spPr>
          <a:xfrm>
            <a:off x="6126480" y="1207080"/>
            <a:ext cx="2742840" cy="68544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3200" b="1" u="none" strike="noStrike">
                <a:solidFill>
                  <a:srgbClr val="F57C00"/>
                </a:solidFill>
                <a:effectLst/>
                <a:uFillTx/>
                <a:latin typeface="Calibri"/>
                <a:ea typeface="Calibri"/>
              </a:rPr>
              <a:t>Dwellings</a:t>
            </a:r>
            <a:endParaRPr lang="en-GB" sz="3200" b="0" u="none" strike="noStrike">
              <a:solidFill>
                <a:srgbClr val="000000"/>
              </a:solidFill>
              <a:effectLst/>
              <a:uFillTx/>
              <a:latin typeface="Arial"/>
            </a:endParaRPr>
          </a:p>
        </p:txBody>
      </p:sp>
      <p:sp>
        <p:nvSpPr>
          <p:cNvPr id="54" name="Google Shape;70;p3"/>
          <p:cNvSpPr/>
          <p:nvPr/>
        </p:nvSpPr>
        <p:spPr>
          <a:xfrm>
            <a:off x="6126480" y="1847160"/>
            <a:ext cx="2742840" cy="31968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1300" b="1" u="none" strike="noStrike">
                <a:solidFill>
                  <a:srgbClr val="1A202C"/>
                </a:solidFill>
                <a:effectLst/>
                <a:uFillTx/>
                <a:latin typeface="Calibri"/>
                <a:ea typeface="Calibri"/>
              </a:rPr>
              <a:t>Critical Risk</a:t>
            </a:r>
            <a:endParaRPr lang="en-GB" sz="1300" b="0" u="none" strike="noStrike">
              <a:solidFill>
                <a:srgbClr val="000000"/>
              </a:solidFill>
              <a:effectLst/>
              <a:uFillTx/>
              <a:latin typeface="Arial"/>
            </a:endParaRPr>
          </a:p>
        </p:txBody>
      </p:sp>
      <p:sp>
        <p:nvSpPr>
          <p:cNvPr id="55" name="Google Shape;71;p3"/>
          <p:cNvSpPr/>
          <p:nvPr/>
        </p:nvSpPr>
        <p:spPr>
          <a:xfrm>
            <a:off x="6126480" y="2148840"/>
            <a:ext cx="2742840" cy="45684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1000" b="0" u="none" strike="noStrike">
                <a:solidFill>
                  <a:srgbClr val="607080"/>
                </a:solidFill>
                <a:effectLst/>
                <a:uFillTx/>
                <a:latin typeface="Calibri"/>
                <a:ea typeface="Calibri"/>
              </a:rPr>
              <a:t>5,864 Incidents</a:t>
            </a:r>
            <a:endParaRPr lang="en-GB" sz="1000" b="0" u="none" strike="noStrike">
              <a:solidFill>
                <a:srgbClr val="000000"/>
              </a:solidFill>
              <a:effectLst/>
              <a:uFillTx/>
              <a:latin typeface="Arial"/>
            </a:endParaRPr>
          </a:p>
        </p:txBody>
      </p:sp>
      <p:sp>
        <p:nvSpPr>
          <p:cNvPr id="56" name="Google Shape;72;p3"/>
          <p:cNvSpPr/>
          <p:nvPr/>
        </p:nvSpPr>
        <p:spPr>
          <a:xfrm>
            <a:off x="274320" y="2971800"/>
            <a:ext cx="2742840" cy="1691280"/>
          </a:xfrm>
          <a:prstGeom prst="rect">
            <a:avLst/>
          </a:prstGeom>
          <a:solidFill>
            <a:srgbClr val="FFFFFF"/>
          </a:solidFill>
          <a:ln w="0">
            <a:noFill/>
          </a:ln>
          <a:effectLst>
            <a:outerShdw algn="bl" blurRad="76320" dir="8100000" dist="37674" rotWithShape="0">
              <a:srgbClr val="000000">
                <a:alpha val="12000"/>
              </a:srgbClr>
            </a:outerShdw>
          </a:effectLst>
        </p:spPr>
        <p:style>
          <a:lnRef idx="0"/>
          <a:fillRef idx="0"/>
          <a:effectRef idx="0"/>
          <a:fontRef idx="minor"/>
        </p:style>
        <p:txBody>
          <a:bodyPr tIns="91440" bIns="91440" anchor="ctr">
            <a:noAutofit/>
          </a:bodyPr>
          <a:p>
            <a:endParaRPr lang="en-GB" sz="1400" b="0" u="none" strike="noStrike">
              <a:solidFill>
                <a:srgbClr val="000000"/>
              </a:solidFill>
              <a:effectLst/>
              <a:uFillTx/>
              <a:latin typeface="Arial"/>
            </a:endParaRPr>
          </a:p>
        </p:txBody>
      </p:sp>
      <p:sp>
        <p:nvSpPr>
          <p:cNvPr id="57" name="Google Shape;73;p3"/>
          <p:cNvSpPr/>
          <p:nvPr/>
        </p:nvSpPr>
        <p:spPr>
          <a:xfrm>
            <a:off x="274320" y="2971800"/>
            <a:ext cx="2742840" cy="72720"/>
          </a:xfrm>
          <a:prstGeom prst="rect">
            <a:avLst/>
          </a:prstGeom>
          <a:solidFill>
            <a:srgbClr val="E53935"/>
          </a:solidFill>
          <a:ln w="0">
            <a:noFill/>
          </a:ln>
        </p:spPr>
        <p:style>
          <a:lnRef idx="0"/>
          <a:fillRef idx="0"/>
          <a:effectRef idx="0"/>
          <a:fontRef idx="minor"/>
        </p:style>
        <p:txBody>
          <a:bodyPr tIns="36360" bIns="36360" anchor="ctr">
            <a:noAutofit/>
          </a:bodyPr>
          <a:p>
            <a:endParaRPr lang="en-GB" sz="1400" b="0" u="none" strike="noStrike">
              <a:solidFill>
                <a:srgbClr val="FFFFFF"/>
              </a:solidFill>
              <a:effectLst/>
              <a:uFillTx/>
              <a:latin typeface="Arial"/>
            </a:endParaRPr>
          </a:p>
        </p:txBody>
      </p:sp>
      <p:sp>
        <p:nvSpPr>
          <p:cNvPr id="58" name="Google Shape;74;p3"/>
          <p:cNvSpPr/>
          <p:nvPr/>
        </p:nvSpPr>
        <p:spPr>
          <a:xfrm>
            <a:off x="274320" y="3081600"/>
            <a:ext cx="2742840" cy="68544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3200" b="1" u="none" strike="noStrike">
                <a:solidFill>
                  <a:srgbClr val="E53935"/>
                </a:solidFill>
                <a:effectLst/>
                <a:uFillTx/>
                <a:latin typeface="Calibri"/>
                <a:ea typeface="Calibri"/>
              </a:rPr>
              <a:t>100%</a:t>
            </a:r>
            <a:endParaRPr lang="en-GB" sz="3200" b="0" u="none" strike="noStrike">
              <a:solidFill>
                <a:srgbClr val="000000"/>
              </a:solidFill>
              <a:effectLst/>
              <a:uFillTx/>
              <a:latin typeface="Arial"/>
            </a:endParaRPr>
          </a:p>
        </p:txBody>
      </p:sp>
      <p:sp>
        <p:nvSpPr>
          <p:cNvPr id="59" name="Google Shape;75;p3"/>
          <p:cNvSpPr/>
          <p:nvPr/>
        </p:nvSpPr>
        <p:spPr>
          <a:xfrm>
            <a:off x="274320" y="3721680"/>
            <a:ext cx="2742840" cy="31968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1300" b="1" u="none" strike="noStrike">
                <a:solidFill>
                  <a:srgbClr val="1A202C"/>
                </a:solidFill>
                <a:effectLst/>
                <a:uFillTx/>
                <a:latin typeface="Calibri"/>
                <a:ea typeface="Calibri"/>
              </a:rPr>
              <a:t>Performance</a:t>
            </a:r>
            <a:endParaRPr lang="en-GB" sz="1300" b="0" u="none" strike="noStrike">
              <a:solidFill>
                <a:srgbClr val="000000"/>
              </a:solidFill>
              <a:effectLst/>
              <a:uFillTx/>
              <a:latin typeface="Arial"/>
            </a:endParaRPr>
          </a:p>
        </p:txBody>
      </p:sp>
      <p:sp>
        <p:nvSpPr>
          <p:cNvPr id="60" name="Google Shape;76;p3"/>
          <p:cNvSpPr/>
          <p:nvPr/>
        </p:nvSpPr>
        <p:spPr>
          <a:xfrm>
            <a:off x="274320" y="4023360"/>
            <a:ext cx="2742840" cy="45684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1000" b="0" u="none" strike="noStrike">
                <a:solidFill>
                  <a:srgbClr val="607080"/>
                </a:solidFill>
                <a:effectLst/>
                <a:uFillTx/>
                <a:latin typeface="Calibri"/>
                <a:ea typeface="Calibri"/>
              </a:rPr>
              <a:t>Top 10 Stations meeting 360s target</a:t>
            </a:r>
            <a:endParaRPr lang="en-GB" sz="1000" b="0" u="none" strike="noStrike">
              <a:solidFill>
                <a:srgbClr val="000000"/>
              </a:solidFill>
              <a:effectLst/>
              <a:uFillTx/>
              <a:latin typeface="Arial"/>
            </a:endParaRPr>
          </a:p>
        </p:txBody>
      </p:sp>
      <p:sp>
        <p:nvSpPr>
          <p:cNvPr id="61" name="Google Shape;77;p3"/>
          <p:cNvSpPr/>
          <p:nvPr/>
        </p:nvSpPr>
        <p:spPr>
          <a:xfrm>
            <a:off x="3200400" y="2971800"/>
            <a:ext cx="2742840" cy="1691280"/>
          </a:xfrm>
          <a:prstGeom prst="rect">
            <a:avLst/>
          </a:prstGeom>
          <a:solidFill>
            <a:srgbClr val="FFFFFF"/>
          </a:solidFill>
          <a:ln w="0">
            <a:noFill/>
          </a:ln>
          <a:effectLst>
            <a:outerShdw algn="bl" blurRad="76320" dir="8100000" dist="37674" rotWithShape="0">
              <a:srgbClr val="000000">
                <a:alpha val="12000"/>
              </a:srgbClr>
            </a:outerShdw>
          </a:effectLst>
        </p:spPr>
        <p:style>
          <a:lnRef idx="0"/>
          <a:fillRef idx="0"/>
          <a:effectRef idx="0"/>
          <a:fontRef idx="minor"/>
        </p:style>
        <p:txBody>
          <a:bodyPr tIns="91440" bIns="91440" anchor="ctr">
            <a:noAutofit/>
          </a:bodyPr>
          <a:p>
            <a:endParaRPr lang="en-GB" sz="1400" b="0" u="none" strike="noStrike">
              <a:solidFill>
                <a:srgbClr val="000000"/>
              </a:solidFill>
              <a:effectLst/>
              <a:uFillTx/>
              <a:latin typeface="Arial"/>
            </a:endParaRPr>
          </a:p>
        </p:txBody>
      </p:sp>
      <p:sp>
        <p:nvSpPr>
          <p:cNvPr id="62" name="Google Shape;78;p3"/>
          <p:cNvSpPr/>
          <p:nvPr/>
        </p:nvSpPr>
        <p:spPr>
          <a:xfrm>
            <a:off x="3200400" y="2971800"/>
            <a:ext cx="2742840" cy="72720"/>
          </a:xfrm>
          <a:prstGeom prst="rect">
            <a:avLst/>
          </a:prstGeom>
          <a:solidFill>
            <a:srgbClr val="7B1FA2"/>
          </a:solidFill>
          <a:ln w="0">
            <a:noFill/>
          </a:ln>
        </p:spPr>
        <p:style>
          <a:lnRef idx="0"/>
          <a:fillRef idx="0"/>
          <a:effectRef idx="0"/>
          <a:fontRef idx="minor"/>
        </p:style>
        <p:txBody>
          <a:bodyPr tIns="36360" bIns="36360" anchor="ctr">
            <a:noAutofit/>
          </a:bodyPr>
          <a:p>
            <a:endParaRPr lang="en-GB" sz="1400" b="0" u="none" strike="noStrike">
              <a:solidFill>
                <a:srgbClr val="FFFFFF"/>
              </a:solidFill>
              <a:effectLst/>
              <a:uFillTx/>
              <a:latin typeface="Arial"/>
            </a:endParaRPr>
          </a:p>
        </p:txBody>
      </p:sp>
      <p:sp>
        <p:nvSpPr>
          <p:cNvPr id="63" name="Google Shape;79;p3"/>
          <p:cNvSpPr/>
          <p:nvPr/>
        </p:nvSpPr>
        <p:spPr>
          <a:xfrm>
            <a:off x="3200400" y="3081600"/>
            <a:ext cx="2742840" cy="68544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3200" b="1" u="none" strike="noStrike">
                <a:solidFill>
                  <a:srgbClr val="7B1FA2"/>
                </a:solidFill>
                <a:effectLst/>
                <a:uFillTx/>
                <a:latin typeface="Calibri"/>
                <a:ea typeface="Calibri"/>
              </a:rPr>
              <a:t>16:00 - 20:00</a:t>
            </a:r>
            <a:endParaRPr lang="en-GB" sz="3200" b="0" u="none" strike="noStrike">
              <a:solidFill>
                <a:srgbClr val="000000"/>
              </a:solidFill>
              <a:effectLst/>
              <a:uFillTx/>
              <a:latin typeface="Arial"/>
            </a:endParaRPr>
          </a:p>
        </p:txBody>
      </p:sp>
      <p:sp>
        <p:nvSpPr>
          <p:cNvPr id="64" name="Google Shape;80;p3"/>
          <p:cNvSpPr/>
          <p:nvPr/>
        </p:nvSpPr>
        <p:spPr>
          <a:xfrm>
            <a:off x="3200400" y="3721680"/>
            <a:ext cx="2742840" cy="31968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1300" b="1" u="none" strike="noStrike">
                <a:solidFill>
                  <a:srgbClr val="1A202C"/>
                </a:solidFill>
                <a:effectLst/>
                <a:uFillTx/>
                <a:latin typeface="Calibri"/>
                <a:ea typeface="Calibri"/>
              </a:rPr>
              <a:t>Peak Operational Window</a:t>
            </a:r>
            <a:endParaRPr lang="en-GB" sz="1300" b="0" u="none" strike="noStrike">
              <a:solidFill>
                <a:srgbClr val="000000"/>
              </a:solidFill>
              <a:effectLst/>
              <a:uFillTx/>
              <a:latin typeface="Arial"/>
            </a:endParaRPr>
          </a:p>
        </p:txBody>
      </p:sp>
      <p:sp>
        <p:nvSpPr>
          <p:cNvPr id="65" name="Google Shape;81;p3"/>
          <p:cNvSpPr/>
          <p:nvPr/>
        </p:nvSpPr>
        <p:spPr>
          <a:xfrm>
            <a:off x="3200400" y="4023360"/>
            <a:ext cx="2742840" cy="45684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1000" b="0" u="none" strike="noStrike">
                <a:solidFill>
                  <a:srgbClr val="607080"/>
                </a:solidFill>
                <a:effectLst/>
                <a:uFillTx/>
                <a:latin typeface="Calibri"/>
                <a:ea typeface="Calibri"/>
              </a:rPr>
              <a:t>The timeframe where incident volume peaks daily</a:t>
            </a:r>
            <a:endParaRPr lang="en-GB" sz="1000" b="0" u="none" strike="noStrike">
              <a:solidFill>
                <a:srgbClr val="000000"/>
              </a:solidFill>
              <a:effectLst/>
              <a:uFillTx/>
              <a:latin typeface="Arial"/>
            </a:endParaRPr>
          </a:p>
        </p:txBody>
      </p:sp>
      <p:sp>
        <p:nvSpPr>
          <p:cNvPr id="66" name="Google Shape;82;p3"/>
          <p:cNvSpPr/>
          <p:nvPr/>
        </p:nvSpPr>
        <p:spPr>
          <a:xfrm>
            <a:off x="6126480" y="2971800"/>
            <a:ext cx="2742840" cy="1691280"/>
          </a:xfrm>
          <a:prstGeom prst="rect">
            <a:avLst/>
          </a:prstGeom>
          <a:solidFill>
            <a:srgbClr val="FFFFFF"/>
          </a:solidFill>
          <a:ln w="0">
            <a:noFill/>
          </a:ln>
          <a:effectLst>
            <a:outerShdw algn="bl" blurRad="76320" dir="8100000" dist="37674" rotWithShape="0">
              <a:srgbClr val="000000">
                <a:alpha val="12000"/>
              </a:srgbClr>
            </a:outerShdw>
          </a:effectLst>
        </p:spPr>
        <p:style>
          <a:lnRef idx="0"/>
          <a:fillRef idx="0"/>
          <a:effectRef idx="0"/>
          <a:fontRef idx="minor"/>
        </p:style>
        <p:txBody>
          <a:bodyPr tIns="91440" bIns="91440" anchor="ctr">
            <a:noAutofit/>
          </a:bodyPr>
          <a:p>
            <a:endParaRPr lang="en-GB" sz="1400" b="0" u="none" strike="noStrike">
              <a:solidFill>
                <a:srgbClr val="000000"/>
              </a:solidFill>
              <a:effectLst/>
              <a:uFillTx/>
              <a:latin typeface="Arial"/>
            </a:endParaRPr>
          </a:p>
        </p:txBody>
      </p:sp>
      <p:sp>
        <p:nvSpPr>
          <p:cNvPr id="67" name="Google Shape;83;p3"/>
          <p:cNvSpPr/>
          <p:nvPr/>
        </p:nvSpPr>
        <p:spPr>
          <a:xfrm>
            <a:off x="6126480" y="2971800"/>
            <a:ext cx="2742840" cy="72720"/>
          </a:xfrm>
          <a:prstGeom prst="rect">
            <a:avLst/>
          </a:prstGeom>
          <a:solidFill>
            <a:srgbClr val="2E7D32"/>
          </a:solidFill>
          <a:ln w="0">
            <a:noFill/>
          </a:ln>
        </p:spPr>
        <p:style>
          <a:lnRef idx="0"/>
          <a:fillRef idx="0"/>
          <a:effectRef idx="0"/>
          <a:fontRef idx="minor"/>
        </p:style>
        <p:txBody>
          <a:bodyPr tIns="36360" bIns="36360" anchor="ctr">
            <a:noAutofit/>
          </a:bodyPr>
          <a:p>
            <a:endParaRPr lang="en-GB" sz="1400" b="0" u="none" strike="noStrike">
              <a:solidFill>
                <a:srgbClr val="FFFFFF"/>
              </a:solidFill>
              <a:effectLst/>
              <a:uFillTx/>
              <a:latin typeface="Arial"/>
            </a:endParaRPr>
          </a:p>
        </p:txBody>
      </p:sp>
      <p:sp>
        <p:nvSpPr>
          <p:cNvPr id="68" name="Google Shape;84;p3"/>
          <p:cNvSpPr/>
          <p:nvPr/>
        </p:nvSpPr>
        <p:spPr>
          <a:xfrm>
            <a:off x="6126480" y="3081600"/>
            <a:ext cx="2742840" cy="68544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3000" b="1" u="none" strike="noStrike">
                <a:solidFill>
                  <a:srgbClr val="2E7D32"/>
                </a:solidFill>
                <a:effectLst/>
                <a:uFillTx/>
                <a:latin typeface="Calibri"/>
                <a:ea typeface="Calibri"/>
              </a:rPr>
              <a:t>Outdoor Structure</a:t>
            </a:r>
            <a:endParaRPr lang="en-GB" sz="3000" b="0" u="none" strike="noStrike">
              <a:solidFill>
                <a:srgbClr val="000000"/>
              </a:solidFill>
              <a:effectLst/>
              <a:uFillTx/>
              <a:latin typeface="Arial"/>
            </a:endParaRPr>
          </a:p>
        </p:txBody>
      </p:sp>
      <p:sp>
        <p:nvSpPr>
          <p:cNvPr id="69" name="Google Shape;85;p3"/>
          <p:cNvSpPr/>
          <p:nvPr/>
        </p:nvSpPr>
        <p:spPr>
          <a:xfrm>
            <a:off x="6126480" y="3721680"/>
            <a:ext cx="2742840" cy="31968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1300" b="1" u="none" strike="noStrike">
                <a:solidFill>
                  <a:srgbClr val="1A202C"/>
                </a:solidFill>
                <a:effectLst/>
                <a:uFillTx/>
                <a:latin typeface="Calibri"/>
                <a:ea typeface="Calibri"/>
              </a:rPr>
              <a:t>Highest Volume</a:t>
            </a:r>
            <a:endParaRPr lang="en-GB" sz="1300" b="0" u="none" strike="noStrike">
              <a:solidFill>
                <a:srgbClr val="000000"/>
              </a:solidFill>
              <a:effectLst/>
              <a:uFillTx/>
              <a:latin typeface="Arial"/>
            </a:endParaRPr>
          </a:p>
        </p:txBody>
      </p:sp>
      <p:sp>
        <p:nvSpPr>
          <p:cNvPr id="70" name="Google Shape;86;p3"/>
          <p:cNvSpPr/>
          <p:nvPr/>
        </p:nvSpPr>
        <p:spPr>
          <a:xfrm>
            <a:off x="6126480" y="4023360"/>
            <a:ext cx="2742840" cy="45684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1000" b="0" u="none" strike="noStrike">
                <a:solidFill>
                  <a:srgbClr val="607080"/>
                </a:solidFill>
                <a:effectLst/>
                <a:uFillTx/>
                <a:latin typeface="Calibri"/>
                <a:ea typeface="Calibri"/>
              </a:rPr>
              <a:t>7,419 Incidents</a:t>
            </a:r>
            <a:endParaRPr lang="en-GB" sz="1000" b="0" u="none" strike="noStrike">
              <a:solidFill>
                <a:srgbClr val="000000"/>
              </a:solidFill>
              <a:effectLst/>
              <a:uFillTx/>
              <a:latin typeface="Arial"/>
            </a:endParaRPr>
          </a:p>
          <a:p>
            <a:pPr>
              <a:lnSpc>
                <a:spcPct val="100000"/>
              </a:lnSpc>
              <a:tabLst>
                <a:tab pos="0" algn="l"/>
              </a:tabLst>
            </a:pPr>
            <a:endParaRPr lang="en-GB"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A"/>
        </a:solidFill>
      </p:bgPr>
    </p:bg>
    <p:spTree>
      <p:nvGrpSpPr>
        <p:cNvPr id="1" name=""/>
        <p:cNvGrpSpPr/>
        <p:nvPr/>
      </p:nvGrpSpPr>
      <p:grpSpPr>
        <a:xfrm>
          <a:off x="0" y="0"/>
          <a:ext cx="0" cy="0"/>
          <a:chOff x="0" y="0"/>
          <a:chExt cx="0" cy="0"/>
        </a:xfrm>
      </p:grpSpPr>
      <p:sp>
        <p:nvSpPr>
          <p:cNvPr id="71" name="Google Shape;92;p4"/>
          <p:cNvSpPr/>
          <p:nvPr/>
        </p:nvSpPr>
        <p:spPr>
          <a:xfrm>
            <a:off x="0" y="0"/>
            <a:ext cx="9143640" cy="959760"/>
          </a:xfrm>
          <a:prstGeom prst="rect">
            <a:avLst/>
          </a:prstGeom>
          <a:solidFill>
            <a:srgbClr val="0D1B2A"/>
          </a:solidFill>
          <a:ln w="0">
            <a:noFill/>
          </a:ln>
        </p:spPr>
        <p:style>
          <a:lnRef idx="0"/>
          <a:fillRef idx="0"/>
          <a:effectRef idx="0"/>
          <a:fontRef idx="minor"/>
        </p:style>
        <p:txBody>
          <a:bodyPr tIns="91440" bIns="91440" anchor="ctr">
            <a:noAutofit/>
          </a:bodyPr>
          <a:p>
            <a:endParaRPr lang="en-GB" sz="1400" b="0" u="none" strike="noStrike">
              <a:solidFill>
                <a:srgbClr val="FFFFFF"/>
              </a:solidFill>
              <a:effectLst/>
              <a:uFillTx/>
              <a:latin typeface="Arial"/>
            </a:endParaRPr>
          </a:p>
        </p:txBody>
      </p:sp>
      <p:sp>
        <p:nvSpPr>
          <p:cNvPr id="72" name="Google Shape;93;p4"/>
          <p:cNvSpPr/>
          <p:nvPr/>
        </p:nvSpPr>
        <p:spPr>
          <a:xfrm>
            <a:off x="0" y="0"/>
            <a:ext cx="136800" cy="5143320"/>
          </a:xfrm>
          <a:prstGeom prst="rect">
            <a:avLst/>
          </a:prstGeom>
          <a:solidFill>
            <a:srgbClr val="1565C0"/>
          </a:solidFill>
          <a:ln w="0">
            <a:noFill/>
          </a:ln>
        </p:spPr>
        <p:style>
          <a:lnRef idx="0"/>
          <a:fillRef idx="0"/>
          <a:effectRef idx="0"/>
          <a:fontRef idx="minor"/>
        </p:style>
        <p:txBody>
          <a:bodyPr tIns="91440" bIns="91440" anchor="ctr">
            <a:noAutofit/>
          </a:bodyPr>
          <a:p>
            <a:endParaRPr lang="en-GB" sz="1400" b="0" u="none" strike="noStrike">
              <a:solidFill>
                <a:srgbClr val="FFFFFF"/>
              </a:solidFill>
              <a:effectLst/>
              <a:uFillTx/>
              <a:latin typeface="Arial"/>
            </a:endParaRPr>
          </a:p>
        </p:txBody>
      </p:sp>
      <p:sp>
        <p:nvSpPr>
          <p:cNvPr id="73" name="Google Shape;94;p4"/>
          <p:cNvSpPr/>
          <p:nvPr/>
        </p:nvSpPr>
        <p:spPr>
          <a:xfrm>
            <a:off x="320040" y="-183960"/>
            <a:ext cx="7314840" cy="9140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3000" b="1" u="none" strike="noStrike">
                <a:solidFill>
                  <a:srgbClr val="FFFFFF"/>
                </a:solidFill>
                <a:effectLst/>
                <a:uFillTx/>
                <a:latin typeface="Calibri"/>
                <a:ea typeface="Calibri"/>
              </a:rPr>
              <a:t>Property Category Analysis</a:t>
            </a:r>
            <a:endParaRPr lang="en-GB" sz="3000" b="0" u="none" strike="noStrike">
              <a:solidFill>
                <a:srgbClr val="000000"/>
              </a:solidFill>
              <a:effectLst/>
              <a:uFillTx/>
              <a:latin typeface="Arial"/>
            </a:endParaRPr>
          </a:p>
        </p:txBody>
      </p:sp>
      <p:sp>
        <p:nvSpPr>
          <p:cNvPr id="74" name="Google Shape;95;p4"/>
          <p:cNvSpPr/>
          <p:nvPr/>
        </p:nvSpPr>
        <p:spPr>
          <a:xfrm>
            <a:off x="274320" y="4709160"/>
            <a:ext cx="8595000" cy="319680"/>
          </a:xfrm>
          <a:prstGeom prst="rect">
            <a:avLst/>
          </a:prstGeom>
          <a:solidFill>
            <a:srgbClr val="EBF5FF"/>
          </a:solidFill>
          <a:ln w="0">
            <a:noFill/>
          </a:ln>
        </p:spPr>
        <p:style>
          <a:lnRef idx="0"/>
          <a:fillRef idx="0"/>
          <a:effectRef idx="0"/>
          <a:fontRef idx="minor"/>
        </p:style>
        <p:txBody>
          <a:bodyPr tIns="91440" bIns="91440" anchor="ctr">
            <a:noAutofit/>
          </a:bodyPr>
          <a:p>
            <a:endParaRPr lang="en-GB" sz="1400" b="0" u="none" strike="noStrike">
              <a:solidFill>
                <a:srgbClr val="000000"/>
              </a:solidFill>
              <a:effectLst/>
              <a:uFillTx/>
              <a:latin typeface="Arial"/>
            </a:endParaRPr>
          </a:p>
        </p:txBody>
      </p:sp>
      <p:sp>
        <p:nvSpPr>
          <p:cNvPr id="75" name="Google Shape;96;p4"/>
          <p:cNvSpPr/>
          <p:nvPr/>
        </p:nvSpPr>
        <p:spPr>
          <a:xfrm>
            <a:off x="5287320" y="1144080"/>
            <a:ext cx="3791520" cy="27144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1300" b="1" u="none" strike="noStrike">
                <a:solidFill>
                  <a:srgbClr val="1A202C"/>
                </a:solidFill>
                <a:effectLst/>
                <a:uFillTx/>
                <a:latin typeface="Calibri"/>
                <a:ea typeface="Calibri"/>
              </a:rPr>
              <a:t>Key Insights</a:t>
            </a:r>
            <a:endParaRPr lang="en-GB" sz="1300" b="0" u="none" strike="noStrike">
              <a:solidFill>
                <a:srgbClr val="000000"/>
              </a:solidFill>
              <a:effectLst/>
              <a:uFillTx/>
              <a:latin typeface="Arial"/>
            </a:endParaRPr>
          </a:p>
          <a:p>
            <a:pPr marL="457200" indent="-317520">
              <a:lnSpc>
                <a:spcPct val="100000"/>
              </a:lnSpc>
              <a:buClr>
                <a:srgbClr val="1A202C"/>
              </a:buClr>
              <a:buFont typeface="Calibri"/>
              <a:buChar char="●"/>
              <a:tabLst>
                <a:tab pos="0" algn="l"/>
              </a:tabLst>
            </a:pPr>
            <a:r>
              <a:rPr lang="en-US" sz="1100" b="1" u="none" strike="noStrike">
                <a:solidFill>
                  <a:srgbClr val="1A202C"/>
                </a:solidFill>
                <a:effectLst/>
                <a:uFillTx/>
                <a:latin typeface="Calibri"/>
                <a:ea typeface="Calibri"/>
              </a:rPr>
              <a:t>Volume vs. Complexity: </a:t>
            </a:r>
            <a:r>
              <a:rPr lang="en-US" sz="1100" b="0" u="none" strike="noStrike">
                <a:solidFill>
                  <a:srgbClr val="1A202C"/>
                </a:solidFill>
                <a:effectLst/>
                <a:uFillTx/>
                <a:latin typeface="Calibri"/>
                <a:ea typeface="Calibri"/>
              </a:rPr>
              <a:t>Outdoor Structures (primarily refuse) are the largest volume driver. These are often low-complexity incidents that offer the greatest opportunity for "Lean" efficiency gains and community prevention projects.</a:t>
            </a:r>
            <a:endParaRPr lang="en-GB" sz="1100" b="0" u="none" strike="noStrike">
              <a:solidFill>
                <a:srgbClr val="000000"/>
              </a:solidFill>
              <a:effectLst/>
              <a:uFillTx/>
              <a:latin typeface="Arial"/>
            </a:endParaRPr>
          </a:p>
          <a:p>
            <a:pPr marL="457200" indent="-317520">
              <a:lnSpc>
                <a:spcPct val="100000"/>
              </a:lnSpc>
              <a:buClr>
                <a:srgbClr val="1A202C"/>
              </a:buClr>
              <a:buFont typeface="Calibri"/>
              <a:buChar char="●"/>
              <a:tabLst>
                <a:tab pos="0" algn="l"/>
              </a:tabLst>
            </a:pPr>
            <a:r>
              <a:rPr lang="en-US" sz="1100" b="1" u="none" strike="noStrike">
                <a:solidFill>
                  <a:srgbClr val="1A202C"/>
                </a:solidFill>
                <a:effectLst/>
                <a:uFillTx/>
                <a:latin typeface="Calibri"/>
                <a:ea typeface="Calibri"/>
              </a:rPr>
              <a:t>Life-Safety Priority: </a:t>
            </a:r>
            <a:r>
              <a:rPr lang="en-US" sz="1100" b="0" u="none" strike="noStrike">
                <a:solidFill>
                  <a:srgbClr val="1A202C"/>
                </a:solidFill>
                <a:effectLst/>
                <a:uFillTx/>
                <a:latin typeface="Calibri"/>
                <a:ea typeface="Calibri"/>
              </a:rPr>
              <a:t>Dwellings remain the critical risk. Despite lower volume than outdoor fires, they demand more resource-intensive responses. This visual confirms that Westminster stations must maintain high readiness for residential risk.</a:t>
            </a:r>
            <a:endParaRPr lang="en-GB" sz="1100" b="0" u="none" strike="noStrike">
              <a:solidFill>
                <a:srgbClr val="000000"/>
              </a:solidFill>
              <a:effectLst/>
              <a:uFillTx/>
              <a:latin typeface="Arial"/>
            </a:endParaRPr>
          </a:p>
          <a:p>
            <a:pPr marL="457200" indent="-317520">
              <a:lnSpc>
                <a:spcPct val="100000"/>
              </a:lnSpc>
              <a:buClr>
                <a:srgbClr val="1A202C"/>
              </a:buClr>
              <a:buFont typeface="Calibri"/>
              <a:buChar char="●"/>
              <a:tabLst>
                <a:tab pos="0" algn="l"/>
              </a:tabLst>
            </a:pPr>
            <a:r>
              <a:rPr lang="en-US" sz="1100" b="1" u="none" strike="noStrike">
                <a:solidFill>
                  <a:srgbClr val="1A202C"/>
                </a:solidFill>
                <a:effectLst/>
                <a:uFillTx/>
                <a:latin typeface="Calibri"/>
                <a:ea typeface="Calibri"/>
              </a:rPr>
              <a:t>Commercial Concentration: </a:t>
            </a:r>
            <a:r>
              <a:rPr lang="en-US" sz="1100" b="0" u="none" strike="noStrike">
                <a:solidFill>
                  <a:srgbClr val="1A202C"/>
                </a:solidFill>
                <a:effectLst/>
                <a:uFillTx/>
                <a:latin typeface="Calibri"/>
                <a:ea typeface="Calibri"/>
              </a:rPr>
              <a:t>The Non-Residential segment is a secondary but significant driver. In later slides, we will see how this specific "DNA" is concentrated in Soho, necessitating different equipment and specialist knowledge compared to suburban stations.</a:t>
            </a:r>
            <a:endParaRPr lang="en-GB" sz="1100" b="0" u="none" strike="noStrike">
              <a:solidFill>
                <a:srgbClr val="000000"/>
              </a:solidFill>
              <a:effectLst/>
              <a:uFillTx/>
              <a:latin typeface="Arial"/>
            </a:endParaRPr>
          </a:p>
        </p:txBody>
      </p:sp>
      <p:sp>
        <p:nvSpPr>
          <p:cNvPr id="76" name="Google Shape;97;p4"/>
          <p:cNvSpPr/>
          <p:nvPr/>
        </p:nvSpPr>
        <p:spPr>
          <a:xfrm>
            <a:off x="320040" y="502920"/>
            <a:ext cx="8229240" cy="4568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300" b="0" u="none" strike="noStrike">
                <a:solidFill>
                  <a:srgbClr val="9BB8D0"/>
                </a:solidFill>
                <a:effectLst/>
                <a:uFillTx/>
                <a:latin typeface="Calibri"/>
                <a:ea typeface="Calibri"/>
              </a:rPr>
              <a:t>While Outdoor incidents drive the highest volume of activity, Dwelling incidents represent the primary life-safety risk, requiring distinct operational strategies</a:t>
            </a:r>
            <a:endParaRPr lang="en-GB" sz="1300" b="0" u="none" strike="noStrike">
              <a:solidFill>
                <a:srgbClr val="000000"/>
              </a:solidFill>
              <a:effectLst/>
              <a:uFillTx/>
              <a:latin typeface="Arial"/>
            </a:endParaRPr>
          </a:p>
        </p:txBody>
      </p:sp>
      <p:pic>
        <p:nvPicPr>
          <p:cNvPr id="77" name="Google Shape;98;p4"/>
          <p:cNvPicPr/>
          <p:nvPr/>
        </p:nvPicPr>
        <p:blipFill>
          <a:blip r:embed="rId1"/>
          <a:stretch/>
        </p:blipFill>
        <p:spPr>
          <a:xfrm>
            <a:off x="137160" y="1003320"/>
            <a:ext cx="5151240" cy="3184920"/>
          </a:xfrm>
          <a:prstGeom prst="rect">
            <a:avLst/>
          </a:prstGeom>
          <a:noFill/>
          <a:ln w="0">
            <a:noFill/>
          </a:ln>
        </p:spPr>
      </p:pic>
      <p:sp>
        <p:nvSpPr>
          <p:cNvPr id="78" name="Google Shape;99;p4"/>
          <p:cNvSpPr/>
          <p:nvPr/>
        </p:nvSpPr>
        <p:spPr>
          <a:xfrm>
            <a:off x="320040" y="4617720"/>
            <a:ext cx="8503560" cy="411120"/>
          </a:xfrm>
          <a:prstGeom prst="rect">
            <a:avLst/>
          </a:prstGeom>
          <a:noFill/>
          <a:ln w="0">
            <a:noFill/>
          </a:ln>
        </p:spPr>
        <p:style>
          <a:lnRef idx="0"/>
          <a:fillRef idx="0"/>
          <a:effectRef idx="0"/>
          <a:fontRef idx="minor"/>
        </p:style>
        <p:txBody>
          <a:bodyPr anchor="ctr">
            <a:noAutofit/>
          </a:bodyPr>
          <a:p>
            <a:pPr>
              <a:lnSpc>
                <a:spcPct val="100000"/>
              </a:lnSpc>
              <a:tabLst>
                <a:tab pos="0" algn="l"/>
              </a:tabLst>
            </a:pPr>
            <a:r>
              <a:rPr lang="en-US" sz="1050" b="0" u="none" strike="noStrike">
                <a:solidFill>
                  <a:srgbClr val="1A202C"/>
                </a:solidFill>
                <a:effectLst/>
                <a:uFillTx/>
                <a:latin typeface="Calibri"/>
                <a:ea typeface="Calibri"/>
              </a:rPr>
              <a:t>💡 Metric: Top 3 categories account for approx. 85% of total volume.</a:t>
            </a:r>
            <a:br>
              <a:rPr sz="1050"/>
            </a:br>
            <a:r>
              <a:rPr lang="en-US" sz="1050" b="0" u="none" strike="noStrike">
                <a:solidFill>
                  <a:srgbClr val="1A202C"/>
                </a:solidFill>
                <a:effectLst/>
                <a:uFillTx/>
                <a:latin typeface="Calibri"/>
                <a:ea typeface="Calibri"/>
              </a:rPr>
              <a:t>💡 Process: Categories grouped by "Property Type" to identify strategic prevention areas.</a:t>
            </a:r>
            <a:endParaRPr lang="en-GB"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A"/>
        </a:solidFill>
      </p:bgPr>
    </p:bg>
    <p:spTree>
      <p:nvGrpSpPr>
        <p:cNvPr id="1" name=""/>
        <p:cNvGrpSpPr/>
        <p:nvPr/>
      </p:nvGrpSpPr>
      <p:grpSpPr>
        <a:xfrm>
          <a:off x="0" y="0"/>
          <a:ext cx="0" cy="0"/>
          <a:chOff x="0" y="0"/>
          <a:chExt cx="0" cy="0"/>
        </a:xfrm>
      </p:grpSpPr>
      <p:sp>
        <p:nvSpPr>
          <p:cNvPr id="79" name="Google Shape;105;p6"/>
          <p:cNvSpPr/>
          <p:nvPr/>
        </p:nvSpPr>
        <p:spPr>
          <a:xfrm>
            <a:off x="0" y="0"/>
            <a:ext cx="9143640" cy="959760"/>
          </a:xfrm>
          <a:prstGeom prst="rect">
            <a:avLst/>
          </a:prstGeom>
          <a:solidFill>
            <a:srgbClr val="0D1B2A"/>
          </a:solidFill>
          <a:ln w="0">
            <a:noFill/>
          </a:ln>
        </p:spPr>
        <p:style>
          <a:lnRef idx="0"/>
          <a:fillRef idx="0"/>
          <a:effectRef idx="0"/>
          <a:fontRef idx="minor"/>
        </p:style>
        <p:txBody>
          <a:bodyPr tIns="91440" bIns="91440" anchor="ctr">
            <a:noAutofit/>
          </a:bodyPr>
          <a:p>
            <a:endParaRPr lang="en-GB" sz="1400" b="0" u="none" strike="noStrike">
              <a:solidFill>
                <a:srgbClr val="FFFFFF"/>
              </a:solidFill>
              <a:effectLst/>
              <a:uFillTx/>
              <a:latin typeface="Arial"/>
            </a:endParaRPr>
          </a:p>
        </p:txBody>
      </p:sp>
      <p:sp>
        <p:nvSpPr>
          <p:cNvPr id="80" name="Google Shape;106;p6"/>
          <p:cNvSpPr/>
          <p:nvPr/>
        </p:nvSpPr>
        <p:spPr>
          <a:xfrm>
            <a:off x="0" y="0"/>
            <a:ext cx="136800" cy="5143320"/>
          </a:xfrm>
          <a:prstGeom prst="rect">
            <a:avLst/>
          </a:prstGeom>
          <a:solidFill>
            <a:srgbClr val="7B1FA2"/>
          </a:solidFill>
          <a:ln w="0">
            <a:noFill/>
          </a:ln>
        </p:spPr>
        <p:style>
          <a:lnRef idx="0"/>
          <a:fillRef idx="0"/>
          <a:effectRef idx="0"/>
          <a:fontRef idx="minor"/>
        </p:style>
        <p:txBody>
          <a:bodyPr tIns="91440" bIns="91440" anchor="ctr">
            <a:noAutofit/>
          </a:bodyPr>
          <a:p>
            <a:endParaRPr lang="en-GB" sz="1400" b="0" u="none" strike="noStrike">
              <a:solidFill>
                <a:srgbClr val="FFFFFF"/>
              </a:solidFill>
              <a:effectLst/>
              <a:uFillTx/>
              <a:latin typeface="Arial"/>
            </a:endParaRPr>
          </a:p>
        </p:txBody>
      </p:sp>
      <p:sp>
        <p:nvSpPr>
          <p:cNvPr id="81" name="Google Shape;107;p6"/>
          <p:cNvSpPr/>
          <p:nvPr/>
        </p:nvSpPr>
        <p:spPr>
          <a:xfrm>
            <a:off x="5490720" y="1159200"/>
            <a:ext cx="3552120" cy="202680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1300" b="1" u="none" strike="noStrike">
                <a:solidFill>
                  <a:srgbClr val="1A202C"/>
                </a:solidFill>
                <a:effectLst/>
                <a:uFillTx/>
                <a:latin typeface="Calibri"/>
                <a:ea typeface="Calibri"/>
              </a:rPr>
              <a:t>Key Insights</a:t>
            </a:r>
            <a:endParaRPr lang="en-GB" sz="1300" b="0" u="none" strike="noStrike">
              <a:solidFill>
                <a:srgbClr val="000000"/>
              </a:solidFill>
              <a:effectLst/>
              <a:uFillTx/>
              <a:latin typeface="Arial"/>
            </a:endParaRPr>
          </a:p>
          <a:p>
            <a:pPr marL="457200" indent="-298440">
              <a:lnSpc>
                <a:spcPct val="100000"/>
              </a:lnSpc>
              <a:buClr>
                <a:srgbClr val="1A202C"/>
              </a:buClr>
              <a:buFont typeface="Calibri"/>
              <a:buChar char="●"/>
              <a:tabLst>
                <a:tab pos="0" algn="l"/>
              </a:tabLst>
            </a:pPr>
            <a:r>
              <a:rPr lang="en-US" sz="1100" b="1" u="none" strike="noStrike">
                <a:solidFill>
                  <a:srgbClr val="1A202C"/>
                </a:solidFill>
                <a:effectLst/>
                <a:uFillTx/>
                <a:latin typeface="Calibri"/>
                <a:ea typeface="Calibri"/>
              </a:rPr>
              <a:t>Volume Opportunity (Outdoor Structures):</a:t>
            </a:r>
            <a:endParaRPr lang="en-GB" sz="1100" b="0" u="none" strike="noStrike">
              <a:solidFill>
                <a:srgbClr val="000000"/>
              </a:solidFill>
              <a:effectLst/>
              <a:uFillTx/>
              <a:latin typeface="Arial"/>
            </a:endParaRPr>
          </a:p>
          <a:p>
            <a:pPr marL="457200">
              <a:lnSpc>
                <a:spcPct val="100000"/>
              </a:lnSpc>
              <a:tabLst>
                <a:tab pos="0" algn="l"/>
              </a:tabLst>
            </a:pPr>
            <a:r>
              <a:rPr lang="en-US" sz="1100" b="0" u="none" strike="noStrike">
                <a:solidFill>
                  <a:srgbClr val="1A202C"/>
                </a:solidFill>
                <a:effectLst/>
                <a:uFillTx/>
                <a:latin typeface="Calibri"/>
                <a:ea typeface="Calibri"/>
              </a:rPr>
              <a:t>Outdoor Structures (predominantly refuse) represent the largest single block of activity. As an Improvement Technician, this highlights a significant opportunity for "nuisance fire" reduction projects to reclaim appliance availability.</a:t>
            </a:r>
            <a:endParaRPr lang="en-GB" sz="1100" b="0" u="none" strike="noStrike">
              <a:solidFill>
                <a:srgbClr val="000000"/>
              </a:solidFill>
              <a:effectLst/>
              <a:uFillTx/>
              <a:latin typeface="Arial"/>
            </a:endParaRPr>
          </a:p>
          <a:p>
            <a:pPr marL="457200" indent="-298440">
              <a:lnSpc>
                <a:spcPct val="100000"/>
              </a:lnSpc>
              <a:buClr>
                <a:srgbClr val="1A202C"/>
              </a:buClr>
              <a:buFont typeface="Calibri"/>
              <a:buChar char="●"/>
              <a:tabLst>
                <a:tab pos="0" algn="l"/>
              </a:tabLst>
            </a:pPr>
            <a:r>
              <a:rPr lang="en-US" sz="1100" b="1" u="none" strike="noStrike">
                <a:solidFill>
                  <a:srgbClr val="1A202C"/>
                </a:solidFill>
                <a:effectLst/>
                <a:uFillTx/>
                <a:latin typeface="Calibri"/>
                <a:ea typeface="Calibri"/>
              </a:rPr>
              <a:t>Critical Risk (Dwellings): </a:t>
            </a:r>
            <a:r>
              <a:rPr lang="en-US" sz="1100" b="0" u="none" strike="noStrike">
                <a:solidFill>
                  <a:srgbClr val="1A202C"/>
                </a:solidFill>
                <a:effectLst/>
                <a:uFillTx/>
                <a:latin typeface="Calibri"/>
                <a:ea typeface="Calibri"/>
              </a:rPr>
              <a:t>Residential incidents are the secondary volume driver but the primary life-safety risk. The data confirms that while volume is lower than outdoor incidents, the complexity and resource-weighting for these calls remain the service's highest priority.</a:t>
            </a:r>
            <a:endParaRPr lang="en-GB" sz="1100" b="0" u="none" strike="noStrike">
              <a:solidFill>
                <a:srgbClr val="000000"/>
              </a:solidFill>
              <a:effectLst/>
              <a:uFillTx/>
              <a:latin typeface="Arial"/>
            </a:endParaRPr>
          </a:p>
          <a:p>
            <a:pPr marL="457200" indent="-298440">
              <a:lnSpc>
                <a:spcPct val="100000"/>
              </a:lnSpc>
              <a:buClr>
                <a:srgbClr val="1A202C"/>
              </a:buClr>
              <a:buFont typeface="Calibri"/>
              <a:buChar char="●"/>
              <a:tabLst>
                <a:tab pos="0" algn="l"/>
              </a:tabLst>
            </a:pPr>
            <a:r>
              <a:rPr lang="en-US" sz="1100" b="1" u="none" strike="noStrike">
                <a:solidFill>
                  <a:srgbClr val="1A202C"/>
                </a:solidFill>
                <a:effectLst/>
                <a:uFillTx/>
                <a:latin typeface="Calibri"/>
                <a:ea typeface="Calibri"/>
              </a:rPr>
              <a:t>Commercial DNA (Non-Residential): </a:t>
            </a:r>
            <a:r>
              <a:rPr lang="en-US" sz="1100" b="0" u="none" strike="noStrike">
                <a:solidFill>
                  <a:srgbClr val="1A202C"/>
                </a:solidFill>
                <a:effectLst/>
                <a:uFillTx/>
                <a:latin typeface="Calibri"/>
                <a:ea typeface="Calibri"/>
              </a:rPr>
              <a:t>Non-Residential property types account for a distinct portion of the dataset. This segment is highly concentrated in the Westminster/Soho corridor, indicating a need for specialised commercial fire safety auditing in those specific station grounds.</a:t>
            </a:r>
            <a:endParaRPr lang="en-GB" sz="1100" b="0" u="none" strike="noStrike">
              <a:solidFill>
                <a:srgbClr val="000000"/>
              </a:solidFill>
              <a:effectLst/>
              <a:uFillTx/>
              <a:latin typeface="Arial"/>
            </a:endParaRPr>
          </a:p>
        </p:txBody>
      </p:sp>
      <p:sp>
        <p:nvSpPr>
          <p:cNvPr id="82" name="Google Shape;108;p6"/>
          <p:cNvSpPr/>
          <p:nvPr/>
        </p:nvSpPr>
        <p:spPr>
          <a:xfrm>
            <a:off x="320040" y="502920"/>
            <a:ext cx="8229240" cy="4568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300" b="0" u="none" strike="noStrike">
                <a:solidFill>
                  <a:srgbClr val="9BB8D0"/>
                </a:solidFill>
                <a:effectLst/>
                <a:uFillTx/>
                <a:latin typeface="Calibri"/>
                <a:ea typeface="Calibri"/>
              </a:rPr>
              <a:t>Identifying the "Evening Surge" to optimize resource readiness</a:t>
            </a:r>
            <a:endParaRPr lang="en-GB" sz="1300" b="0" u="none" strike="noStrike">
              <a:solidFill>
                <a:srgbClr val="000000"/>
              </a:solidFill>
              <a:effectLst/>
              <a:uFillTx/>
              <a:latin typeface="Arial"/>
            </a:endParaRPr>
          </a:p>
        </p:txBody>
      </p:sp>
      <p:sp>
        <p:nvSpPr>
          <p:cNvPr id="83" name="Google Shape;109;p6"/>
          <p:cNvSpPr/>
          <p:nvPr/>
        </p:nvSpPr>
        <p:spPr>
          <a:xfrm>
            <a:off x="320040" y="0"/>
            <a:ext cx="7314840" cy="9140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3000" b="1" u="none" strike="noStrike">
                <a:solidFill>
                  <a:srgbClr val="FFFFFF"/>
                </a:solidFill>
                <a:effectLst/>
                <a:uFillTx/>
                <a:latin typeface="Calibri"/>
                <a:ea typeface="Calibri"/>
              </a:rPr>
              <a:t>Temporal Demand Analysis</a:t>
            </a:r>
            <a:endParaRPr lang="en-GB" sz="3000" b="0" u="none" strike="noStrike">
              <a:solidFill>
                <a:srgbClr val="000000"/>
              </a:solidFill>
              <a:effectLst/>
              <a:uFillTx/>
              <a:latin typeface="Arial"/>
            </a:endParaRPr>
          </a:p>
        </p:txBody>
      </p:sp>
      <p:pic>
        <p:nvPicPr>
          <p:cNvPr id="84" name="Google Shape;110;p6"/>
          <p:cNvPicPr/>
          <p:nvPr/>
        </p:nvPicPr>
        <p:blipFill>
          <a:blip r:embed="rId1"/>
          <a:stretch/>
        </p:blipFill>
        <p:spPr>
          <a:xfrm>
            <a:off x="289440" y="1112400"/>
            <a:ext cx="5486760" cy="339300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A"/>
        </a:solidFill>
      </p:bgPr>
    </p:bg>
    <p:spTree>
      <p:nvGrpSpPr>
        <p:cNvPr id="1" name=""/>
        <p:cNvGrpSpPr/>
        <p:nvPr/>
      </p:nvGrpSpPr>
      <p:grpSpPr>
        <a:xfrm>
          <a:off x="0" y="0"/>
          <a:ext cx="0" cy="0"/>
          <a:chOff x="0" y="0"/>
          <a:chExt cx="0" cy="0"/>
        </a:xfrm>
      </p:grpSpPr>
      <p:sp>
        <p:nvSpPr>
          <p:cNvPr id="85" name="Google Shape;116;p5"/>
          <p:cNvSpPr/>
          <p:nvPr/>
        </p:nvSpPr>
        <p:spPr>
          <a:xfrm>
            <a:off x="4883400" y="1167840"/>
            <a:ext cx="3993120" cy="335592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1300" b="1" u="none" strike="noStrike">
                <a:solidFill>
                  <a:srgbClr val="1A202C"/>
                </a:solidFill>
                <a:effectLst/>
                <a:uFillTx/>
                <a:latin typeface="Calibri"/>
                <a:ea typeface="Calibri"/>
              </a:rPr>
              <a:t>Key Insights</a:t>
            </a:r>
            <a:endParaRPr lang="en-GB" sz="1300" b="0" u="none" strike="noStrike">
              <a:solidFill>
                <a:srgbClr val="000000"/>
              </a:solidFill>
              <a:effectLst/>
              <a:uFillTx/>
              <a:latin typeface="Arial"/>
            </a:endParaRPr>
          </a:p>
          <a:p>
            <a:pPr marL="457200" indent="-317520">
              <a:lnSpc>
                <a:spcPct val="100000"/>
              </a:lnSpc>
              <a:buClr>
                <a:srgbClr val="1A202C"/>
              </a:buClr>
              <a:buFont typeface="Calibri"/>
              <a:buChar char="●"/>
              <a:tabLst>
                <a:tab pos="0" algn="l"/>
              </a:tabLst>
            </a:pPr>
            <a:r>
              <a:rPr lang="en-US" sz="1100" b="1" u="none" strike="noStrike">
                <a:solidFill>
                  <a:srgbClr val="1A202C"/>
                </a:solidFill>
                <a:effectLst/>
                <a:uFillTx/>
                <a:latin typeface="Calibri"/>
                <a:ea typeface="Calibri"/>
              </a:rPr>
              <a:t>Westminster - The Primary Outlier: </a:t>
            </a:r>
            <a:r>
              <a:rPr lang="en-US" sz="1100" b="0" u="none" strike="noStrike">
                <a:solidFill>
                  <a:srgbClr val="1A202C"/>
                </a:solidFill>
                <a:effectLst/>
                <a:uFillTx/>
                <a:latin typeface="Calibri"/>
                <a:ea typeface="Calibri"/>
              </a:rPr>
              <a:t>Westminster is the clear geographical outlier, generating 8,774 incidents—nearly 30% of the total dataset. This volume is significantly higher than the next busiest borough, indicating that any regional improvement strategy must start here to achieve the most impact.</a:t>
            </a:r>
            <a:endParaRPr lang="en-GB" sz="1100" b="0" u="none" strike="noStrike">
              <a:solidFill>
                <a:srgbClr val="000000"/>
              </a:solidFill>
              <a:effectLst/>
              <a:uFillTx/>
              <a:latin typeface="Arial"/>
            </a:endParaRPr>
          </a:p>
          <a:p>
            <a:pPr marL="457200" indent="-317520">
              <a:lnSpc>
                <a:spcPct val="100000"/>
              </a:lnSpc>
              <a:buClr>
                <a:srgbClr val="1A202C"/>
              </a:buClr>
              <a:buFont typeface="Calibri"/>
              <a:buChar char="●"/>
              <a:tabLst>
                <a:tab pos="0" algn="l"/>
              </a:tabLst>
            </a:pPr>
            <a:r>
              <a:rPr lang="en-US" sz="1100" b="1" u="none" strike="noStrike">
                <a:solidFill>
                  <a:srgbClr val="1A202C"/>
                </a:solidFill>
                <a:effectLst/>
                <a:uFillTx/>
                <a:latin typeface="Calibri"/>
                <a:ea typeface="Calibri"/>
              </a:rPr>
              <a:t>Station-Level Concentration: </a:t>
            </a:r>
            <a:r>
              <a:rPr lang="en-US" sz="1100" b="0" u="none" strike="noStrike">
                <a:solidFill>
                  <a:srgbClr val="1A202C"/>
                </a:solidFill>
                <a:effectLst/>
                <a:uFillTx/>
                <a:latin typeface="Calibri"/>
                <a:ea typeface="Calibri"/>
              </a:rPr>
              <a:t>Within Westminster, the demand is not evenly spread. Paddington and Soho emerge as the highest-volume stations. As an Improvement Technician, this allows us to move from "Borough-level" thinking to "Station-level" intervention, targeting resources where the "bells" ring most often.</a:t>
            </a:r>
            <a:endParaRPr lang="en-GB" sz="1100" b="0" u="none" strike="noStrike">
              <a:solidFill>
                <a:srgbClr val="000000"/>
              </a:solidFill>
              <a:effectLst/>
              <a:uFillTx/>
              <a:latin typeface="Arial"/>
            </a:endParaRPr>
          </a:p>
          <a:p>
            <a:pPr marL="457200" indent="-317520">
              <a:lnSpc>
                <a:spcPct val="100000"/>
              </a:lnSpc>
              <a:buClr>
                <a:srgbClr val="1A202C"/>
              </a:buClr>
              <a:buFont typeface="Calibri"/>
              <a:buChar char="●"/>
              <a:tabLst>
                <a:tab pos="0" algn="l"/>
              </a:tabLst>
            </a:pPr>
            <a:r>
              <a:rPr lang="en-US" sz="1100" b="1" u="none" strike="noStrike">
                <a:solidFill>
                  <a:srgbClr val="1A202C"/>
                </a:solidFill>
                <a:effectLst/>
                <a:uFillTx/>
                <a:latin typeface="Calibri"/>
                <a:ea typeface="Calibri"/>
              </a:rPr>
              <a:t>Performance Resilience: </a:t>
            </a:r>
            <a:r>
              <a:rPr lang="en-US" sz="1100" b="0" u="none" strike="noStrike">
                <a:solidFill>
                  <a:srgbClr val="1A202C"/>
                </a:solidFill>
                <a:effectLst/>
                <a:uFillTx/>
                <a:latin typeface="Calibri"/>
                <a:ea typeface="Calibri"/>
              </a:rPr>
              <a:t>Despite the extreme volume in these hotspots, our station-level analysis (detailed in later slides) shows that these crews are successfully meeting the 360-second attendance target. The goal is to identify their "best practices" to ensure this performance remains sustainable as demand scales.</a:t>
            </a:r>
            <a:endParaRPr lang="en-GB" sz="1100" b="0" u="none" strike="noStrike">
              <a:solidFill>
                <a:srgbClr val="000000"/>
              </a:solidFill>
              <a:effectLst/>
              <a:uFillTx/>
              <a:latin typeface="Arial"/>
            </a:endParaRPr>
          </a:p>
        </p:txBody>
      </p:sp>
      <p:sp>
        <p:nvSpPr>
          <p:cNvPr id="86" name="Google Shape;117;p5"/>
          <p:cNvSpPr/>
          <p:nvPr/>
        </p:nvSpPr>
        <p:spPr>
          <a:xfrm>
            <a:off x="0" y="0"/>
            <a:ext cx="9143640" cy="959760"/>
          </a:xfrm>
          <a:prstGeom prst="rect">
            <a:avLst/>
          </a:prstGeom>
          <a:solidFill>
            <a:srgbClr val="0D1B2A"/>
          </a:solidFill>
          <a:ln w="0">
            <a:noFill/>
          </a:ln>
        </p:spPr>
        <p:style>
          <a:lnRef idx="0"/>
          <a:fillRef idx="0"/>
          <a:effectRef idx="0"/>
          <a:fontRef idx="minor"/>
        </p:style>
        <p:txBody>
          <a:bodyPr tIns="91440" bIns="91440" anchor="ctr">
            <a:noAutofit/>
          </a:bodyPr>
          <a:p>
            <a:endParaRPr lang="en-GB" sz="1400" b="0" u="none" strike="noStrike">
              <a:solidFill>
                <a:srgbClr val="FFFFFF"/>
              </a:solidFill>
              <a:effectLst/>
              <a:uFillTx/>
              <a:latin typeface="Arial"/>
            </a:endParaRPr>
          </a:p>
        </p:txBody>
      </p:sp>
      <p:sp>
        <p:nvSpPr>
          <p:cNvPr id="87" name="Google Shape;118;p5"/>
          <p:cNvSpPr/>
          <p:nvPr/>
        </p:nvSpPr>
        <p:spPr>
          <a:xfrm>
            <a:off x="0" y="0"/>
            <a:ext cx="136800" cy="5143320"/>
          </a:xfrm>
          <a:prstGeom prst="rect">
            <a:avLst/>
          </a:prstGeom>
          <a:solidFill>
            <a:srgbClr val="F57C00"/>
          </a:solidFill>
          <a:ln w="0">
            <a:noFill/>
          </a:ln>
        </p:spPr>
        <p:style>
          <a:lnRef idx="0"/>
          <a:fillRef idx="0"/>
          <a:effectRef idx="0"/>
          <a:fontRef idx="minor"/>
        </p:style>
        <p:txBody>
          <a:bodyPr tIns="91440" bIns="91440" anchor="ctr">
            <a:noAutofit/>
          </a:bodyPr>
          <a:p>
            <a:endParaRPr lang="en-GB" sz="1400" b="0" u="none" strike="noStrike">
              <a:solidFill>
                <a:srgbClr val="FFFFFF"/>
              </a:solidFill>
              <a:effectLst/>
              <a:uFillTx/>
              <a:latin typeface="Arial"/>
            </a:endParaRPr>
          </a:p>
        </p:txBody>
      </p:sp>
      <p:sp>
        <p:nvSpPr>
          <p:cNvPr id="88" name="Google Shape;119;p5"/>
          <p:cNvSpPr/>
          <p:nvPr/>
        </p:nvSpPr>
        <p:spPr>
          <a:xfrm>
            <a:off x="320040" y="0"/>
            <a:ext cx="7314840" cy="9140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3000" b="1" u="none" strike="noStrike">
                <a:solidFill>
                  <a:srgbClr val="FFFFFF"/>
                </a:solidFill>
                <a:effectLst/>
                <a:uFillTx/>
                <a:latin typeface="Calibri"/>
                <a:ea typeface="Calibri"/>
              </a:rPr>
              <a:t>Geographical Demand Hotspots</a:t>
            </a:r>
            <a:endParaRPr lang="en-GB" sz="3000" b="0" u="none" strike="noStrike">
              <a:solidFill>
                <a:srgbClr val="000000"/>
              </a:solidFill>
              <a:effectLst/>
              <a:uFillTx/>
              <a:latin typeface="Arial"/>
            </a:endParaRPr>
          </a:p>
        </p:txBody>
      </p:sp>
      <p:pic>
        <p:nvPicPr>
          <p:cNvPr id="89" name="Google Shape;120;p5"/>
          <p:cNvPicPr/>
          <p:nvPr/>
        </p:nvPicPr>
        <p:blipFill>
          <a:blip r:embed="rId1"/>
          <a:stretch/>
        </p:blipFill>
        <p:spPr>
          <a:xfrm>
            <a:off x="316800" y="873720"/>
            <a:ext cx="3796920" cy="2347560"/>
          </a:xfrm>
          <a:prstGeom prst="rect">
            <a:avLst/>
          </a:prstGeom>
          <a:noFill/>
          <a:ln w="0">
            <a:noFill/>
          </a:ln>
        </p:spPr>
      </p:pic>
      <p:sp>
        <p:nvSpPr>
          <p:cNvPr id="90" name="Google Shape;121;p5"/>
          <p:cNvSpPr/>
          <p:nvPr/>
        </p:nvSpPr>
        <p:spPr>
          <a:xfrm>
            <a:off x="320040" y="502920"/>
            <a:ext cx="8229240" cy="4568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300" b="0" u="none" strike="noStrike">
                <a:solidFill>
                  <a:srgbClr val="9BB8D0"/>
                </a:solidFill>
                <a:effectLst/>
                <a:uFillTx/>
                <a:latin typeface="Calibri"/>
                <a:ea typeface="Calibri"/>
              </a:rPr>
              <a:t>Pinpointing the primary drivers of regional volume.</a:t>
            </a:r>
            <a:endParaRPr lang="en-GB" sz="1300" b="0" u="none" strike="noStrike">
              <a:solidFill>
                <a:srgbClr val="000000"/>
              </a:solidFill>
              <a:effectLst/>
              <a:uFillTx/>
              <a:latin typeface="Arial"/>
            </a:endParaRPr>
          </a:p>
        </p:txBody>
      </p:sp>
      <p:sp>
        <p:nvSpPr>
          <p:cNvPr id="91" name="Google Shape;122;p5"/>
          <p:cNvSpPr/>
          <p:nvPr/>
        </p:nvSpPr>
        <p:spPr>
          <a:xfrm>
            <a:off x="3836520" y="4686480"/>
            <a:ext cx="6004080" cy="456840"/>
          </a:xfrm>
          <a:prstGeom prst="rect">
            <a:avLst/>
          </a:prstGeom>
          <a:noFill/>
          <a:ln w="0">
            <a:noFill/>
          </a:ln>
        </p:spPr>
        <p:style>
          <a:lnRef idx="0"/>
          <a:fillRef idx="0"/>
          <a:effectRef idx="0"/>
          <a:fontRef idx="minor"/>
        </p:style>
        <p:txBody>
          <a:bodyPr anchor="ctr">
            <a:noAutofit/>
          </a:bodyPr>
          <a:p>
            <a:pPr>
              <a:lnSpc>
                <a:spcPct val="100000"/>
              </a:lnSpc>
              <a:tabLst>
                <a:tab pos="0" algn="l"/>
              </a:tabLst>
            </a:pPr>
            <a:r>
              <a:rPr lang="en-US" sz="1050" b="0" u="none" strike="noStrike">
                <a:solidFill>
                  <a:srgbClr val="1A202C"/>
                </a:solidFill>
                <a:effectLst/>
                <a:uFillTx/>
                <a:latin typeface="Calibri"/>
                <a:ea typeface="Calibri"/>
              </a:rPr>
              <a:t>💡</a:t>
            </a:r>
            <a:r>
              <a:rPr lang="en-US" sz="950" b="0" u="none" strike="noStrike">
                <a:solidFill>
                  <a:srgbClr val="1A202C"/>
                </a:solidFill>
                <a:effectLst/>
                <a:uFillTx/>
                <a:latin typeface="Calibri"/>
                <a:ea typeface="Calibri"/>
              </a:rPr>
              <a:t>Data Metric: Ranked distribution of 31,250 incidents by Borough and Station ground.</a:t>
            </a:r>
            <a:endParaRPr lang="en-GB" sz="950" b="0" u="none" strike="noStrike">
              <a:solidFill>
                <a:srgbClr val="000000"/>
              </a:solidFill>
              <a:effectLst/>
              <a:uFillTx/>
              <a:latin typeface="Arial"/>
            </a:endParaRPr>
          </a:p>
          <a:p>
            <a:pPr>
              <a:lnSpc>
                <a:spcPct val="100000"/>
              </a:lnSpc>
              <a:tabLst>
                <a:tab pos="0" algn="l"/>
              </a:tabLst>
            </a:pPr>
            <a:r>
              <a:rPr lang="en-US" sz="950" b="0" u="none" strike="noStrike">
                <a:solidFill>
                  <a:srgbClr val="1A202C"/>
                </a:solidFill>
                <a:effectLst/>
                <a:uFillTx/>
                <a:latin typeface="Calibri"/>
                <a:ea typeface="Calibri"/>
              </a:rPr>
              <a:t>💡 Visual Logic: Colour-coded highlighting used to isolate "High-Volume Hubs" from the regional baseline.</a:t>
            </a:r>
            <a:endParaRPr lang="en-GB" sz="950" b="0" u="none" strike="noStrike">
              <a:solidFill>
                <a:srgbClr val="000000"/>
              </a:solidFill>
              <a:effectLst/>
              <a:uFillTx/>
              <a:latin typeface="Arial"/>
            </a:endParaRPr>
          </a:p>
        </p:txBody>
      </p:sp>
      <p:pic>
        <p:nvPicPr>
          <p:cNvPr id="92" name="Google Shape;123;p5"/>
          <p:cNvPicPr/>
          <p:nvPr/>
        </p:nvPicPr>
        <p:blipFill>
          <a:blip r:embed="rId2"/>
          <a:stretch/>
        </p:blipFill>
        <p:spPr>
          <a:xfrm>
            <a:off x="316800" y="2938320"/>
            <a:ext cx="3796920" cy="234756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A"/>
        </a:solidFill>
      </p:bgPr>
    </p:bg>
    <p:spTree>
      <p:nvGrpSpPr>
        <p:cNvPr id="1" name=""/>
        <p:cNvGrpSpPr/>
        <p:nvPr/>
      </p:nvGrpSpPr>
      <p:grpSpPr>
        <a:xfrm>
          <a:off x="0" y="0"/>
          <a:ext cx="0" cy="0"/>
          <a:chOff x="0" y="0"/>
          <a:chExt cx="0" cy="0"/>
        </a:xfrm>
      </p:grpSpPr>
      <p:sp>
        <p:nvSpPr>
          <p:cNvPr id="93" name="Google Shape;129;p7"/>
          <p:cNvSpPr/>
          <p:nvPr/>
        </p:nvSpPr>
        <p:spPr>
          <a:xfrm>
            <a:off x="0" y="0"/>
            <a:ext cx="9143640" cy="959760"/>
          </a:xfrm>
          <a:prstGeom prst="rect">
            <a:avLst/>
          </a:prstGeom>
          <a:solidFill>
            <a:srgbClr val="0D1B2A"/>
          </a:solidFill>
          <a:ln w="0">
            <a:noFill/>
          </a:ln>
        </p:spPr>
        <p:style>
          <a:lnRef idx="0"/>
          <a:fillRef idx="0"/>
          <a:effectRef idx="0"/>
          <a:fontRef idx="minor"/>
        </p:style>
        <p:txBody>
          <a:bodyPr tIns="91440" bIns="91440" anchor="ctr">
            <a:noAutofit/>
          </a:bodyPr>
          <a:p>
            <a:endParaRPr lang="en-GB" sz="1400" b="0" u="none" strike="noStrike">
              <a:solidFill>
                <a:srgbClr val="FFFFFF"/>
              </a:solidFill>
              <a:effectLst/>
              <a:uFillTx/>
              <a:latin typeface="Arial"/>
            </a:endParaRPr>
          </a:p>
        </p:txBody>
      </p:sp>
      <p:sp>
        <p:nvSpPr>
          <p:cNvPr id="94" name="Google Shape;130;p7"/>
          <p:cNvSpPr/>
          <p:nvPr/>
        </p:nvSpPr>
        <p:spPr>
          <a:xfrm>
            <a:off x="0" y="0"/>
            <a:ext cx="136800" cy="5143320"/>
          </a:xfrm>
          <a:prstGeom prst="rect">
            <a:avLst/>
          </a:prstGeom>
          <a:solidFill>
            <a:srgbClr val="2E7D32"/>
          </a:solidFill>
          <a:ln w="0">
            <a:noFill/>
          </a:ln>
        </p:spPr>
        <p:style>
          <a:lnRef idx="0"/>
          <a:fillRef idx="0"/>
          <a:effectRef idx="0"/>
          <a:fontRef idx="minor"/>
        </p:style>
        <p:txBody>
          <a:bodyPr tIns="91440" bIns="91440" anchor="ctr">
            <a:noAutofit/>
          </a:bodyPr>
          <a:p>
            <a:endParaRPr lang="en-GB" sz="1400" b="0" u="none" strike="noStrike">
              <a:solidFill>
                <a:srgbClr val="FFFFFF"/>
              </a:solidFill>
              <a:effectLst/>
              <a:uFillTx/>
              <a:latin typeface="Arial"/>
            </a:endParaRPr>
          </a:p>
        </p:txBody>
      </p:sp>
      <p:sp>
        <p:nvSpPr>
          <p:cNvPr id="95" name="Google Shape;131;p7"/>
          <p:cNvSpPr/>
          <p:nvPr/>
        </p:nvSpPr>
        <p:spPr>
          <a:xfrm>
            <a:off x="320040" y="0"/>
            <a:ext cx="7314840" cy="9140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3000" b="1" u="none" strike="noStrike">
                <a:solidFill>
                  <a:srgbClr val="FFFFFF"/>
                </a:solidFill>
                <a:effectLst/>
                <a:uFillTx/>
                <a:latin typeface="Calibri"/>
                <a:ea typeface="Calibri"/>
              </a:rPr>
              <a:t>Operational DNA: Soho vs. Paddington</a:t>
            </a:r>
            <a:endParaRPr lang="en-GB" sz="3000" b="0" u="none" strike="noStrike">
              <a:solidFill>
                <a:srgbClr val="000000"/>
              </a:solidFill>
              <a:effectLst/>
              <a:uFillTx/>
              <a:latin typeface="Arial"/>
            </a:endParaRPr>
          </a:p>
        </p:txBody>
      </p:sp>
      <p:sp>
        <p:nvSpPr>
          <p:cNvPr id="96" name="Google Shape;132;p7"/>
          <p:cNvSpPr/>
          <p:nvPr/>
        </p:nvSpPr>
        <p:spPr>
          <a:xfrm>
            <a:off x="320040" y="4617720"/>
            <a:ext cx="8503560" cy="411120"/>
          </a:xfrm>
          <a:prstGeom prst="rect">
            <a:avLst/>
          </a:prstGeom>
          <a:noFill/>
          <a:ln w="0">
            <a:noFill/>
          </a:ln>
        </p:spPr>
        <p:style>
          <a:lnRef idx="0"/>
          <a:fillRef idx="0"/>
          <a:effectRef idx="0"/>
          <a:fontRef idx="minor"/>
        </p:style>
        <p:txBody>
          <a:bodyPr anchor="ctr">
            <a:noAutofit/>
          </a:bodyPr>
          <a:p>
            <a:pPr>
              <a:lnSpc>
                <a:spcPct val="100000"/>
              </a:lnSpc>
              <a:tabLst>
                <a:tab pos="0" algn="l"/>
              </a:tabLst>
            </a:pPr>
            <a:r>
              <a:rPr lang="en-US" sz="1050" b="0" u="none" strike="noStrike">
                <a:solidFill>
                  <a:srgbClr val="1A202C"/>
                </a:solidFill>
                <a:effectLst/>
                <a:uFillTx/>
                <a:latin typeface="Calibri"/>
                <a:ea typeface="Calibri"/>
              </a:rPr>
              <a:t>💡 Data Metric: Comparative breakdown of raw incident counts by property category.</a:t>
            </a:r>
            <a:endParaRPr lang="en-GB" sz="1050" b="0" u="none" strike="noStrike">
              <a:solidFill>
                <a:srgbClr val="000000"/>
              </a:solidFill>
              <a:effectLst/>
              <a:uFillTx/>
              <a:latin typeface="Arial"/>
            </a:endParaRPr>
          </a:p>
          <a:p>
            <a:pPr>
              <a:lnSpc>
                <a:spcPct val="100000"/>
              </a:lnSpc>
              <a:tabLst>
                <a:tab pos="0" algn="l"/>
              </a:tabLst>
            </a:pPr>
            <a:r>
              <a:rPr lang="en-US" sz="1050" b="0" u="none" strike="noStrike">
                <a:solidFill>
                  <a:srgbClr val="1A202C"/>
                </a:solidFill>
                <a:effectLst/>
                <a:uFillTx/>
                <a:latin typeface="Calibri"/>
                <a:ea typeface="Calibri"/>
              </a:rPr>
              <a:t>💡 Statistical Insight: Cross-referencing 12 months of longitudinal data to identify "Station Character."</a:t>
            </a:r>
            <a:endParaRPr lang="en-GB" sz="1050" b="0" u="none" strike="noStrike">
              <a:solidFill>
                <a:srgbClr val="000000"/>
              </a:solidFill>
              <a:effectLst/>
              <a:uFillTx/>
              <a:latin typeface="Arial"/>
            </a:endParaRPr>
          </a:p>
        </p:txBody>
      </p:sp>
      <p:pic>
        <p:nvPicPr>
          <p:cNvPr id="97" name="Google Shape;133;p7"/>
          <p:cNvPicPr/>
          <p:nvPr/>
        </p:nvPicPr>
        <p:blipFill>
          <a:blip r:embed="rId1"/>
          <a:stretch/>
        </p:blipFill>
        <p:spPr>
          <a:xfrm>
            <a:off x="-291600" y="895320"/>
            <a:ext cx="5811840" cy="3352320"/>
          </a:xfrm>
          <a:prstGeom prst="rect">
            <a:avLst/>
          </a:prstGeom>
          <a:noFill/>
          <a:ln w="0">
            <a:noFill/>
          </a:ln>
        </p:spPr>
      </p:pic>
      <p:sp>
        <p:nvSpPr>
          <p:cNvPr id="98" name="Google Shape;134;p7"/>
          <p:cNvSpPr/>
          <p:nvPr/>
        </p:nvSpPr>
        <p:spPr>
          <a:xfrm>
            <a:off x="320040" y="502920"/>
            <a:ext cx="8229240" cy="4568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300" b="0" u="none" strike="noStrike">
                <a:solidFill>
                  <a:srgbClr val="9BB8D0"/>
                </a:solidFill>
                <a:effectLst/>
                <a:uFillTx/>
                <a:latin typeface="Calibri"/>
                <a:ea typeface="Calibri"/>
              </a:rPr>
              <a:t>A comparative analysis of incident drivers in high-volume stations</a:t>
            </a:r>
            <a:endParaRPr lang="en-GB" sz="1300" b="0" u="none" strike="noStrike">
              <a:solidFill>
                <a:srgbClr val="000000"/>
              </a:solidFill>
              <a:effectLst/>
              <a:uFillTx/>
              <a:latin typeface="Arial"/>
            </a:endParaRPr>
          </a:p>
        </p:txBody>
      </p:sp>
      <p:sp>
        <p:nvSpPr>
          <p:cNvPr id="99" name="Google Shape;135;p7"/>
          <p:cNvSpPr/>
          <p:nvPr/>
        </p:nvSpPr>
        <p:spPr>
          <a:xfrm>
            <a:off x="5150520" y="1261800"/>
            <a:ext cx="3946320" cy="335592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1300" b="1" u="none" strike="noStrike">
                <a:solidFill>
                  <a:srgbClr val="1A202C"/>
                </a:solidFill>
                <a:effectLst/>
                <a:uFillTx/>
                <a:latin typeface="Calibri"/>
                <a:ea typeface="Calibri"/>
              </a:rPr>
              <a:t>Key Insights</a:t>
            </a:r>
            <a:endParaRPr lang="en-GB" sz="1300" b="0" u="none" strike="noStrike">
              <a:solidFill>
                <a:srgbClr val="000000"/>
              </a:solidFill>
              <a:effectLst/>
              <a:uFillTx/>
              <a:latin typeface="Arial"/>
            </a:endParaRPr>
          </a:p>
          <a:p>
            <a:pPr marL="457200" indent="-317520">
              <a:lnSpc>
                <a:spcPct val="100000"/>
              </a:lnSpc>
              <a:buClr>
                <a:srgbClr val="1A202C"/>
              </a:buClr>
              <a:buFont typeface="Calibri"/>
              <a:buChar char="●"/>
              <a:tabLst>
                <a:tab pos="0" algn="l"/>
              </a:tabLst>
            </a:pPr>
            <a:r>
              <a:rPr lang="en-US" sz="1100" b="1" u="none" strike="noStrike">
                <a:solidFill>
                  <a:srgbClr val="1A202C"/>
                </a:solidFill>
                <a:effectLst/>
                <a:uFillTx/>
                <a:latin typeface="Calibri"/>
                <a:ea typeface="Calibri"/>
              </a:rPr>
              <a:t>Distinct Risk Profiles: </a:t>
            </a:r>
            <a:r>
              <a:rPr lang="en-US" sz="1100" b="0" u="none" strike="noStrike">
                <a:solidFill>
                  <a:srgbClr val="1A202C"/>
                </a:solidFill>
                <a:effectLst/>
                <a:uFillTx/>
                <a:latin typeface="Calibri"/>
                <a:ea typeface="Calibri"/>
              </a:rPr>
              <a:t>Despite their geographical proximity, Soho and Paddington exhibit fundamentally different "DNAs." Soho is dominated by Non-Residential (Commercial) incidents, while Paddington’s workload is heavily weighted toward Dwellings (Residential).</a:t>
            </a:r>
            <a:endParaRPr lang="en-GB" sz="1100" b="0" u="none" strike="noStrike">
              <a:solidFill>
                <a:srgbClr val="000000"/>
              </a:solidFill>
              <a:effectLst/>
              <a:uFillTx/>
              <a:latin typeface="Arial"/>
            </a:endParaRPr>
          </a:p>
          <a:p>
            <a:pPr marL="457200" indent="-317520">
              <a:lnSpc>
                <a:spcPct val="100000"/>
              </a:lnSpc>
              <a:buClr>
                <a:srgbClr val="1A202C"/>
              </a:buClr>
              <a:buFont typeface="Calibri"/>
              <a:buChar char="●"/>
              <a:tabLst>
                <a:tab pos="0" algn="l"/>
              </a:tabLst>
            </a:pPr>
            <a:r>
              <a:rPr lang="en-US" sz="1100" b="1" u="none" strike="noStrike">
                <a:solidFill>
                  <a:srgbClr val="1A202C"/>
                </a:solidFill>
                <a:effectLst/>
                <a:uFillTx/>
                <a:latin typeface="Calibri"/>
                <a:ea typeface="Calibri"/>
              </a:rPr>
              <a:t>Strategic Implications: </a:t>
            </a:r>
            <a:r>
              <a:rPr lang="en-US" sz="1100" b="0" u="none" strike="noStrike">
                <a:solidFill>
                  <a:srgbClr val="1A202C"/>
                </a:solidFill>
                <a:effectLst/>
                <a:uFillTx/>
                <a:latin typeface="Calibri"/>
                <a:ea typeface="Calibri"/>
              </a:rPr>
              <a:t>For an Improvement Technician, this means a "one-size-fits-all" prevention strategy won't work. Soho requires a focus on commercial fire safety audits and business engagement, whereas Paddington necessitates high-intensity residential fire home safety visits (HFSVs).</a:t>
            </a:r>
            <a:endParaRPr lang="en-GB" sz="1100" b="0" u="none" strike="noStrike">
              <a:solidFill>
                <a:srgbClr val="000000"/>
              </a:solidFill>
              <a:effectLst/>
              <a:uFillTx/>
              <a:latin typeface="Arial"/>
            </a:endParaRPr>
          </a:p>
          <a:p>
            <a:pPr marL="457200" indent="-317520">
              <a:lnSpc>
                <a:spcPct val="100000"/>
              </a:lnSpc>
              <a:buClr>
                <a:srgbClr val="1A202C"/>
              </a:buClr>
              <a:buFont typeface="Calibri"/>
              <a:buChar char="●"/>
              <a:tabLst>
                <a:tab pos="0" algn="l"/>
              </a:tabLst>
            </a:pPr>
            <a:r>
              <a:rPr lang="en-US" sz="1100" b="1" u="none" strike="noStrike">
                <a:solidFill>
                  <a:srgbClr val="1A202C"/>
                </a:solidFill>
                <a:effectLst/>
                <a:uFillTx/>
                <a:latin typeface="Calibri"/>
                <a:ea typeface="Calibri"/>
              </a:rPr>
              <a:t>Resource Specialisation: </a:t>
            </a:r>
            <a:r>
              <a:rPr lang="en-US" sz="1100" b="0" u="none" strike="noStrike">
                <a:solidFill>
                  <a:srgbClr val="1A202C"/>
                </a:solidFill>
                <a:effectLst/>
                <a:uFillTx/>
                <a:latin typeface="Calibri"/>
                <a:ea typeface="Calibri"/>
              </a:rPr>
              <a:t>The high volume of Outdoor Structures in both areas suggests that while the "Life Safety" risks differ, both stations face a shared burden of nuisance incidents. Standardising the response to these lower-level calls can free up capacity for their respective primary risks.</a:t>
            </a:r>
            <a:endParaRPr lang="en-GB"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A"/>
        </a:solidFill>
      </p:bgPr>
    </p:bg>
    <p:spTree>
      <p:nvGrpSpPr>
        <p:cNvPr id="1" name=""/>
        <p:cNvGrpSpPr/>
        <p:nvPr/>
      </p:nvGrpSpPr>
      <p:grpSpPr>
        <a:xfrm>
          <a:off x="0" y="0"/>
          <a:ext cx="0" cy="0"/>
          <a:chOff x="0" y="0"/>
          <a:chExt cx="0" cy="0"/>
        </a:xfrm>
      </p:grpSpPr>
      <p:sp>
        <p:nvSpPr>
          <p:cNvPr id="100" name="Google Shape;141;g3d67abb3fcb_0_32"/>
          <p:cNvSpPr/>
          <p:nvPr/>
        </p:nvSpPr>
        <p:spPr>
          <a:xfrm>
            <a:off x="0" y="0"/>
            <a:ext cx="9143640" cy="959760"/>
          </a:xfrm>
          <a:prstGeom prst="rect">
            <a:avLst/>
          </a:prstGeom>
          <a:solidFill>
            <a:srgbClr val="0D1B2A"/>
          </a:solidFill>
          <a:ln w="0">
            <a:noFill/>
          </a:ln>
        </p:spPr>
        <p:style>
          <a:lnRef idx="0"/>
          <a:fillRef idx="0"/>
          <a:effectRef idx="0"/>
          <a:fontRef idx="minor"/>
        </p:style>
        <p:txBody>
          <a:bodyPr tIns="91440" bIns="91440" anchor="ctr">
            <a:noAutofit/>
          </a:bodyPr>
          <a:p>
            <a:endParaRPr lang="en-GB" sz="1400" b="0" u="none" strike="noStrike">
              <a:solidFill>
                <a:srgbClr val="FFFFFF"/>
              </a:solidFill>
              <a:effectLst/>
              <a:uFillTx/>
              <a:latin typeface="Arial"/>
            </a:endParaRPr>
          </a:p>
        </p:txBody>
      </p:sp>
      <p:sp>
        <p:nvSpPr>
          <p:cNvPr id="101" name="Google Shape;142;g3d67abb3fcb_0_32"/>
          <p:cNvSpPr/>
          <p:nvPr/>
        </p:nvSpPr>
        <p:spPr>
          <a:xfrm>
            <a:off x="0" y="0"/>
            <a:ext cx="136800" cy="5143320"/>
          </a:xfrm>
          <a:prstGeom prst="rect">
            <a:avLst/>
          </a:prstGeom>
          <a:solidFill>
            <a:srgbClr val="A64D79"/>
          </a:solidFill>
          <a:ln w="0">
            <a:noFill/>
          </a:ln>
        </p:spPr>
        <p:style>
          <a:lnRef idx="0"/>
          <a:fillRef idx="0"/>
          <a:effectRef idx="0"/>
          <a:fontRef idx="minor"/>
        </p:style>
        <p:txBody>
          <a:bodyPr tIns="91440" bIns="91440" anchor="ctr">
            <a:noAutofit/>
          </a:bodyPr>
          <a:p>
            <a:endParaRPr lang="en-GB" sz="1400" b="0" u="none" strike="noStrike">
              <a:solidFill>
                <a:srgbClr val="FFFFFF"/>
              </a:solidFill>
              <a:effectLst/>
              <a:uFillTx/>
              <a:latin typeface="Arial"/>
            </a:endParaRPr>
          </a:p>
        </p:txBody>
      </p:sp>
      <p:sp>
        <p:nvSpPr>
          <p:cNvPr id="102" name="Google Shape;143;g3d67abb3fcb_0_32"/>
          <p:cNvSpPr/>
          <p:nvPr/>
        </p:nvSpPr>
        <p:spPr>
          <a:xfrm>
            <a:off x="320040" y="0"/>
            <a:ext cx="7314840" cy="9140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3000" b="1" u="none" strike="noStrike">
                <a:solidFill>
                  <a:srgbClr val="FFFFFF"/>
                </a:solidFill>
                <a:effectLst/>
                <a:uFillTx/>
                <a:latin typeface="Calibri"/>
                <a:ea typeface="Calibri"/>
              </a:rPr>
              <a:t>Performance Scorecard: Westminster Hubs</a:t>
            </a:r>
            <a:endParaRPr lang="en-GB" sz="3000" b="0" u="none" strike="noStrike">
              <a:solidFill>
                <a:srgbClr val="000000"/>
              </a:solidFill>
              <a:effectLst/>
              <a:uFillTx/>
              <a:latin typeface="Arial"/>
            </a:endParaRPr>
          </a:p>
        </p:txBody>
      </p:sp>
      <p:sp>
        <p:nvSpPr>
          <p:cNvPr id="103" name="Google Shape;144;g3d67abb3fcb_0_32"/>
          <p:cNvSpPr/>
          <p:nvPr/>
        </p:nvSpPr>
        <p:spPr>
          <a:xfrm>
            <a:off x="320040" y="4617720"/>
            <a:ext cx="8503560" cy="411120"/>
          </a:xfrm>
          <a:prstGeom prst="rect">
            <a:avLst/>
          </a:prstGeom>
          <a:noFill/>
          <a:ln w="0">
            <a:noFill/>
          </a:ln>
        </p:spPr>
        <p:style>
          <a:lnRef idx="0"/>
          <a:fillRef idx="0"/>
          <a:effectRef idx="0"/>
          <a:fontRef idx="minor"/>
        </p:style>
        <p:txBody>
          <a:bodyPr anchor="ctr">
            <a:noAutofit/>
          </a:bodyPr>
          <a:p>
            <a:pPr>
              <a:lnSpc>
                <a:spcPct val="100000"/>
              </a:lnSpc>
              <a:tabLst>
                <a:tab pos="0" algn="l"/>
              </a:tabLst>
            </a:pPr>
            <a:r>
              <a:rPr lang="en-US" sz="1050" b="0" u="none" strike="noStrike">
                <a:solidFill>
                  <a:srgbClr val="1A202C"/>
                </a:solidFill>
                <a:effectLst/>
                <a:uFillTx/>
                <a:latin typeface="Calibri"/>
                <a:ea typeface="Calibri"/>
              </a:rPr>
              <a:t>💡 Data Metric: Mean attendance time for first-arriving appliances (12-month average).</a:t>
            </a:r>
            <a:endParaRPr lang="en-GB" sz="1050" b="0" u="none" strike="noStrike">
              <a:solidFill>
                <a:srgbClr val="000000"/>
              </a:solidFill>
              <a:effectLst/>
              <a:uFillTx/>
              <a:latin typeface="Arial"/>
            </a:endParaRPr>
          </a:p>
          <a:p>
            <a:pPr>
              <a:lnSpc>
                <a:spcPct val="100000"/>
              </a:lnSpc>
              <a:tabLst>
                <a:tab pos="0" algn="l"/>
              </a:tabLst>
            </a:pPr>
            <a:r>
              <a:rPr lang="en-US" sz="1050" b="0" u="none" strike="noStrike">
                <a:solidFill>
                  <a:srgbClr val="1A202C"/>
                </a:solidFill>
                <a:effectLst/>
                <a:uFillTx/>
                <a:latin typeface="Calibri"/>
                <a:ea typeface="Calibri"/>
              </a:rPr>
              <a:t>💡 Benchmark: Comparison against the 360-second statutory performance indicator.</a:t>
            </a:r>
            <a:endParaRPr lang="en-GB" sz="1050" b="0" u="none" strike="noStrike">
              <a:solidFill>
                <a:srgbClr val="000000"/>
              </a:solidFill>
              <a:effectLst/>
              <a:uFillTx/>
              <a:latin typeface="Arial"/>
            </a:endParaRPr>
          </a:p>
        </p:txBody>
      </p:sp>
      <p:sp>
        <p:nvSpPr>
          <p:cNvPr id="104" name="Google Shape;145;g3d67abb3fcb_0_32"/>
          <p:cNvSpPr/>
          <p:nvPr/>
        </p:nvSpPr>
        <p:spPr>
          <a:xfrm>
            <a:off x="320040" y="502920"/>
            <a:ext cx="8229240" cy="4568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300" b="0" u="none" strike="noStrike">
                <a:solidFill>
                  <a:srgbClr val="9BB8D0"/>
                </a:solidFill>
                <a:effectLst/>
                <a:uFillTx/>
                <a:latin typeface="Calibri"/>
                <a:ea typeface="Calibri"/>
              </a:rPr>
              <a:t>Evaluating station-level efficiency against London’s 360-second target</a:t>
            </a:r>
            <a:endParaRPr lang="en-GB" sz="1300" b="0" u="none" strike="noStrike">
              <a:solidFill>
                <a:srgbClr val="000000"/>
              </a:solidFill>
              <a:effectLst/>
              <a:uFillTx/>
              <a:latin typeface="Arial"/>
            </a:endParaRPr>
          </a:p>
        </p:txBody>
      </p:sp>
      <p:sp>
        <p:nvSpPr>
          <p:cNvPr id="105" name="Google Shape;146;g3d67abb3fcb_0_32"/>
          <p:cNvSpPr/>
          <p:nvPr/>
        </p:nvSpPr>
        <p:spPr>
          <a:xfrm>
            <a:off x="5154120" y="1355760"/>
            <a:ext cx="3942000" cy="335592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1300" b="1" u="none" strike="noStrike">
                <a:solidFill>
                  <a:srgbClr val="1A202C"/>
                </a:solidFill>
                <a:effectLst/>
                <a:uFillTx/>
                <a:latin typeface="Calibri"/>
                <a:ea typeface="Calibri"/>
              </a:rPr>
              <a:t>Key Insights</a:t>
            </a:r>
            <a:endParaRPr lang="en-GB" sz="1300" b="0" u="none" strike="noStrike">
              <a:solidFill>
                <a:srgbClr val="000000"/>
              </a:solidFill>
              <a:effectLst/>
              <a:uFillTx/>
              <a:latin typeface="Arial"/>
            </a:endParaRPr>
          </a:p>
          <a:p>
            <a:pPr marL="457200" indent="-317520">
              <a:lnSpc>
                <a:spcPct val="100000"/>
              </a:lnSpc>
              <a:buClr>
                <a:srgbClr val="1A202C"/>
              </a:buClr>
              <a:buFont typeface="Calibri"/>
              <a:buChar char="●"/>
              <a:tabLst>
                <a:tab pos="0" algn="l"/>
              </a:tabLst>
            </a:pPr>
            <a:r>
              <a:rPr lang="en-US" sz="1100" b="1" u="none" strike="noStrike">
                <a:solidFill>
                  <a:srgbClr val="1A202C"/>
                </a:solidFill>
                <a:effectLst/>
                <a:uFillTx/>
                <a:latin typeface="Calibri"/>
                <a:ea typeface="Calibri"/>
              </a:rPr>
              <a:t>Efficiency Under Pressure: </a:t>
            </a:r>
            <a:r>
              <a:rPr lang="en-US" sz="1100" b="0" u="none" strike="noStrike">
                <a:solidFill>
                  <a:srgbClr val="1A202C"/>
                </a:solidFill>
                <a:effectLst/>
                <a:uFillTx/>
                <a:latin typeface="Calibri"/>
                <a:ea typeface="Calibri"/>
              </a:rPr>
              <a:t>Despite being the highest-volume hubs in the region, both Paddington (308s) and Soho (323s) are performing significantly better than the LFB’s 6-minute (360s) attendance target. This suggests that high demand is being met with high operational efficiency.</a:t>
            </a:r>
            <a:endParaRPr lang="en-GB" sz="1100" b="0" u="none" strike="noStrike">
              <a:solidFill>
                <a:srgbClr val="000000"/>
              </a:solidFill>
              <a:effectLst/>
              <a:uFillTx/>
              <a:latin typeface="Arial"/>
            </a:endParaRPr>
          </a:p>
          <a:p>
            <a:pPr marL="457200" indent="-317520">
              <a:lnSpc>
                <a:spcPct val="100000"/>
              </a:lnSpc>
              <a:buClr>
                <a:srgbClr val="1A202C"/>
              </a:buClr>
              <a:buFont typeface="Calibri"/>
              <a:buChar char="●"/>
              <a:tabLst>
                <a:tab pos="0" algn="l"/>
              </a:tabLst>
            </a:pPr>
            <a:r>
              <a:rPr lang="en-US" sz="1100" b="1" u="none" strike="noStrike">
                <a:solidFill>
                  <a:srgbClr val="1A202C"/>
                </a:solidFill>
                <a:effectLst/>
                <a:uFillTx/>
                <a:latin typeface="Calibri"/>
                <a:ea typeface="Calibri"/>
              </a:rPr>
              <a:t>02 | The "Buffer" Analysis: </a:t>
            </a:r>
            <a:r>
              <a:rPr lang="en-US" sz="1100" b="0" u="none" strike="noStrike">
                <a:solidFill>
                  <a:srgbClr val="1A202C"/>
                </a:solidFill>
                <a:effectLst/>
                <a:uFillTx/>
                <a:latin typeface="Calibri"/>
                <a:ea typeface="Calibri"/>
              </a:rPr>
              <a:t>Paddington maintains a 52-second buffer below the target, while Soho maintains a 37-second buffer. As an Improvement Technician, identifying the specific turnout protocols at these stations could provide a blueprint for stations currently struggling with target gaps.</a:t>
            </a:r>
            <a:endParaRPr lang="en-GB" sz="1100" b="0" u="none" strike="noStrike">
              <a:solidFill>
                <a:srgbClr val="000000"/>
              </a:solidFill>
              <a:effectLst/>
              <a:uFillTx/>
              <a:latin typeface="Arial"/>
            </a:endParaRPr>
          </a:p>
          <a:p>
            <a:pPr marL="457200" indent="-317520">
              <a:lnSpc>
                <a:spcPct val="100000"/>
              </a:lnSpc>
              <a:buClr>
                <a:srgbClr val="1A202C"/>
              </a:buClr>
              <a:buFont typeface="Calibri"/>
              <a:buChar char="●"/>
              <a:tabLst>
                <a:tab pos="0" algn="l"/>
              </a:tabLst>
            </a:pPr>
            <a:r>
              <a:rPr lang="en-US" sz="1100" b="1" u="none" strike="noStrike">
                <a:solidFill>
                  <a:srgbClr val="1A202C"/>
                </a:solidFill>
                <a:effectLst/>
                <a:uFillTx/>
                <a:latin typeface="Calibri"/>
                <a:ea typeface="Calibri"/>
              </a:rPr>
              <a:t>03 | Sustainable Performance: </a:t>
            </a:r>
            <a:r>
              <a:rPr lang="en-US" sz="1100" b="0" u="none" strike="noStrike">
                <a:solidFill>
                  <a:srgbClr val="1A202C"/>
                </a:solidFill>
                <a:effectLst/>
                <a:uFillTx/>
                <a:latin typeface="Calibri"/>
                <a:ea typeface="Calibri"/>
              </a:rPr>
              <a:t>When cross-referenced with our "Evening Surge" data, these times remain stable. This indicates that current staffing models and resource positioning in the Westminster corridor are robust enough to handle the 16:00 – 20:00 peak without compromising life safety.</a:t>
            </a:r>
            <a:endParaRPr lang="en-GB" sz="1100" b="0" u="none" strike="noStrike">
              <a:solidFill>
                <a:srgbClr val="000000"/>
              </a:solidFill>
              <a:effectLst/>
              <a:uFillTx/>
              <a:latin typeface="Arial"/>
            </a:endParaRPr>
          </a:p>
        </p:txBody>
      </p:sp>
      <p:pic>
        <p:nvPicPr>
          <p:cNvPr id="106" name="Google Shape;147;g3d67abb3fcb_0_32"/>
          <p:cNvPicPr/>
          <p:nvPr/>
        </p:nvPicPr>
        <p:blipFill>
          <a:blip r:embed="rId1"/>
          <a:stretch/>
        </p:blipFill>
        <p:spPr>
          <a:xfrm>
            <a:off x="124920" y="1355760"/>
            <a:ext cx="5067000" cy="313884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107" name="Google Shape;153;p8"/>
          <p:cNvSpPr/>
          <p:nvPr/>
        </p:nvSpPr>
        <p:spPr>
          <a:xfrm>
            <a:off x="0" y="0"/>
            <a:ext cx="182520" cy="5143320"/>
          </a:xfrm>
          <a:prstGeom prst="rect">
            <a:avLst/>
          </a:prstGeom>
          <a:solidFill>
            <a:srgbClr val="0288D1"/>
          </a:solidFill>
          <a:ln w="0">
            <a:noFill/>
          </a:ln>
        </p:spPr>
        <p:style>
          <a:lnRef idx="0"/>
          <a:fillRef idx="0"/>
          <a:effectRef idx="0"/>
          <a:fontRef idx="minor"/>
        </p:style>
        <p:txBody>
          <a:bodyPr tIns="91440" bIns="91440" anchor="ctr">
            <a:noAutofit/>
          </a:bodyPr>
          <a:p>
            <a:endParaRPr lang="en-GB" sz="1400" b="0" u="none" strike="noStrike">
              <a:solidFill>
                <a:srgbClr val="FFFFFF"/>
              </a:solidFill>
              <a:effectLst/>
              <a:uFillTx/>
              <a:latin typeface="Arial"/>
            </a:endParaRPr>
          </a:p>
        </p:txBody>
      </p:sp>
      <p:sp>
        <p:nvSpPr>
          <p:cNvPr id="108" name="Google Shape;154;p8"/>
          <p:cNvSpPr/>
          <p:nvPr/>
        </p:nvSpPr>
        <p:spPr>
          <a:xfrm>
            <a:off x="6858000" y="-457200"/>
            <a:ext cx="3200040" cy="3200040"/>
          </a:xfrm>
          <a:prstGeom prst="ellipse">
            <a:avLst/>
          </a:prstGeom>
          <a:solidFill>
            <a:srgbClr val="1565C0">
              <a:alpha val="18000"/>
            </a:srgbClr>
          </a:solidFill>
          <a:ln w="0">
            <a:noFill/>
          </a:ln>
        </p:spPr>
        <p:style>
          <a:lnRef idx="0"/>
          <a:fillRef idx="0"/>
          <a:effectRef idx="0"/>
          <a:fontRef idx="minor"/>
        </p:style>
        <p:txBody>
          <a:bodyPr tIns="91440" bIns="91440" anchor="ctr">
            <a:noAutofit/>
          </a:bodyPr>
          <a:p>
            <a:endParaRPr lang="en-GB" sz="1400" b="0" u="none" strike="noStrike">
              <a:solidFill>
                <a:srgbClr val="FFFFFF"/>
              </a:solidFill>
              <a:effectLst/>
              <a:uFillTx/>
              <a:latin typeface="Arial"/>
            </a:endParaRPr>
          </a:p>
        </p:txBody>
      </p:sp>
      <p:sp>
        <p:nvSpPr>
          <p:cNvPr id="109" name="Google Shape;155;p8"/>
          <p:cNvSpPr/>
          <p:nvPr/>
        </p:nvSpPr>
        <p:spPr>
          <a:xfrm>
            <a:off x="365760" y="76320"/>
            <a:ext cx="7314840" cy="6854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3200" b="1" u="none" strike="noStrike">
                <a:solidFill>
                  <a:srgbClr val="FFFFFF"/>
                </a:solidFill>
                <a:effectLst/>
                <a:uFillTx/>
                <a:latin typeface="Calibri"/>
                <a:ea typeface="Calibri"/>
              </a:rPr>
              <a:t>Strategic Recommendations</a:t>
            </a:r>
            <a:endParaRPr lang="en-GB" sz="3200" b="0" u="none" strike="noStrike">
              <a:solidFill>
                <a:srgbClr val="FFFFFF"/>
              </a:solidFill>
              <a:effectLst/>
              <a:uFillTx/>
              <a:latin typeface="Arial"/>
            </a:endParaRPr>
          </a:p>
        </p:txBody>
      </p:sp>
      <p:sp>
        <p:nvSpPr>
          <p:cNvPr id="110" name="Google Shape;156;p8"/>
          <p:cNvSpPr/>
          <p:nvPr/>
        </p:nvSpPr>
        <p:spPr>
          <a:xfrm>
            <a:off x="320040" y="1069920"/>
            <a:ext cx="502560" cy="502560"/>
          </a:xfrm>
          <a:prstGeom prst="ellipse">
            <a:avLst/>
          </a:prstGeom>
          <a:solidFill>
            <a:srgbClr val="E53935"/>
          </a:solidFill>
          <a:ln w="0">
            <a:noFill/>
          </a:ln>
        </p:spPr>
        <p:style>
          <a:lnRef idx="0"/>
          <a:fillRef idx="0"/>
          <a:effectRef idx="0"/>
          <a:fontRef idx="minor"/>
        </p:style>
        <p:txBody>
          <a:bodyPr tIns="91440" bIns="91440" anchor="ctr">
            <a:noAutofit/>
          </a:bodyPr>
          <a:p>
            <a:endParaRPr lang="en-GB" sz="1400" b="0" u="none" strike="noStrike">
              <a:solidFill>
                <a:srgbClr val="FFFFFF"/>
              </a:solidFill>
              <a:effectLst/>
              <a:uFillTx/>
              <a:latin typeface="Arial"/>
            </a:endParaRPr>
          </a:p>
        </p:txBody>
      </p:sp>
      <p:sp>
        <p:nvSpPr>
          <p:cNvPr id="111" name="Google Shape;157;p8"/>
          <p:cNvSpPr/>
          <p:nvPr/>
        </p:nvSpPr>
        <p:spPr>
          <a:xfrm>
            <a:off x="320040" y="1069920"/>
            <a:ext cx="502560" cy="50256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1200" b="1" u="none" strike="noStrike">
                <a:solidFill>
                  <a:srgbClr val="FFFFFF"/>
                </a:solidFill>
                <a:effectLst/>
                <a:uFillTx/>
                <a:latin typeface="Calibri"/>
                <a:ea typeface="Calibri"/>
              </a:rPr>
              <a:t>01</a:t>
            </a:r>
            <a:endParaRPr lang="en-GB" sz="1200" b="0" u="none" strike="noStrike">
              <a:solidFill>
                <a:srgbClr val="FFFFFF"/>
              </a:solidFill>
              <a:effectLst/>
              <a:uFillTx/>
              <a:latin typeface="Arial"/>
            </a:endParaRPr>
          </a:p>
        </p:txBody>
      </p:sp>
      <p:sp>
        <p:nvSpPr>
          <p:cNvPr id="112" name="Google Shape;158;p8"/>
          <p:cNvSpPr/>
          <p:nvPr/>
        </p:nvSpPr>
        <p:spPr>
          <a:xfrm>
            <a:off x="960120" y="1051560"/>
            <a:ext cx="7863480" cy="2923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1" u="none" strike="noStrike">
                <a:solidFill>
                  <a:srgbClr val="E53935"/>
                </a:solidFill>
                <a:effectLst/>
                <a:uFillTx/>
                <a:latin typeface="Calibri"/>
                <a:ea typeface="Calibri"/>
              </a:rPr>
              <a:t>Precision Prevention (DNA-Led)</a:t>
            </a:r>
            <a:endParaRPr lang="en-GB" sz="1400" b="0" u="none" strike="noStrike">
              <a:solidFill>
                <a:srgbClr val="FFFFFF"/>
              </a:solidFill>
              <a:effectLst/>
              <a:uFillTx/>
              <a:latin typeface="Arial"/>
            </a:endParaRPr>
          </a:p>
        </p:txBody>
      </p:sp>
      <p:sp>
        <p:nvSpPr>
          <p:cNvPr id="113" name="Google Shape;159;p8"/>
          <p:cNvSpPr/>
          <p:nvPr/>
        </p:nvSpPr>
        <p:spPr>
          <a:xfrm>
            <a:off x="960120" y="1325880"/>
            <a:ext cx="7863480" cy="5025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150" b="0" u="none" strike="noStrike">
                <a:solidFill>
                  <a:srgbClr val="B8D0E8"/>
                </a:solidFill>
                <a:effectLst/>
                <a:uFillTx/>
                <a:latin typeface="Calibri"/>
                <a:ea typeface="Calibri"/>
              </a:rPr>
              <a:t>We must move away from generic prevention. By deploying targeted Home Fire Safety Visits (HFSVs) in Paddington (Residential DNA) and Business Audits in Soho (Commercial DNA), we align our outreach with the actual risk profile of the ground, ensuring maximum impact for every hour spent..</a:t>
            </a:r>
            <a:endParaRPr lang="en-GB" sz="1150" b="0" u="none" strike="noStrike">
              <a:solidFill>
                <a:srgbClr val="FFFFFF"/>
              </a:solidFill>
              <a:effectLst/>
              <a:uFillTx/>
              <a:latin typeface="Arial"/>
            </a:endParaRPr>
          </a:p>
        </p:txBody>
      </p:sp>
      <p:sp>
        <p:nvSpPr>
          <p:cNvPr id="114" name="Google Shape;160;p8"/>
          <p:cNvSpPr/>
          <p:nvPr/>
        </p:nvSpPr>
        <p:spPr>
          <a:xfrm>
            <a:off x="320040" y="2075760"/>
            <a:ext cx="502560" cy="502560"/>
          </a:xfrm>
          <a:prstGeom prst="ellipse">
            <a:avLst/>
          </a:prstGeom>
          <a:solidFill>
            <a:srgbClr val="F57C00"/>
          </a:solidFill>
          <a:ln w="0">
            <a:noFill/>
          </a:ln>
        </p:spPr>
        <p:style>
          <a:lnRef idx="0"/>
          <a:fillRef idx="0"/>
          <a:effectRef idx="0"/>
          <a:fontRef idx="minor"/>
        </p:style>
        <p:txBody>
          <a:bodyPr tIns="91440" bIns="91440" anchor="ctr">
            <a:noAutofit/>
          </a:bodyPr>
          <a:p>
            <a:endParaRPr lang="en-GB" sz="1400" b="0" u="none" strike="noStrike">
              <a:solidFill>
                <a:srgbClr val="FFFFFF"/>
              </a:solidFill>
              <a:effectLst/>
              <a:uFillTx/>
              <a:latin typeface="Arial"/>
            </a:endParaRPr>
          </a:p>
        </p:txBody>
      </p:sp>
      <p:sp>
        <p:nvSpPr>
          <p:cNvPr id="115" name="Google Shape;161;p8"/>
          <p:cNvSpPr/>
          <p:nvPr/>
        </p:nvSpPr>
        <p:spPr>
          <a:xfrm>
            <a:off x="320040" y="2075760"/>
            <a:ext cx="502560" cy="50256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1200" b="1" u="none" strike="noStrike">
                <a:solidFill>
                  <a:srgbClr val="FFFFFF"/>
                </a:solidFill>
                <a:effectLst/>
                <a:uFillTx/>
                <a:latin typeface="Calibri"/>
                <a:ea typeface="Calibri"/>
              </a:rPr>
              <a:t>02</a:t>
            </a:r>
            <a:endParaRPr lang="en-GB" sz="1200" b="0" u="none" strike="noStrike">
              <a:solidFill>
                <a:srgbClr val="FFFFFF"/>
              </a:solidFill>
              <a:effectLst/>
              <a:uFillTx/>
              <a:latin typeface="Arial"/>
            </a:endParaRPr>
          </a:p>
        </p:txBody>
      </p:sp>
      <p:sp>
        <p:nvSpPr>
          <p:cNvPr id="116" name="Google Shape;162;p8"/>
          <p:cNvSpPr/>
          <p:nvPr/>
        </p:nvSpPr>
        <p:spPr>
          <a:xfrm>
            <a:off x="960120" y="2057400"/>
            <a:ext cx="7863480" cy="2923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1" u="none" strike="noStrike">
                <a:solidFill>
                  <a:srgbClr val="F57C00"/>
                </a:solidFill>
                <a:effectLst/>
                <a:uFillTx/>
                <a:latin typeface="Calibri"/>
                <a:ea typeface="Calibri"/>
              </a:rPr>
              <a:t>Surge-Window Resource Readiness</a:t>
            </a:r>
            <a:endParaRPr lang="en-GB" sz="1400" b="0" u="none" strike="noStrike">
              <a:solidFill>
                <a:srgbClr val="FFFFFF"/>
              </a:solidFill>
              <a:effectLst/>
              <a:uFillTx/>
              <a:latin typeface="Arial"/>
            </a:endParaRPr>
          </a:p>
        </p:txBody>
      </p:sp>
      <p:sp>
        <p:nvSpPr>
          <p:cNvPr id="117" name="Google Shape;163;p8"/>
          <p:cNvSpPr/>
          <p:nvPr/>
        </p:nvSpPr>
        <p:spPr>
          <a:xfrm>
            <a:off x="960120" y="2384280"/>
            <a:ext cx="7863480" cy="5025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150" b="0" u="none" strike="noStrike">
                <a:solidFill>
                  <a:srgbClr val="B8D0E8"/>
                </a:solidFill>
                <a:effectLst/>
                <a:uFillTx/>
                <a:latin typeface="Calibri"/>
                <a:ea typeface="Calibri"/>
              </a:rPr>
              <a:t>The data identifies a critical high-pressure window between 16:00 and 20:00. By mandating that all non-essential training and administrative tasks are completed before 16:00, we guarantee 100% appliance availability during the daily peak, protecting our response "buffer."</a:t>
            </a:r>
            <a:endParaRPr lang="en-GB" sz="1150" b="0" u="none" strike="noStrike">
              <a:solidFill>
                <a:srgbClr val="FFFFFF"/>
              </a:solidFill>
              <a:effectLst/>
              <a:uFillTx/>
              <a:latin typeface="Arial"/>
            </a:endParaRPr>
          </a:p>
        </p:txBody>
      </p:sp>
      <p:sp>
        <p:nvSpPr>
          <p:cNvPr id="118" name="Google Shape;164;p8"/>
          <p:cNvSpPr/>
          <p:nvPr/>
        </p:nvSpPr>
        <p:spPr>
          <a:xfrm>
            <a:off x="320040" y="3081600"/>
            <a:ext cx="502560" cy="502560"/>
          </a:xfrm>
          <a:prstGeom prst="ellipse">
            <a:avLst/>
          </a:prstGeom>
          <a:solidFill>
            <a:srgbClr val="7B1FA2"/>
          </a:solidFill>
          <a:ln w="0">
            <a:noFill/>
          </a:ln>
        </p:spPr>
        <p:style>
          <a:lnRef idx="0"/>
          <a:fillRef idx="0"/>
          <a:effectRef idx="0"/>
          <a:fontRef idx="minor"/>
        </p:style>
        <p:txBody>
          <a:bodyPr tIns="91440" bIns="91440" anchor="ctr">
            <a:noAutofit/>
          </a:bodyPr>
          <a:p>
            <a:endParaRPr lang="en-GB" sz="1400" b="0" u="none" strike="noStrike">
              <a:solidFill>
                <a:srgbClr val="FFFFFF"/>
              </a:solidFill>
              <a:effectLst/>
              <a:uFillTx/>
              <a:latin typeface="Arial"/>
            </a:endParaRPr>
          </a:p>
        </p:txBody>
      </p:sp>
      <p:sp>
        <p:nvSpPr>
          <p:cNvPr id="119" name="Google Shape;165;p8"/>
          <p:cNvSpPr/>
          <p:nvPr/>
        </p:nvSpPr>
        <p:spPr>
          <a:xfrm>
            <a:off x="320040" y="3081600"/>
            <a:ext cx="502560" cy="50256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1200" b="1" u="none" strike="noStrike">
                <a:solidFill>
                  <a:srgbClr val="FFFFFF"/>
                </a:solidFill>
                <a:effectLst/>
                <a:uFillTx/>
                <a:latin typeface="Calibri"/>
                <a:ea typeface="Calibri"/>
              </a:rPr>
              <a:t>03</a:t>
            </a:r>
            <a:endParaRPr lang="en-GB" sz="1200" b="0" u="none" strike="noStrike">
              <a:solidFill>
                <a:srgbClr val="FFFFFF"/>
              </a:solidFill>
              <a:effectLst/>
              <a:uFillTx/>
              <a:latin typeface="Arial"/>
            </a:endParaRPr>
          </a:p>
        </p:txBody>
      </p:sp>
      <p:sp>
        <p:nvSpPr>
          <p:cNvPr id="120" name="Google Shape;166;p8"/>
          <p:cNvSpPr/>
          <p:nvPr/>
        </p:nvSpPr>
        <p:spPr>
          <a:xfrm>
            <a:off x="960120" y="3063240"/>
            <a:ext cx="7863480" cy="2923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1" u="none" strike="noStrike">
                <a:solidFill>
                  <a:srgbClr val="7B1FA2"/>
                </a:solidFill>
                <a:effectLst/>
                <a:uFillTx/>
                <a:latin typeface="Calibri"/>
                <a:ea typeface="Calibri"/>
              </a:rPr>
              <a:t>Refuse Mitigation Partnerships</a:t>
            </a:r>
            <a:endParaRPr lang="en-GB" sz="1400" b="0" u="none" strike="noStrike">
              <a:solidFill>
                <a:srgbClr val="FFFFFF"/>
              </a:solidFill>
              <a:effectLst/>
              <a:uFillTx/>
              <a:latin typeface="Arial"/>
            </a:endParaRPr>
          </a:p>
        </p:txBody>
      </p:sp>
      <p:sp>
        <p:nvSpPr>
          <p:cNvPr id="121" name="Google Shape;167;p8"/>
          <p:cNvSpPr/>
          <p:nvPr/>
        </p:nvSpPr>
        <p:spPr>
          <a:xfrm>
            <a:off x="960120" y="3337560"/>
            <a:ext cx="7863480" cy="5025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150" b="0" u="none" strike="noStrike">
                <a:solidFill>
                  <a:srgbClr val="B8D0E8"/>
                </a:solidFill>
                <a:effectLst/>
                <a:uFillTx/>
                <a:latin typeface="Calibri"/>
                <a:ea typeface="Calibri"/>
              </a:rPr>
              <a:t>Outdoor Structures (predominantly refuse) are our highest volume drivers. By partnering with Westminster Council to address waste management in identified hotspots, we can reduce these "nuisance" calls, reclaiming capacity and reducing appliance wear and tear for critical life-safety incidents.</a:t>
            </a:r>
            <a:endParaRPr lang="en-GB" sz="1150" b="0" u="none" strike="noStrike">
              <a:solidFill>
                <a:srgbClr val="FFFFFF"/>
              </a:solidFill>
              <a:effectLst/>
              <a:uFillTx/>
              <a:latin typeface="Arial"/>
            </a:endParaRPr>
          </a:p>
        </p:txBody>
      </p:sp>
      <p:sp>
        <p:nvSpPr>
          <p:cNvPr id="122" name="Google Shape;168;p8"/>
          <p:cNvSpPr/>
          <p:nvPr/>
        </p:nvSpPr>
        <p:spPr>
          <a:xfrm>
            <a:off x="320040" y="4087440"/>
            <a:ext cx="502560" cy="502560"/>
          </a:xfrm>
          <a:prstGeom prst="ellipse">
            <a:avLst/>
          </a:prstGeom>
          <a:solidFill>
            <a:srgbClr val="0288D1"/>
          </a:solidFill>
          <a:ln w="0">
            <a:noFill/>
          </a:ln>
        </p:spPr>
        <p:style>
          <a:lnRef idx="0"/>
          <a:fillRef idx="0"/>
          <a:effectRef idx="0"/>
          <a:fontRef idx="minor"/>
        </p:style>
        <p:txBody>
          <a:bodyPr tIns="91440" bIns="91440" anchor="ctr">
            <a:noAutofit/>
          </a:bodyPr>
          <a:p>
            <a:endParaRPr lang="en-GB" sz="1400" b="0" u="none" strike="noStrike">
              <a:solidFill>
                <a:srgbClr val="FFFFFF"/>
              </a:solidFill>
              <a:effectLst/>
              <a:uFillTx/>
              <a:latin typeface="Arial"/>
            </a:endParaRPr>
          </a:p>
        </p:txBody>
      </p:sp>
      <p:sp>
        <p:nvSpPr>
          <p:cNvPr id="123" name="Google Shape;169;p8"/>
          <p:cNvSpPr/>
          <p:nvPr/>
        </p:nvSpPr>
        <p:spPr>
          <a:xfrm>
            <a:off x="320040" y="4087440"/>
            <a:ext cx="502560" cy="50256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1200" b="1" u="none" strike="noStrike">
                <a:solidFill>
                  <a:srgbClr val="FFFFFF"/>
                </a:solidFill>
                <a:effectLst/>
                <a:uFillTx/>
                <a:latin typeface="Calibri"/>
                <a:ea typeface="Calibri"/>
              </a:rPr>
              <a:t>04</a:t>
            </a:r>
            <a:endParaRPr lang="en-GB" sz="1200" b="0" u="none" strike="noStrike">
              <a:solidFill>
                <a:srgbClr val="FFFFFF"/>
              </a:solidFill>
              <a:effectLst/>
              <a:uFillTx/>
              <a:latin typeface="Arial"/>
            </a:endParaRPr>
          </a:p>
        </p:txBody>
      </p:sp>
      <p:sp>
        <p:nvSpPr>
          <p:cNvPr id="124" name="Google Shape;170;p8"/>
          <p:cNvSpPr/>
          <p:nvPr/>
        </p:nvSpPr>
        <p:spPr>
          <a:xfrm>
            <a:off x="960120" y="4069080"/>
            <a:ext cx="7863480" cy="2923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1" u="none" strike="noStrike">
                <a:solidFill>
                  <a:srgbClr val="0288D1"/>
                </a:solidFill>
                <a:effectLst/>
                <a:uFillTx/>
                <a:latin typeface="Calibri"/>
                <a:ea typeface="Calibri"/>
              </a:rPr>
              <a:t>Scaling Operational Excellence</a:t>
            </a:r>
            <a:endParaRPr lang="en-GB" sz="1400" b="0" u="none" strike="noStrike">
              <a:solidFill>
                <a:srgbClr val="FFFFFF"/>
              </a:solidFill>
              <a:effectLst/>
              <a:uFillTx/>
              <a:latin typeface="Arial"/>
            </a:endParaRPr>
          </a:p>
        </p:txBody>
      </p:sp>
      <p:sp>
        <p:nvSpPr>
          <p:cNvPr id="125" name="Google Shape;171;p8"/>
          <p:cNvSpPr/>
          <p:nvPr/>
        </p:nvSpPr>
        <p:spPr>
          <a:xfrm>
            <a:off x="960120" y="4378320"/>
            <a:ext cx="7863480" cy="5025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150" b="0" u="none" strike="noStrike">
                <a:solidFill>
                  <a:srgbClr val="B8D0E8"/>
                </a:solidFill>
                <a:effectLst/>
                <a:uFillTx/>
                <a:latin typeface="Calibri"/>
                <a:ea typeface="Calibri"/>
              </a:rPr>
              <a:t>Paddington and Soho are consistently beating the 360-second target despite extreme demand. As an Improvement Technician, I recommend standardising their turnout protocols as a "best practice" blueprint to improve performance at stations currently facing attendance gaps.</a:t>
            </a:r>
            <a:endParaRPr lang="en-GB" sz="1150" b="0" u="none" strike="noStrike">
              <a:solidFill>
                <a:srgbClr val="FFFFFF"/>
              </a:solidFill>
              <a:effectLst/>
              <a:uFillTx/>
              <a:latin typeface="Arial"/>
            </a:endParaRPr>
          </a:p>
        </p:txBody>
      </p:sp>
      <p:sp>
        <p:nvSpPr>
          <p:cNvPr id="126" name="Google Shape;172;p8"/>
          <p:cNvSpPr/>
          <p:nvPr/>
        </p:nvSpPr>
        <p:spPr>
          <a:xfrm>
            <a:off x="320040" y="4867200"/>
            <a:ext cx="8503560" cy="273960"/>
          </a:xfrm>
          <a:prstGeom prst="rect">
            <a:avLst/>
          </a:prstGeom>
          <a:noFill/>
          <a:ln w="0">
            <a:noFill/>
          </a:ln>
        </p:spPr>
        <p:style>
          <a:lnRef idx="0"/>
          <a:fillRef idx="0"/>
          <a:effectRef idx="0"/>
          <a:fontRef idx="minor"/>
        </p:style>
        <p:txBody>
          <a:bodyPr anchor="ctr">
            <a:noAutofit/>
          </a:bodyPr>
          <a:p>
            <a:pPr algn="ctr">
              <a:lnSpc>
                <a:spcPct val="100000"/>
              </a:lnSpc>
              <a:tabLst>
                <a:tab pos="0" algn="l"/>
              </a:tabLst>
            </a:pPr>
            <a:r>
              <a:rPr lang="en-US" sz="900" b="0" u="none" strike="noStrike">
                <a:solidFill>
                  <a:srgbClr val="506070"/>
                </a:solidFill>
                <a:effectLst/>
                <a:uFillTx/>
                <a:latin typeface="Calibri"/>
                <a:ea typeface="Calibri"/>
              </a:rPr>
              <a:t>Dataset: LFB Open Data (31,250 cleaned records)  •  Focus: Westminster Hub Analysis  •  Goal: Data-driven operational improvement &amp; capacity reclamation</a:t>
            </a:r>
            <a:endParaRPr lang="en-GB" sz="900" b="0" u="none" strike="noStrike">
              <a:solidFill>
                <a:srgbClr val="FFFFFF"/>
              </a:solidFill>
              <a:effectLst/>
              <a:uFillTx/>
              <a:latin typeface="Arial"/>
            </a:endParaRPr>
          </a:p>
        </p:txBody>
      </p:sp>
      <p:sp>
        <p:nvSpPr>
          <p:cNvPr id="127" name="Google Shape;173;p8"/>
          <p:cNvSpPr/>
          <p:nvPr/>
        </p:nvSpPr>
        <p:spPr>
          <a:xfrm>
            <a:off x="367560" y="502920"/>
            <a:ext cx="8229240" cy="4568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300" b="0" u="none" strike="noStrike">
                <a:solidFill>
                  <a:srgbClr val="9BB8D0"/>
                </a:solidFill>
                <a:effectLst/>
                <a:uFillTx/>
                <a:latin typeface="Calibri"/>
                <a:ea typeface="Calibri"/>
              </a:rPr>
              <a:t>Data-driven initiatives to enhance life safety and operational efficiency</a:t>
            </a:r>
            <a:endParaRPr lang="en-GB"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LibreOffice/26.2.1.2$Windows_X86_64 LibreOffice_project/620$Build-2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2026-04-06T00:00:13Z</dcterms:created>
  <dc:creator>Data Analysis Assignment</dc:creator>
  <dc:description/>
  <dc:language>en-GB</dc:language>
  <cp:lastModifiedBy/>
  <dcterms:modified xsi:type="dcterms:W3CDTF">2026-04-16T23:44:28Z</dcterms:modified>
  <cp:revision>2</cp:revision>
  <dc:subject/>
  <dc:title/>
</cp:coreProperties>
</file>