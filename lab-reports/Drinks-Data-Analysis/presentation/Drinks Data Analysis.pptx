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5143500" cy="9144000"/>
  <p:embeddedFontLst>
    <p:embeddedFont>
      <p:font typeface="Roboto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gRDi5RExoPcSCjC7uq7hvm+wyt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646939-882D-4A10-A2DC-D37454F488B9}">
  <a:tblStyle styleId="{83646939-882D-4A10-A2DC-D37454F488B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bold.fntdata"/><Relationship Id="rId14" Type="http://schemas.openxmlformats.org/officeDocument/2006/relationships/font" Target="fonts/RobotoMono-regular.fntdata"/><Relationship Id="rId17" Type="http://schemas.openxmlformats.org/officeDocument/2006/relationships/font" Target="fonts/RobotoMono-boldItalic.fntdata"/><Relationship Id="rId16"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Moving into the data preparation phase, I identified several inconsistencies in the raw dataset that would have compromised the accuracy of my final analysis. Specifically, the 'Market' column used both 'United Kingdom' and 'UK' interchangeably.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Instead of performing a manual 'Find and Replace', which is prone to human error and isn't repeatable, I implemented the </a:t>
            </a:r>
            <a:r>
              <a:rPr b="1" lang="en-US" sz="1100">
                <a:latin typeface="Arial"/>
                <a:ea typeface="Arial"/>
                <a:cs typeface="Arial"/>
                <a:sym typeface="Arial"/>
              </a:rPr>
              <a:t>ARRAYFORMULA</a:t>
            </a:r>
            <a:r>
              <a:rPr lang="en-US" sz="1100">
                <a:latin typeface="Arial"/>
                <a:ea typeface="Arial"/>
                <a:cs typeface="Arial"/>
                <a:sym typeface="Arial"/>
              </a:rPr>
              <a:t> seen here. I chose this approach for three key reasons: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First, Scalability:</a:t>
            </a:r>
            <a:r>
              <a:rPr lang="en-US" sz="1100">
                <a:latin typeface="Arial"/>
                <a:ea typeface="Arial"/>
                <a:cs typeface="Arial"/>
                <a:sym typeface="Arial"/>
              </a:rPr>
              <a:t> By using the range </a:t>
            </a:r>
            <a:r>
              <a:rPr lang="en-US" sz="1100">
                <a:solidFill>
                  <a:srgbClr val="188038"/>
                </a:solidFill>
                <a:latin typeface="Roboto Mono"/>
                <a:ea typeface="Roboto Mono"/>
                <a:cs typeface="Roboto Mono"/>
                <a:sym typeface="Roboto Mono"/>
              </a:rPr>
              <a:t>C2:C</a:t>
            </a:r>
            <a:r>
              <a:rPr lang="en-US" sz="1100">
                <a:latin typeface="Arial"/>
                <a:ea typeface="Arial"/>
                <a:cs typeface="Arial"/>
                <a:sym typeface="Arial"/>
              </a:rPr>
              <a:t>, this formula automatically applies the logic to every new row added to the sheet. This creates a 'dynamic' cleaning process that grows with the dataset.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Second, Data Integrity:</a:t>
            </a:r>
            <a:r>
              <a:rPr lang="en-US" sz="1100">
                <a:latin typeface="Arial"/>
                <a:ea typeface="Arial"/>
                <a:cs typeface="Arial"/>
                <a:sym typeface="Arial"/>
              </a:rPr>
              <a:t> I utilized a nested </a:t>
            </a:r>
            <a:r>
              <a:rPr b="1" lang="en-US" sz="1100">
                <a:latin typeface="Arial"/>
                <a:ea typeface="Arial"/>
                <a:cs typeface="Arial"/>
                <a:sym typeface="Arial"/>
              </a:rPr>
              <a:t>IFS</a:t>
            </a:r>
            <a:r>
              <a:rPr lang="en-US" sz="1100">
                <a:latin typeface="Arial"/>
                <a:ea typeface="Arial"/>
                <a:cs typeface="Arial"/>
                <a:sym typeface="Arial"/>
              </a:rPr>
              <a:t> statement. By setting the final argument to </a:t>
            </a:r>
            <a:r>
              <a:rPr lang="en-US" sz="1100">
                <a:solidFill>
                  <a:srgbClr val="188038"/>
                </a:solidFill>
                <a:latin typeface="Roboto Mono"/>
                <a:ea typeface="Roboto Mono"/>
                <a:cs typeface="Roboto Mono"/>
                <a:sym typeface="Roboto Mono"/>
              </a:rPr>
              <a:t>TRUE, C2:C</a:t>
            </a:r>
            <a:r>
              <a:rPr lang="en-US" sz="1100">
                <a:latin typeface="Arial"/>
                <a:ea typeface="Arial"/>
                <a:cs typeface="Arial"/>
                <a:sym typeface="Arial"/>
              </a:rPr>
              <a:t>, I created a 'catch-all'. This ensures that while 'United Kingdom' is corrected to 'UK', all other valid markets—like France or Germany—remain untouched and preserved.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Third, Standardisation:</a:t>
            </a:r>
            <a:r>
              <a:rPr lang="en-US" sz="1100">
                <a:latin typeface="Arial"/>
                <a:ea typeface="Arial"/>
                <a:cs typeface="Arial"/>
                <a:sym typeface="Arial"/>
              </a:rPr>
              <a:t> Standardising to the shorter 'UK' string ensures that my downstream visualisations, such as bar charts and pivot tables, remain clean and professional without duplicate categories.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By establishing this 'single source of truth' at the cleaning stage, I ensured that the trends and patterns I'll discuss in the next few slides are based on 100% validated data.</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slide provides a macro-view of our two primary brands. What we see here is a classic 'Volume vs. Efficiency' trade-off.</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Brand Cola is our powerhouse; it moves the most units and brings in the most total cash. However, our manual yield analysis reveals that Brand Fruit is actually more efficient, earning £1.52 for every bottle sold compared to Cola’s £1.50.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While the simple average unit price across the portfolio is £1.52, a weighted average analysis (Total Revenue / Total Volume) reveals that the Fruit range achieves a higher true yield (£1.52) than the Cola range (£1.50).</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means that while Cola is our current leader, there is a significant opportunity to grow our total profit if we can apply Cola's high sales volume to the more efficient Fruit portfolio</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This analysis correlates unit volume against total revenue across two distinct product lines: Brand Cola and Brand Fruit . The data reveals that while fruit-based flavours drive market reach, the cola-based portfolio delivers superior financial returns per unit sold.</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Key Insights –</a:t>
            </a:r>
            <a:br>
              <a:rPr lang="en-US" sz="1100">
                <a:latin typeface="Arial"/>
                <a:ea typeface="Arial"/>
                <a:cs typeface="Arial"/>
                <a:sym typeface="Arial"/>
              </a:rPr>
            </a:br>
            <a:br>
              <a:rPr lang="en-US" sz="1100">
                <a:latin typeface="Arial"/>
                <a:ea typeface="Arial"/>
                <a:cs typeface="Arial"/>
                <a:sym typeface="Arial"/>
              </a:rPr>
            </a:br>
            <a:r>
              <a:rPr lang="en-US" sz="1300">
                <a:latin typeface="Arial"/>
                <a:ea typeface="Arial"/>
                <a:cs typeface="Arial"/>
                <a:sym typeface="Arial"/>
              </a:rPr>
              <a:t>Strategic Observations</a:t>
            </a:r>
            <a:endParaRPr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Brand Cola (Value Driver): These flavours are the "Margin Leaders." Even lower-volume variants like Vanilla maintain a relatively high revenue line, suggesting high brand loyalty and price inelasticity.</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Brand Fruit (Volume Driver): This line (Standard, Orange, Strawberry, Lemon &amp; Lime) is positioned as a mass-market offering. While essential for overall market share, these flavours operate on lower unit margins.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Growth Recommendation: To maximise profitability, marketing efforts should focus on the Brand Cola range, specifically leveraging the success of Cherry to "halo" the other premium cola variants.</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analysis evaluates the global footprint of the product portfolio by comparing total sales volume against regional unit yield.</a:t>
            </a:r>
            <a:endParaRPr sz="1100">
              <a:latin typeface="Arial"/>
              <a:ea typeface="Arial"/>
              <a:cs typeface="Arial"/>
              <a:sym typeface="Arial"/>
            </a:endParaRPr>
          </a:p>
          <a:p>
            <a:pPr indent="0" lvl="0" marL="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While Spain and Ireland act as the primary engines for market reach—contributing our highest unit volumes—the UK distinguishes itself as the most profitable territory per transaction. The data suggests a clear correlation between the UK's high Average Unit Price (£1.68) and the successful penetration of the premium Brand Cola range.</a:t>
            </a:r>
            <a:endParaRPr sz="1100">
              <a:latin typeface="Arial"/>
              <a:ea typeface="Arial"/>
              <a:cs typeface="Arial"/>
              <a:sym typeface="Arial"/>
            </a:endParaRPr>
          </a:p>
          <a:p>
            <a:pPr indent="0" lvl="0" marL="0" marR="381000" rtl="0" algn="l">
              <a:lnSpc>
                <a:spcPct val="115000"/>
              </a:lnSpc>
              <a:spcBef>
                <a:spcPts val="1200"/>
              </a:spcBef>
              <a:spcAft>
                <a:spcPts val="0"/>
              </a:spcAft>
              <a:buSzPts val="1100"/>
              <a:buNone/>
            </a:pPr>
            <a:r>
              <a:rPr lang="en-US" sz="1100">
                <a:latin typeface="Arial"/>
                <a:ea typeface="Arial"/>
                <a:cs typeface="Arial"/>
                <a:sym typeface="Arial"/>
              </a:rPr>
              <a:t>This highlights a proven model for high-margin growth that could be replicated in lower-yield regions such as Germany and Italy.</a:t>
            </a:r>
            <a:endParaRPr sz="1100">
              <a:latin typeface="Arial"/>
              <a:ea typeface="Arial"/>
              <a:cs typeface="Arial"/>
              <a:sym typeface="Arial"/>
            </a:endParaRPr>
          </a:p>
          <a:p>
            <a:pPr indent="0" lvl="0" marL="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Strat insight -</a:t>
            </a:r>
            <a:r>
              <a:rPr lang="en-US" sz="1300">
                <a:latin typeface="Arial"/>
                <a:ea typeface="Arial"/>
                <a:cs typeface="Arial"/>
                <a:sym typeface="Arial"/>
              </a:rPr>
              <a:t> </a:t>
            </a:r>
            <a:r>
              <a:rPr lang="en-US" sz="1100">
                <a:latin typeface="Arial"/>
                <a:ea typeface="Arial"/>
                <a:cs typeface="Arial"/>
                <a:sym typeface="Arial"/>
              </a:rPr>
              <a:t>To increase profitability in high-volume but lower-yield markets like Germany and Italy, the business should pivot its marketing strategy toward the premium Brand Cola range, mirroring the successful high-margin model established in the UK.</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19" name="Google Shape;11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Moving from our high-level brand and regional overviews, this slide identifies the 'Top 5' individual product-market combinations. By drilling down into this data, we can identify exactly which specific products are generating our highest returns.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Leadership of Normal Cola: The top spot is held by Normal Cola in Spain, which generated £3,734. This is a significant finding because it achieves this lead while maintaining a premium unit cost of £1.92. It proves that in the right market, our consumers are not price-sensitive and will pay a premium for a core product.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Regional Strength: Ireland and the UK: We see a strong showing from Ireland, with both Cherry and Lemon Cola appearing in the top four. Together, these two products alone contribute over £6,300 in revenue. Additionally, the presence of Standard and Strawberry Fruit in the UK highlights that our Fruit brand achieves its best financial performance through high-volume sales in the British market.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'Cola' Dominance (Lightbulb Insight): As highlighted by the insight at the bottom of the slide, three of our top five revenue earners are Cola-based products. This further reinforces the brand's position as the 'profit engine' of the portfolio.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Strategic Takeaway: These top five products alone account for a disproportionate amount of our total revenue. Strategically, this confirms that our growth is currently driven by a concentrated group of 'Hero' products. Future expansion should look to replicate the success of these specific SKU-Market pairings in our other territories.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30" name="Google Shape;1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Introduction</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conclude our analysis, I have synthesised our findings into four strategic pillars that define the current health and future direction of the product portfolio. These insights move us beyond raw data and into actionable business strategy.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1. Portfolio Anchor: Brand Cola</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Firstly, the data confirms Brand Cola as our primary market anchor. It accounts for 52.7% of all units sold and generates over half of our total revenue. This is a critical finding because it proves that the Cola range has the strongest 'consumer pull' and should remain the focus of our core marketing spend.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2. Regional Powerhouses: Spain &amp; Ireland</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Geographically, our revenue is highly concentrated. Spain and Ireland are our standout performers, contributing nearly 40% of our total turnover despite representing only two of our six active markets. This suggests that our brand resonance is highest in these regions, providing a perfect 'blueprint' for how we might scale operations in Italy and Germany.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3. Product Hero: </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 the flavour level, Cherry is our undisputed 'Hero Product,' leading the portfolio with over 9,300 units sold. Conversely, the weaker performance of Vanilla suggests that we are currently over-invested in a low-engagement flavour. My recommendation here is to reallocate promotional resources from Vanilla toward Cherry to further capitalise on its existing momentum.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4. Pricing Power: The Spain Case Study</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Finally, we have debunked the idea that higher prices naturally lead to lower volumes. In Spain, our Normal Cola achieved the highest single-product revenue at a premium price of £1.92. This proves that 'Price Elasticity' exists in our portfolio; when the market conditions and product-fit are right, customers are willing to pay a premium. This justifies a shift toward higher-margin strategies across our other territories.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Final Verdict</a:t>
            </a:r>
            <a:endParaRPr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summary: the business is currently driven by a high-volume Cola core and high-yield regional pockets. Our path to growth isn't necessarily about finding new customers, but about replicating the £1.92 premium model and the Cherry flavour success across our entire geographic footprint. Thank you for your time.</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40" name="Google Shape;14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1"/>
          <p:cNvSpPr/>
          <p:nvPr/>
        </p:nvSpPr>
        <p:spPr>
          <a:xfrm>
            <a:off x="0" y="0"/>
            <a:ext cx="182880" cy="5143500"/>
          </a:xfrm>
          <a:prstGeom prst="rect">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498080" y="-731520"/>
            <a:ext cx="3200400" cy="3200400"/>
          </a:xfrm>
          <a:prstGeom prst="ellipse">
            <a:avLst/>
          </a:prstGeom>
          <a:solidFill>
            <a:srgbClr val="1565C0">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046720" y="3200400"/>
            <a:ext cx="2286000" cy="2286000"/>
          </a:xfrm>
          <a:prstGeom prst="ellipse">
            <a:avLst/>
          </a:prstGeom>
          <a:solidFill>
            <a:srgbClr val="0288D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57200" y="457200"/>
            <a:ext cx="2560320" cy="365760"/>
          </a:xfrm>
          <a:prstGeom prst="roundRect">
            <a:avLst>
              <a:gd fmla="val 12500" name="adj"/>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7200" y="457200"/>
            <a:ext cx="2560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NCFE Level 2 Data Analysis</a:t>
            </a:r>
            <a:endParaRPr b="0" i="0" sz="1100" u="none" cap="none" strike="noStrike">
              <a:solidFill>
                <a:schemeClr val="dk1"/>
              </a:solidFill>
              <a:latin typeface="Calibri"/>
              <a:ea typeface="Calibri"/>
              <a:cs typeface="Calibri"/>
              <a:sym typeface="Calibri"/>
            </a:endParaRPr>
          </a:p>
        </p:txBody>
      </p:sp>
      <p:sp>
        <p:nvSpPr>
          <p:cNvPr id="21" name="Google Shape;21;p1"/>
          <p:cNvSpPr/>
          <p:nvPr/>
        </p:nvSpPr>
        <p:spPr>
          <a:xfrm>
            <a:off x="457200" y="1188720"/>
            <a:ext cx="6400800" cy="2011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Drinks Sales</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Data Analysis</a:t>
            </a:r>
            <a:endParaRPr b="0" i="0" sz="5200" u="none" cap="none" strike="noStrike">
              <a:solidFill>
                <a:schemeClr val="dk1"/>
              </a:solidFill>
              <a:latin typeface="Calibri"/>
              <a:ea typeface="Calibri"/>
              <a:cs typeface="Calibri"/>
              <a:sym typeface="Calibri"/>
            </a:endParaRPr>
          </a:p>
        </p:txBody>
      </p:sp>
      <p:sp>
        <p:nvSpPr>
          <p:cNvPr id="22" name="Google Shape;22;p1"/>
          <p:cNvSpPr/>
          <p:nvPr/>
        </p:nvSpPr>
        <p:spPr>
          <a:xfrm>
            <a:off x="457200" y="3108960"/>
            <a:ext cx="5943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8D0"/>
              </a:buClr>
              <a:buSzPts val="1500"/>
              <a:buFont typeface="Calibri"/>
              <a:buNone/>
            </a:pPr>
            <a:r>
              <a:rPr b="0" i="0" lang="en-US" sz="1500" u="none" cap="none" strike="noStrike">
                <a:solidFill>
                  <a:srgbClr val="A0B8D0"/>
                </a:solidFill>
                <a:latin typeface="Calibri"/>
                <a:ea typeface="Calibri"/>
                <a:cs typeface="Calibri"/>
                <a:sym typeface="Calibri"/>
              </a:rPr>
              <a:t>An exploration of sales performance across brands, flavours and markets</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457200" y="3931920"/>
            <a:ext cx="8229600" cy="731520"/>
          </a:xfrm>
          <a:prstGeom prst="rect">
            <a:avLst/>
          </a:prstGeom>
          <a:solidFill>
            <a:srgbClr val="1565C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40080" y="3931920"/>
            <a:ext cx="80467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61,458  </a:t>
            </a:r>
            <a:r>
              <a:rPr b="0" i="0" lang="en-US" sz="1200" u="none" cap="none" strike="noStrike">
                <a:solidFill>
                  <a:srgbClr val="A0B8D0"/>
                </a:solidFill>
                <a:latin typeface="Calibri"/>
                <a:ea typeface="Calibri"/>
                <a:cs typeface="Calibri"/>
                <a:sym typeface="Calibri"/>
              </a:rPr>
              <a:t>Total Units     </a:t>
            </a:r>
            <a:r>
              <a:rPr b="1" i="0" lang="en-US" sz="1300" u="none" cap="none" strike="noStrike">
                <a:solidFill>
                  <a:srgbClr val="FFFFFF"/>
                </a:solidFill>
                <a:latin typeface="Calibri"/>
                <a:ea typeface="Calibri"/>
                <a:cs typeface="Calibri"/>
                <a:sym typeface="Calibri"/>
              </a:rPr>
              <a:t>£92,699  </a:t>
            </a:r>
            <a:r>
              <a:rPr b="0" i="0" lang="en-US" sz="1200" u="none" cap="none" strike="noStrike">
                <a:solidFill>
                  <a:srgbClr val="A0B8D0"/>
                </a:solidFill>
                <a:latin typeface="Calibri"/>
                <a:ea typeface="Calibri"/>
                <a:cs typeface="Calibri"/>
                <a:sym typeface="Calibri"/>
              </a:rPr>
              <a:t>Total Revenue     </a:t>
            </a:r>
            <a:r>
              <a:rPr b="1" i="0" lang="en-US" sz="1300" u="none" cap="none" strike="noStrike">
                <a:solidFill>
                  <a:srgbClr val="FFFFFF"/>
                </a:solidFill>
                <a:latin typeface="Calibri"/>
                <a:ea typeface="Calibri"/>
                <a:cs typeface="Calibri"/>
                <a:sym typeface="Calibri"/>
              </a:rPr>
              <a:t>2  </a:t>
            </a:r>
            <a:r>
              <a:rPr b="0" i="0" lang="en-US" sz="1200" u="none" cap="none" strike="noStrike">
                <a:solidFill>
                  <a:srgbClr val="A0B8D0"/>
                </a:solidFill>
                <a:latin typeface="Calibri"/>
                <a:ea typeface="Calibri"/>
                <a:cs typeface="Calibri"/>
                <a:sym typeface="Calibri"/>
              </a:rPr>
              <a:t>Brands     </a:t>
            </a:r>
            <a:r>
              <a:rPr b="1" i="0" lang="en-US" sz="1300" u="none" cap="none" strike="noStrike">
                <a:solidFill>
                  <a:srgbClr val="FFFFFF"/>
                </a:solidFill>
                <a:latin typeface="Calibri"/>
                <a:ea typeface="Calibri"/>
                <a:cs typeface="Calibri"/>
                <a:sym typeface="Calibri"/>
              </a:rPr>
              <a:t>6  </a:t>
            </a:r>
            <a:r>
              <a:rPr b="0" i="0" lang="en-US" sz="1200" u="none" cap="none" strike="noStrike">
                <a:solidFill>
                  <a:srgbClr val="A0B8D0"/>
                </a:solidFill>
                <a:latin typeface="Calibri"/>
                <a:ea typeface="Calibri"/>
                <a:cs typeface="Calibri"/>
                <a:sym typeface="Calibri"/>
              </a:rPr>
              <a:t>Markets     </a:t>
            </a:r>
            <a:r>
              <a:rPr b="1" i="0" lang="en-US" sz="1300" u="none" cap="none" strike="noStrike">
                <a:solidFill>
                  <a:srgbClr val="FFFFFF"/>
                </a:solidFill>
                <a:latin typeface="Calibri"/>
                <a:ea typeface="Calibri"/>
                <a:cs typeface="Calibri"/>
                <a:sym typeface="Calibri"/>
              </a:rPr>
              <a:t>8  </a:t>
            </a:r>
            <a:r>
              <a:rPr b="0" i="0" lang="en-US" sz="1200" u="none" cap="none" strike="noStrike">
                <a:solidFill>
                  <a:srgbClr val="A0B8D0"/>
                </a:solidFill>
                <a:latin typeface="Calibri"/>
                <a:ea typeface="Calibri"/>
                <a:cs typeface="Calibri"/>
                <a:sym typeface="Calibri"/>
              </a:rPr>
              <a:t>Flavours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9" name="Shape 29"/>
        <p:cNvGrpSpPr/>
        <p:nvPr/>
      </p:nvGrpSpPr>
      <p:grpSpPr>
        <a:xfrm>
          <a:off x="0" y="0"/>
          <a:ext cx="0" cy="0"/>
          <a:chOff x="0" y="0"/>
          <a:chExt cx="0" cy="0"/>
        </a:xfrm>
      </p:grpSpPr>
      <p:sp>
        <p:nvSpPr>
          <p:cNvPr id="30" name="Google Shape;30;p2"/>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0" y="0"/>
            <a:ext cx="137160" cy="5143500"/>
          </a:xfrm>
          <a:prstGeom prst="rect">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20040" y="0"/>
            <a:ext cx="6400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Data Cleaning</a:t>
            </a:r>
            <a:endParaRPr b="0" i="0" sz="3000" u="none" cap="none" strike="noStrike">
              <a:solidFill>
                <a:schemeClr val="dk1"/>
              </a:solidFill>
              <a:latin typeface="Calibri"/>
              <a:ea typeface="Calibri"/>
              <a:cs typeface="Calibri"/>
              <a:sym typeface="Calibri"/>
            </a:endParaRPr>
          </a:p>
        </p:txBody>
      </p:sp>
      <p:sp>
        <p:nvSpPr>
          <p:cNvPr id="33" name="Google Shape;33;p2"/>
          <p:cNvSpPr/>
          <p:nvPr/>
        </p:nvSpPr>
        <p:spPr>
          <a:xfrm>
            <a:off x="320040" y="50292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B8D0"/>
              </a:buClr>
              <a:buSzPts val="1300"/>
              <a:buFont typeface="Calibri"/>
              <a:buNone/>
            </a:pPr>
            <a:r>
              <a:rPr b="0" i="0" lang="en-US" sz="1300" u="none" cap="none" strike="noStrike">
                <a:solidFill>
                  <a:srgbClr val="9BB8D0"/>
                </a:solidFill>
                <a:latin typeface="Calibri"/>
                <a:ea typeface="Calibri"/>
                <a:cs typeface="Calibri"/>
                <a:sym typeface="Calibri"/>
              </a:rPr>
              <a:t>Errors found &amp; corrected before analysis</a:t>
            </a:r>
            <a:endParaRPr b="0" i="0" sz="1300" u="none" cap="none" strike="noStrike">
              <a:solidFill>
                <a:schemeClr val="dk1"/>
              </a:solidFill>
              <a:latin typeface="Calibri"/>
              <a:ea typeface="Calibri"/>
              <a:cs typeface="Calibri"/>
              <a:sym typeface="Calibri"/>
            </a:endParaRPr>
          </a:p>
        </p:txBody>
      </p:sp>
      <p:sp>
        <p:nvSpPr>
          <p:cNvPr id="34" name="Google Shape;34;p2"/>
          <p:cNvSpPr/>
          <p:nvPr/>
        </p:nvSpPr>
        <p:spPr>
          <a:xfrm>
            <a:off x="320040" y="1143000"/>
            <a:ext cx="4023360" cy="16002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320040" y="1143000"/>
            <a:ext cx="109728" cy="1600200"/>
          </a:xfrm>
          <a:prstGeom prst="rect">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21208" y="12344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3935"/>
              </a:buClr>
              <a:buSzPts val="1300"/>
              <a:buFont typeface="Calibri"/>
              <a:buNone/>
            </a:pPr>
            <a:r>
              <a:rPr b="1" i="0" lang="en-US" sz="1300" u="none" cap="none" strike="noStrike">
                <a:solidFill>
                  <a:srgbClr val="E53935"/>
                </a:solidFill>
                <a:latin typeface="Calibri"/>
                <a:ea typeface="Calibri"/>
                <a:cs typeface="Calibri"/>
                <a:sym typeface="Calibri"/>
              </a:rPr>
              <a:t>Brand Typo</a:t>
            </a:r>
            <a:endParaRPr b="0" i="0" sz="1300" u="none" cap="none" strike="noStrike">
              <a:solidFill>
                <a:schemeClr val="dk1"/>
              </a:solidFill>
              <a:latin typeface="Calibri"/>
              <a:ea typeface="Calibri"/>
              <a:cs typeface="Calibri"/>
              <a:sym typeface="Calibri"/>
            </a:endParaRPr>
          </a:p>
        </p:txBody>
      </p:sp>
      <p:sp>
        <p:nvSpPr>
          <p:cNvPr id="37" name="Google Shape;37;p2"/>
          <p:cNvSpPr/>
          <p:nvPr/>
        </p:nvSpPr>
        <p:spPr>
          <a:xfrm>
            <a:off x="521208" y="1532701"/>
            <a:ext cx="3657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'Coke' entered instead of 'Cola'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'Fruity' entered instead of 'Fruit'</a:t>
            </a:r>
            <a:endParaRPr b="0" i="0" sz="1100" u="none" cap="none" strike="noStrike">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lang="en-US" sz="1100">
                <a:solidFill>
                  <a:srgbClr val="666666"/>
                </a:solidFill>
                <a:latin typeface="Courier New"/>
                <a:ea typeface="Courier New"/>
                <a:cs typeface="Courier New"/>
                <a:sym typeface="Courier New"/>
              </a:rPr>
              <a:t>=ARRAYFORMULA(IFS(A2:A="Coke", "Cola", A2:A="Fruity", "Fruit", TRUE, A2:A))</a:t>
            </a:r>
            <a:endParaRPr sz="1100">
              <a:solidFill>
                <a:srgbClr val="1A202C"/>
              </a:solidFill>
              <a:latin typeface="Calibri"/>
              <a:ea typeface="Calibri"/>
              <a:cs typeface="Calibri"/>
              <a:sym typeface="Calibri"/>
            </a:endParaRPr>
          </a:p>
        </p:txBody>
      </p:sp>
      <p:sp>
        <p:nvSpPr>
          <p:cNvPr id="38" name="Google Shape;38;p2"/>
          <p:cNvSpPr/>
          <p:nvPr/>
        </p:nvSpPr>
        <p:spPr>
          <a:xfrm>
            <a:off x="521208" y="205740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0" i="0" lang="en-US" sz="1100" u="none" cap="none" strike="noStrike">
                <a:solidFill>
                  <a:srgbClr val="2E7D32"/>
                </a:solidFill>
                <a:latin typeface="Calibri"/>
                <a:ea typeface="Calibri"/>
                <a:cs typeface="Calibri"/>
                <a:sym typeface="Calibri"/>
              </a:rPr>
              <a:t>✔  Corrected to 'Cola' and 'Fruit'</a:t>
            </a:r>
            <a:endParaRPr b="0" i="0" sz="1100" u="none" cap="none" strike="noStrike">
              <a:solidFill>
                <a:schemeClr val="dk1"/>
              </a:solidFill>
              <a:latin typeface="Calibri"/>
              <a:ea typeface="Calibri"/>
              <a:cs typeface="Calibri"/>
              <a:sym typeface="Calibri"/>
            </a:endParaRPr>
          </a:p>
        </p:txBody>
      </p:sp>
      <p:sp>
        <p:nvSpPr>
          <p:cNvPr id="39" name="Google Shape;39;p2"/>
          <p:cNvSpPr/>
          <p:nvPr/>
        </p:nvSpPr>
        <p:spPr>
          <a:xfrm>
            <a:off x="4663440" y="1143000"/>
            <a:ext cx="4023360" cy="16002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663440" y="1143000"/>
            <a:ext cx="109728" cy="1600200"/>
          </a:xfrm>
          <a:prstGeom prst="rect">
            <a:avLst/>
          </a:pr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864608" y="12344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7C00"/>
              </a:buClr>
              <a:buSzPts val="1300"/>
              <a:buFont typeface="Calibri"/>
              <a:buNone/>
            </a:pPr>
            <a:r>
              <a:rPr b="1" i="0" lang="en-US" sz="1300" u="none" cap="none" strike="noStrike">
                <a:solidFill>
                  <a:srgbClr val="F57C00"/>
                </a:solidFill>
                <a:latin typeface="Calibri"/>
                <a:ea typeface="Calibri"/>
                <a:cs typeface="Calibri"/>
                <a:sym typeface="Calibri"/>
              </a:rPr>
              <a:t>Flavour Abbreviation</a:t>
            </a:r>
            <a:endParaRPr b="0" i="0" sz="1300" u="none" cap="none" strike="noStrike">
              <a:solidFill>
                <a:schemeClr val="dk1"/>
              </a:solidFill>
              <a:latin typeface="Calibri"/>
              <a:ea typeface="Calibri"/>
              <a:cs typeface="Calibri"/>
              <a:sym typeface="Calibri"/>
            </a:endParaRPr>
          </a:p>
        </p:txBody>
      </p:sp>
      <p:sp>
        <p:nvSpPr>
          <p:cNvPr id="42" name="Google Shape;42;p2"/>
          <p:cNvSpPr/>
          <p:nvPr/>
        </p:nvSpPr>
        <p:spPr>
          <a:xfrm>
            <a:off x="4864608" y="1532701"/>
            <a:ext cx="3657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'Che' used instead of 'Cherry'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'Lem' used instead of 'Lemon'</a:t>
            </a:r>
            <a:endParaRPr b="0" i="0" sz="1100" u="none" cap="none" strike="noStrike">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lang="en-US" sz="1100">
                <a:solidFill>
                  <a:srgbClr val="666666"/>
                </a:solidFill>
                <a:latin typeface="Courier New"/>
                <a:ea typeface="Courier New"/>
                <a:cs typeface="Courier New"/>
                <a:sym typeface="Courier New"/>
              </a:rPr>
              <a:t>=ARRAYFORMULA(IFS(B2:B="Che", "Cherry", B2:B="Lem", "Lemon", TRUE, B2:B))</a:t>
            </a:r>
            <a:endParaRPr sz="1100">
              <a:solidFill>
                <a:srgbClr val="1A202C"/>
              </a:solidFill>
              <a:latin typeface="Calibri"/>
              <a:ea typeface="Calibri"/>
              <a:cs typeface="Calibri"/>
              <a:sym typeface="Calibri"/>
            </a:endParaRPr>
          </a:p>
        </p:txBody>
      </p:sp>
      <p:sp>
        <p:nvSpPr>
          <p:cNvPr id="43" name="Google Shape;43;p2"/>
          <p:cNvSpPr/>
          <p:nvPr/>
        </p:nvSpPr>
        <p:spPr>
          <a:xfrm>
            <a:off x="4864608" y="205740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0" i="0" lang="en-US" sz="1100" u="none" cap="none" strike="noStrike">
                <a:solidFill>
                  <a:srgbClr val="2E7D32"/>
                </a:solidFill>
                <a:latin typeface="Calibri"/>
                <a:ea typeface="Calibri"/>
                <a:cs typeface="Calibri"/>
                <a:sym typeface="Calibri"/>
              </a:rPr>
              <a:t>✔  Expanded to full flavour names</a:t>
            </a:r>
            <a:endParaRPr b="0" i="0" sz="1100" u="none" cap="none" strike="noStrike">
              <a:solidFill>
                <a:schemeClr val="dk1"/>
              </a:solidFill>
              <a:latin typeface="Calibri"/>
              <a:ea typeface="Calibri"/>
              <a:cs typeface="Calibri"/>
              <a:sym typeface="Calibri"/>
            </a:endParaRPr>
          </a:p>
        </p:txBody>
      </p:sp>
      <p:sp>
        <p:nvSpPr>
          <p:cNvPr id="44" name="Google Shape;44;p2"/>
          <p:cNvSpPr/>
          <p:nvPr/>
        </p:nvSpPr>
        <p:spPr>
          <a:xfrm>
            <a:off x="320040" y="2926080"/>
            <a:ext cx="4023360" cy="16002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20040" y="2926080"/>
            <a:ext cx="109728" cy="1600200"/>
          </a:xfrm>
          <a:prstGeom prst="rect">
            <a:avLst/>
          </a:prstGeom>
          <a:solidFill>
            <a:srgbClr val="7B1F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21208" y="30175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1FA2"/>
              </a:buClr>
              <a:buSzPts val="1300"/>
              <a:buFont typeface="Calibri"/>
              <a:buNone/>
            </a:pPr>
            <a:r>
              <a:rPr b="1" i="0" lang="en-US" sz="1300" u="none" cap="none" strike="noStrike">
                <a:solidFill>
                  <a:srgbClr val="7B1FA2"/>
                </a:solidFill>
                <a:latin typeface="Calibri"/>
                <a:ea typeface="Calibri"/>
                <a:cs typeface="Calibri"/>
                <a:sym typeface="Calibri"/>
              </a:rPr>
              <a:t>Market Inconsistency</a:t>
            </a:r>
            <a:endParaRPr b="0" i="0" sz="1300" u="none" cap="none" strike="noStrike">
              <a:solidFill>
                <a:schemeClr val="dk1"/>
              </a:solidFill>
              <a:latin typeface="Calibri"/>
              <a:ea typeface="Calibri"/>
              <a:cs typeface="Calibri"/>
              <a:sym typeface="Calibri"/>
            </a:endParaRPr>
          </a:p>
        </p:txBody>
      </p:sp>
      <p:sp>
        <p:nvSpPr>
          <p:cNvPr id="47" name="Google Shape;47;p2"/>
          <p:cNvSpPr/>
          <p:nvPr/>
        </p:nvSpPr>
        <p:spPr>
          <a:xfrm>
            <a:off x="521208" y="3308743"/>
            <a:ext cx="3657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'United Kingdom' and 'UK' used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for the same market</a:t>
            </a:r>
            <a:endParaRPr sz="1100">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lang="en-US" sz="1100">
                <a:solidFill>
                  <a:srgbClr val="666666"/>
                </a:solidFill>
                <a:latin typeface="Courier New"/>
                <a:ea typeface="Courier New"/>
                <a:cs typeface="Courier New"/>
                <a:sym typeface="Courier New"/>
              </a:rPr>
              <a:t>=ARRAYFORMULA(IFS(C2:C="United Kingdom", "UK", TRUE, C2:C))</a:t>
            </a:r>
            <a:endParaRPr sz="1100">
              <a:solidFill>
                <a:srgbClr val="666666"/>
              </a:solidFill>
              <a:latin typeface="Courier New"/>
              <a:ea typeface="Courier New"/>
              <a:cs typeface="Courier New"/>
              <a:sym typeface="Courier New"/>
            </a:endParaRPr>
          </a:p>
        </p:txBody>
      </p:sp>
      <p:sp>
        <p:nvSpPr>
          <p:cNvPr id="48" name="Google Shape;48;p2"/>
          <p:cNvSpPr/>
          <p:nvPr/>
        </p:nvSpPr>
        <p:spPr>
          <a:xfrm>
            <a:off x="521208" y="384048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0" i="0" lang="en-US" sz="1100" u="none" cap="none" strike="noStrike">
                <a:solidFill>
                  <a:srgbClr val="2E7D32"/>
                </a:solidFill>
                <a:latin typeface="Calibri"/>
                <a:ea typeface="Calibri"/>
                <a:cs typeface="Calibri"/>
                <a:sym typeface="Calibri"/>
              </a:rPr>
              <a:t>✔  Standardised to 'UK' throughout</a:t>
            </a:r>
            <a:endParaRPr b="0" i="0" sz="1100" u="none" cap="none" strike="noStrike">
              <a:solidFill>
                <a:schemeClr val="dk1"/>
              </a:solidFill>
              <a:latin typeface="Calibri"/>
              <a:ea typeface="Calibri"/>
              <a:cs typeface="Calibri"/>
              <a:sym typeface="Calibri"/>
            </a:endParaRPr>
          </a:p>
        </p:txBody>
      </p:sp>
      <p:sp>
        <p:nvSpPr>
          <p:cNvPr id="49" name="Google Shape;49;p2"/>
          <p:cNvSpPr/>
          <p:nvPr/>
        </p:nvSpPr>
        <p:spPr>
          <a:xfrm>
            <a:off x="4663440" y="2926080"/>
            <a:ext cx="4023360" cy="160020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663440" y="2926080"/>
            <a:ext cx="109728" cy="1600200"/>
          </a:xfrm>
          <a:prstGeom prst="rect">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864608" y="30175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300"/>
              <a:buFont typeface="Calibri"/>
              <a:buNone/>
            </a:pPr>
            <a:r>
              <a:rPr b="1" i="0" lang="en-US" sz="1300" u="none" cap="none" strike="noStrike">
                <a:solidFill>
                  <a:srgbClr val="2E7D32"/>
                </a:solidFill>
                <a:latin typeface="Calibri"/>
                <a:ea typeface="Calibri"/>
                <a:cs typeface="Calibri"/>
                <a:sym typeface="Calibri"/>
              </a:rPr>
              <a:t>Data Types</a:t>
            </a:r>
            <a:endParaRPr b="0" i="0" sz="1300" u="none" cap="none" strike="noStrike">
              <a:solidFill>
                <a:schemeClr val="dk1"/>
              </a:solidFill>
              <a:latin typeface="Calibri"/>
              <a:ea typeface="Calibri"/>
              <a:cs typeface="Calibri"/>
              <a:sym typeface="Calibri"/>
            </a:endParaRPr>
          </a:p>
        </p:txBody>
      </p:sp>
      <p:sp>
        <p:nvSpPr>
          <p:cNvPr id="52" name="Google Shape;52;p2"/>
          <p:cNvSpPr/>
          <p:nvPr/>
        </p:nvSpPr>
        <p:spPr>
          <a:xfrm>
            <a:off x="4864608" y="3273552"/>
            <a:ext cx="3657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Units Sold stored as </a:t>
            </a:r>
            <a:r>
              <a:rPr lang="en-US" sz="1100">
                <a:solidFill>
                  <a:srgbClr val="1A202C"/>
                </a:solidFill>
                <a:latin typeface="Calibri"/>
                <a:ea typeface="Calibri"/>
                <a:cs typeface="Calibri"/>
                <a:sym typeface="Calibri"/>
              </a:rPr>
              <a:t>text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b="0" i="0" lang="en-US" sz="1100" u="none" cap="none" strike="noStrike">
                <a:solidFill>
                  <a:srgbClr val="1A202C"/>
                </a:solidFill>
                <a:latin typeface="Calibri"/>
                <a:ea typeface="Calibri"/>
                <a:cs typeface="Calibri"/>
                <a:sym typeface="Calibri"/>
              </a:rPr>
              <a:t>Unit Cost stored as </a:t>
            </a:r>
            <a:r>
              <a:rPr lang="en-US" sz="1100">
                <a:solidFill>
                  <a:srgbClr val="1A202C"/>
                </a:solidFill>
                <a:latin typeface="Calibri"/>
                <a:ea typeface="Calibri"/>
                <a:cs typeface="Calibri"/>
                <a:sym typeface="Calibri"/>
              </a:rPr>
              <a:t>text</a:t>
            </a:r>
            <a:endParaRPr b="0" i="0" sz="1100" u="none" cap="none" strike="noStrike">
              <a:solidFill>
                <a:schemeClr val="dk1"/>
              </a:solidFill>
              <a:latin typeface="Calibri"/>
              <a:ea typeface="Calibri"/>
              <a:cs typeface="Calibri"/>
              <a:sym typeface="Calibri"/>
            </a:endParaRPr>
          </a:p>
        </p:txBody>
      </p:sp>
      <p:sp>
        <p:nvSpPr>
          <p:cNvPr id="53" name="Google Shape;53;p2"/>
          <p:cNvSpPr/>
          <p:nvPr/>
        </p:nvSpPr>
        <p:spPr>
          <a:xfrm>
            <a:off x="4864608" y="3840480"/>
            <a:ext cx="3657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0" i="0" lang="en-US" sz="1100" u="none" cap="none" strike="noStrike">
                <a:solidFill>
                  <a:srgbClr val="2E7D32"/>
                </a:solidFill>
                <a:latin typeface="Calibri"/>
                <a:ea typeface="Calibri"/>
                <a:cs typeface="Calibri"/>
                <a:sym typeface="Calibri"/>
              </a:rPr>
              <a:t>✔  Converted to numbers for calculations</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320040" y="4800600"/>
            <a:ext cx="8503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4 data quality issues resolved • Dataset ready for analysis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59" name="Shape 59"/>
        <p:cNvGrpSpPr/>
        <p:nvPr/>
      </p:nvGrpSpPr>
      <p:grpSpPr>
        <a:xfrm>
          <a:off x="0" y="0"/>
          <a:ext cx="0" cy="0"/>
          <a:chOff x="0" y="0"/>
          <a:chExt cx="0" cy="0"/>
        </a:xfrm>
      </p:grpSpPr>
      <p:sp>
        <p:nvSpPr>
          <p:cNvPr id="60" name="Google Shape;60;p3"/>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0" y="0"/>
            <a:ext cx="137160" cy="5143500"/>
          </a:xfrm>
          <a:prstGeom prst="rect">
            <a:avLst/>
          </a:prstGeom>
          <a:solidFill>
            <a:srgbClr val="028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20040" y="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Key Statistics at a Glance</a:t>
            </a:r>
            <a:endParaRPr b="0" i="0" sz="3000" u="none" cap="none" strike="noStrike">
              <a:solidFill>
                <a:schemeClr val="dk1"/>
              </a:solidFill>
              <a:latin typeface="Calibri"/>
              <a:ea typeface="Calibri"/>
              <a:cs typeface="Calibri"/>
              <a:sym typeface="Calibri"/>
            </a:endParaRPr>
          </a:p>
        </p:txBody>
      </p:sp>
      <p:sp>
        <p:nvSpPr>
          <p:cNvPr id="63" name="Google Shape;63;p3"/>
          <p:cNvSpPr/>
          <p:nvPr/>
        </p:nvSpPr>
        <p:spPr>
          <a:xfrm>
            <a:off x="274320" y="109728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274320" y="1097280"/>
            <a:ext cx="2743200" cy="73152"/>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274320" y="120700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C0"/>
              </a:buClr>
              <a:buSzPts val="3200"/>
              <a:buFont typeface="Calibri"/>
              <a:buNone/>
            </a:pPr>
            <a:r>
              <a:rPr b="1" i="0" lang="en-US" sz="3200" u="none" cap="none" strike="noStrike">
                <a:solidFill>
                  <a:srgbClr val="1565C0"/>
                </a:solidFill>
                <a:latin typeface="Calibri"/>
                <a:ea typeface="Calibri"/>
                <a:cs typeface="Calibri"/>
                <a:sym typeface="Calibri"/>
              </a:rPr>
              <a:t>61,458</a:t>
            </a:r>
            <a:endParaRPr b="0" i="0" sz="3200" u="none" cap="none" strike="noStrike">
              <a:solidFill>
                <a:schemeClr val="dk1"/>
              </a:solidFill>
              <a:latin typeface="Calibri"/>
              <a:ea typeface="Calibri"/>
              <a:cs typeface="Calibri"/>
              <a:sym typeface="Calibri"/>
            </a:endParaRPr>
          </a:p>
        </p:txBody>
      </p:sp>
      <p:sp>
        <p:nvSpPr>
          <p:cNvPr id="66" name="Google Shape;66;p3"/>
          <p:cNvSpPr/>
          <p:nvPr/>
        </p:nvSpPr>
        <p:spPr>
          <a:xfrm>
            <a:off x="274320" y="184708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Total Units Sold</a:t>
            </a:r>
            <a:endParaRPr b="0" i="0" sz="1300" u="none" cap="none" strike="noStrike">
              <a:solidFill>
                <a:schemeClr val="dk1"/>
              </a:solidFill>
              <a:latin typeface="Calibri"/>
              <a:ea typeface="Calibri"/>
              <a:cs typeface="Calibri"/>
              <a:sym typeface="Calibri"/>
            </a:endParaRPr>
          </a:p>
        </p:txBody>
      </p:sp>
      <p:sp>
        <p:nvSpPr>
          <p:cNvPr id="67" name="Google Shape;67;p3"/>
          <p:cNvSpPr/>
          <p:nvPr/>
        </p:nvSpPr>
        <p:spPr>
          <a:xfrm>
            <a:off x="274320" y="21488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Across all brands, flavours &amp; markets</a:t>
            </a:r>
            <a:endParaRPr b="0" i="0" sz="1000" u="none" cap="none" strike="noStrike">
              <a:solidFill>
                <a:schemeClr val="dk1"/>
              </a:solidFill>
              <a:latin typeface="Calibri"/>
              <a:ea typeface="Calibri"/>
              <a:cs typeface="Calibri"/>
              <a:sym typeface="Calibri"/>
            </a:endParaRPr>
          </a:p>
        </p:txBody>
      </p:sp>
      <p:sp>
        <p:nvSpPr>
          <p:cNvPr id="68" name="Google Shape;68;p3"/>
          <p:cNvSpPr/>
          <p:nvPr/>
        </p:nvSpPr>
        <p:spPr>
          <a:xfrm>
            <a:off x="3200400" y="109728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3200400" y="1097280"/>
            <a:ext cx="2743200" cy="73152"/>
          </a:xfrm>
          <a:prstGeom prst="rect">
            <a:avLst/>
          </a:prstGeom>
          <a:solidFill>
            <a:srgbClr val="028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200400" y="120700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8D1"/>
              </a:buClr>
              <a:buSzPts val="3200"/>
              <a:buFont typeface="Calibri"/>
              <a:buNone/>
            </a:pPr>
            <a:r>
              <a:rPr b="1" i="0" lang="en-US" sz="3200" u="none" cap="none" strike="noStrike">
                <a:solidFill>
                  <a:srgbClr val="0288D1"/>
                </a:solidFill>
                <a:latin typeface="Calibri"/>
                <a:ea typeface="Calibri"/>
                <a:cs typeface="Calibri"/>
                <a:sym typeface="Calibri"/>
              </a:rPr>
              <a:t>£92,</a:t>
            </a:r>
            <a:r>
              <a:rPr b="1" i="0" lang="en-US" sz="3200" u="none" cap="none" strike="noStrike">
                <a:solidFill>
                  <a:srgbClr val="0288D1"/>
                </a:solidFill>
                <a:latin typeface="Calibri"/>
                <a:ea typeface="Calibri"/>
                <a:cs typeface="Calibri"/>
                <a:sym typeface="Calibri"/>
              </a:rPr>
              <a:t>699</a:t>
            </a:r>
            <a:endParaRPr b="0" i="0" sz="3200" u="none" cap="none" strike="noStrike">
              <a:solidFill>
                <a:schemeClr val="dk1"/>
              </a:solidFill>
              <a:latin typeface="Calibri"/>
              <a:ea typeface="Calibri"/>
              <a:cs typeface="Calibri"/>
              <a:sym typeface="Calibri"/>
            </a:endParaRPr>
          </a:p>
        </p:txBody>
      </p:sp>
      <p:sp>
        <p:nvSpPr>
          <p:cNvPr id="71" name="Google Shape;71;p3"/>
          <p:cNvSpPr/>
          <p:nvPr/>
        </p:nvSpPr>
        <p:spPr>
          <a:xfrm>
            <a:off x="3200400" y="184708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Total Revenue</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3200400" y="21488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Combined revenue from all sales</a:t>
            </a:r>
            <a:endParaRPr b="0" i="0" sz="1000" u="none" cap="none" strike="noStrike">
              <a:solidFill>
                <a:schemeClr val="dk1"/>
              </a:solidFill>
              <a:latin typeface="Calibri"/>
              <a:ea typeface="Calibri"/>
              <a:cs typeface="Calibri"/>
              <a:sym typeface="Calibri"/>
            </a:endParaRPr>
          </a:p>
        </p:txBody>
      </p:sp>
      <p:sp>
        <p:nvSpPr>
          <p:cNvPr id="73" name="Google Shape;73;p3"/>
          <p:cNvSpPr/>
          <p:nvPr/>
        </p:nvSpPr>
        <p:spPr>
          <a:xfrm>
            <a:off x="6126480" y="109728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6126480" y="1097280"/>
            <a:ext cx="2743200" cy="73152"/>
          </a:xfrm>
          <a:prstGeom prst="rect">
            <a:avLst/>
          </a:pr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126480" y="120700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7C00"/>
              </a:buClr>
              <a:buSzPts val="3200"/>
              <a:buFont typeface="Calibri"/>
              <a:buNone/>
            </a:pPr>
            <a:r>
              <a:rPr b="1" i="0" lang="en-US" sz="3200" u="none" cap="none" strike="noStrike">
                <a:solidFill>
                  <a:srgbClr val="F57C00"/>
                </a:solidFill>
                <a:latin typeface="Calibri"/>
                <a:ea typeface="Calibri"/>
                <a:cs typeface="Calibri"/>
                <a:sym typeface="Calibri"/>
              </a:rPr>
              <a:t>£1.5</a:t>
            </a:r>
            <a:r>
              <a:rPr b="1" lang="en-US" sz="3200">
                <a:solidFill>
                  <a:srgbClr val="F57C00"/>
                </a:solidFill>
                <a:latin typeface="Calibri"/>
                <a:ea typeface="Calibri"/>
                <a:cs typeface="Calibri"/>
                <a:sym typeface="Calibri"/>
              </a:rPr>
              <a:t>2</a:t>
            </a:r>
            <a:endParaRPr b="0" i="0" sz="3200" u="none" cap="none" strike="noStrike">
              <a:solidFill>
                <a:schemeClr val="dk1"/>
              </a:solidFill>
              <a:latin typeface="Calibri"/>
              <a:ea typeface="Calibri"/>
              <a:cs typeface="Calibri"/>
              <a:sym typeface="Calibri"/>
            </a:endParaRPr>
          </a:p>
        </p:txBody>
      </p:sp>
      <p:sp>
        <p:nvSpPr>
          <p:cNvPr id="76" name="Google Shape;76;p3"/>
          <p:cNvSpPr/>
          <p:nvPr/>
        </p:nvSpPr>
        <p:spPr>
          <a:xfrm>
            <a:off x="6126480" y="184708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Avg. Unit Cost</a:t>
            </a:r>
            <a:endParaRPr b="0" i="0" sz="1300" u="none" cap="none" strike="noStrike">
              <a:solidFill>
                <a:schemeClr val="dk1"/>
              </a:solidFill>
              <a:latin typeface="Calibri"/>
              <a:ea typeface="Calibri"/>
              <a:cs typeface="Calibri"/>
              <a:sym typeface="Calibri"/>
            </a:endParaRPr>
          </a:p>
        </p:txBody>
      </p:sp>
      <p:sp>
        <p:nvSpPr>
          <p:cNvPr id="77" name="Google Shape;77;p3"/>
          <p:cNvSpPr/>
          <p:nvPr/>
        </p:nvSpPr>
        <p:spPr>
          <a:xfrm>
            <a:off x="6126480" y="214884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Average price across all products</a:t>
            </a:r>
            <a:endParaRPr b="0" i="0" sz="1000" u="none" cap="none" strike="noStrike">
              <a:solidFill>
                <a:schemeClr val="dk1"/>
              </a:solidFill>
              <a:latin typeface="Calibri"/>
              <a:ea typeface="Calibri"/>
              <a:cs typeface="Calibri"/>
              <a:sym typeface="Calibri"/>
            </a:endParaRPr>
          </a:p>
        </p:txBody>
      </p:sp>
      <p:sp>
        <p:nvSpPr>
          <p:cNvPr id="78" name="Google Shape;78;p3"/>
          <p:cNvSpPr/>
          <p:nvPr/>
        </p:nvSpPr>
        <p:spPr>
          <a:xfrm>
            <a:off x="274320" y="297180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274320" y="2971800"/>
            <a:ext cx="2743200" cy="73152"/>
          </a:xfrm>
          <a:prstGeom prst="rect">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274320" y="308152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3935"/>
              </a:buClr>
              <a:buSzPts val="3200"/>
              <a:buFont typeface="Calibri"/>
              <a:buNone/>
            </a:pPr>
            <a:r>
              <a:rPr b="1" i="0" lang="en-US" sz="3200" u="none" cap="none" strike="noStrike">
                <a:solidFill>
                  <a:srgbClr val="E53935"/>
                </a:solidFill>
                <a:latin typeface="Calibri"/>
                <a:ea typeface="Calibri"/>
                <a:cs typeface="Calibri"/>
                <a:sym typeface="Calibri"/>
              </a:rPr>
              <a:t>Spain</a:t>
            </a:r>
            <a:endParaRPr b="0" i="0" sz="3200" u="none" cap="none" strike="noStrike">
              <a:solidFill>
                <a:schemeClr val="dk1"/>
              </a:solidFill>
              <a:latin typeface="Calibri"/>
              <a:ea typeface="Calibri"/>
              <a:cs typeface="Calibri"/>
              <a:sym typeface="Calibri"/>
            </a:endParaRPr>
          </a:p>
        </p:txBody>
      </p:sp>
      <p:sp>
        <p:nvSpPr>
          <p:cNvPr id="81" name="Google Shape;81;p3"/>
          <p:cNvSpPr/>
          <p:nvPr/>
        </p:nvSpPr>
        <p:spPr>
          <a:xfrm>
            <a:off x="274320" y="372160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Top Market</a:t>
            </a:r>
            <a:endParaRPr b="0" i="0" sz="1300" u="none" cap="none" strike="noStrike">
              <a:solidFill>
                <a:schemeClr val="dk1"/>
              </a:solidFill>
              <a:latin typeface="Calibri"/>
              <a:ea typeface="Calibri"/>
              <a:cs typeface="Calibri"/>
              <a:sym typeface="Calibri"/>
            </a:endParaRPr>
          </a:p>
        </p:txBody>
      </p:sp>
      <p:sp>
        <p:nvSpPr>
          <p:cNvPr id="82" name="Google Shape;82;p3"/>
          <p:cNvSpPr/>
          <p:nvPr/>
        </p:nvSpPr>
        <p:spPr>
          <a:xfrm>
            <a:off x="274320" y="40233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Highest revenue — £18,510</a:t>
            </a:r>
            <a:endParaRPr b="0" i="0" sz="1000" u="none" cap="none" strike="noStrike">
              <a:solidFill>
                <a:schemeClr val="dk1"/>
              </a:solidFill>
              <a:latin typeface="Calibri"/>
              <a:ea typeface="Calibri"/>
              <a:cs typeface="Calibri"/>
              <a:sym typeface="Calibri"/>
            </a:endParaRPr>
          </a:p>
        </p:txBody>
      </p:sp>
      <p:sp>
        <p:nvSpPr>
          <p:cNvPr id="83" name="Google Shape;83;p3"/>
          <p:cNvSpPr/>
          <p:nvPr/>
        </p:nvSpPr>
        <p:spPr>
          <a:xfrm>
            <a:off x="3200400" y="297180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3200400" y="2971800"/>
            <a:ext cx="2743200" cy="73152"/>
          </a:xfrm>
          <a:prstGeom prst="rect">
            <a:avLst/>
          </a:prstGeom>
          <a:solidFill>
            <a:srgbClr val="7B1F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3200400" y="308152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1FA2"/>
              </a:buClr>
              <a:buSzPts val="3200"/>
              <a:buFont typeface="Calibri"/>
              <a:buNone/>
            </a:pPr>
            <a:r>
              <a:rPr b="1" i="0" lang="en-US" sz="3200" u="none" cap="none" strike="noStrike">
                <a:solidFill>
                  <a:srgbClr val="7B1FA2"/>
                </a:solidFill>
                <a:latin typeface="Calibri"/>
                <a:ea typeface="Calibri"/>
                <a:cs typeface="Calibri"/>
                <a:sym typeface="Calibri"/>
              </a:rPr>
              <a:t>Cherry</a:t>
            </a:r>
            <a:endParaRPr b="0" i="0" sz="3200" u="none" cap="none" strike="noStrike">
              <a:solidFill>
                <a:schemeClr val="dk1"/>
              </a:solidFill>
              <a:latin typeface="Calibri"/>
              <a:ea typeface="Calibri"/>
              <a:cs typeface="Calibri"/>
              <a:sym typeface="Calibri"/>
            </a:endParaRPr>
          </a:p>
        </p:txBody>
      </p:sp>
      <p:sp>
        <p:nvSpPr>
          <p:cNvPr id="86" name="Google Shape;86;p3"/>
          <p:cNvSpPr/>
          <p:nvPr/>
        </p:nvSpPr>
        <p:spPr>
          <a:xfrm>
            <a:off x="3200400" y="372160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Best-Selling Flavour</a:t>
            </a:r>
            <a:endParaRPr b="0" i="0" sz="1300" u="none" cap="none" strike="noStrike">
              <a:solidFill>
                <a:schemeClr val="dk1"/>
              </a:solidFill>
              <a:latin typeface="Calibri"/>
              <a:ea typeface="Calibri"/>
              <a:cs typeface="Calibri"/>
              <a:sym typeface="Calibri"/>
            </a:endParaRPr>
          </a:p>
        </p:txBody>
      </p:sp>
      <p:sp>
        <p:nvSpPr>
          <p:cNvPr id="87" name="Google Shape;87;p3"/>
          <p:cNvSpPr/>
          <p:nvPr/>
        </p:nvSpPr>
        <p:spPr>
          <a:xfrm>
            <a:off x="3200400" y="40233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9,302 units sold in total</a:t>
            </a:r>
            <a:endParaRPr b="0" i="0" sz="1000" u="none" cap="none" strike="noStrike">
              <a:solidFill>
                <a:schemeClr val="dk1"/>
              </a:solidFill>
              <a:latin typeface="Calibri"/>
              <a:ea typeface="Calibri"/>
              <a:cs typeface="Calibri"/>
              <a:sym typeface="Calibri"/>
            </a:endParaRPr>
          </a:p>
        </p:txBody>
      </p:sp>
      <p:sp>
        <p:nvSpPr>
          <p:cNvPr id="88" name="Google Shape;88;p3"/>
          <p:cNvSpPr/>
          <p:nvPr/>
        </p:nvSpPr>
        <p:spPr>
          <a:xfrm>
            <a:off x="6126480" y="2971800"/>
            <a:ext cx="2743200" cy="1691640"/>
          </a:xfrm>
          <a:prstGeom prst="rect">
            <a:avLst/>
          </a:prstGeom>
          <a:solidFill>
            <a:srgbClr val="FFFFFF"/>
          </a:solidFill>
          <a:ln>
            <a:noFill/>
          </a:ln>
          <a:effectLst>
            <a:outerShdw blurRad="762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6126480" y="2971800"/>
            <a:ext cx="2743200" cy="73152"/>
          </a:xfrm>
          <a:prstGeom prst="rect">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6126480" y="3081528"/>
            <a:ext cx="27432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3200"/>
              <a:buFont typeface="Calibri"/>
              <a:buNone/>
            </a:pPr>
            <a:r>
              <a:rPr b="1" i="0" lang="en-US" sz="3200" u="none" cap="none" strike="noStrike">
                <a:solidFill>
                  <a:srgbClr val="2E7D32"/>
                </a:solidFill>
                <a:latin typeface="Calibri"/>
                <a:ea typeface="Calibri"/>
                <a:cs typeface="Calibri"/>
                <a:sym typeface="Calibri"/>
              </a:rPr>
              <a:t>Cola</a:t>
            </a:r>
            <a:endParaRPr b="0" i="0" sz="3200" u="none" cap="none" strike="noStrike">
              <a:solidFill>
                <a:schemeClr val="dk1"/>
              </a:solidFill>
              <a:latin typeface="Calibri"/>
              <a:ea typeface="Calibri"/>
              <a:cs typeface="Calibri"/>
              <a:sym typeface="Calibri"/>
            </a:endParaRPr>
          </a:p>
        </p:txBody>
      </p:sp>
      <p:sp>
        <p:nvSpPr>
          <p:cNvPr id="91" name="Google Shape;91;p3"/>
          <p:cNvSpPr/>
          <p:nvPr/>
        </p:nvSpPr>
        <p:spPr>
          <a:xfrm>
            <a:off x="6126480" y="3721608"/>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02C"/>
              </a:buClr>
              <a:buSzPts val="1300"/>
              <a:buFont typeface="Calibri"/>
              <a:buNone/>
            </a:pPr>
            <a:r>
              <a:rPr b="1" i="0" lang="en-US" sz="1300" u="none" cap="none" strike="noStrike">
                <a:solidFill>
                  <a:srgbClr val="1A202C"/>
                </a:solidFill>
                <a:latin typeface="Calibri"/>
                <a:ea typeface="Calibri"/>
                <a:cs typeface="Calibri"/>
                <a:sym typeface="Calibri"/>
              </a:rPr>
              <a:t>Leading Brand</a:t>
            </a:r>
            <a:endParaRPr b="0" i="0" sz="1300" u="none" cap="none" strike="noStrike">
              <a:solidFill>
                <a:schemeClr val="dk1"/>
              </a:solidFill>
              <a:latin typeface="Calibri"/>
              <a:ea typeface="Calibri"/>
              <a:cs typeface="Calibri"/>
              <a:sym typeface="Calibri"/>
            </a:endParaRPr>
          </a:p>
        </p:txBody>
      </p:sp>
      <p:sp>
        <p:nvSpPr>
          <p:cNvPr id="92" name="Google Shape;92;p3"/>
          <p:cNvSpPr/>
          <p:nvPr/>
        </p:nvSpPr>
        <p:spPr>
          <a:xfrm>
            <a:off x="6126480" y="40233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1000"/>
              <a:buFont typeface="Calibri"/>
              <a:buNone/>
            </a:pPr>
            <a:r>
              <a:rPr b="0" i="0" lang="en-US" sz="1000" u="none" cap="none" strike="noStrike">
                <a:solidFill>
                  <a:srgbClr val="607080"/>
                </a:solidFill>
                <a:latin typeface="Calibri"/>
                <a:ea typeface="Calibri"/>
                <a:cs typeface="Calibri"/>
                <a:sym typeface="Calibri"/>
              </a:rPr>
              <a:t>52.</a:t>
            </a:r>
            <a:r>
              <a:rPr lang="en-US" sz="1000">
                <a:solidFill>
                  <a:srgbClr val="607080"/>
                </a:solidFill>
                <a:latin typeface="Calibri"/>
                <a:ea typeface="Calibri"/>
                <a:cs typeface="Calibri"/>
                <a:sym typeface="Calibri"/>
              </a:rPr>
              <a:t>7%</a:t>
            </a:r>
            <a:r>
              <a:rPr b="0" i="0" lang="en-US" sz="1000" u="none" cap="none" strike="noStrike">
                <a:solidFill>
                  <a:srgbClr val="607080"/>
                </a:solidFill>
                <a:latin typeface="Calibri"/>
                <a:ea typeface="Calibri"/>
                <a:cs typeface="Calibri"/>
                <a:sym typeface="Calibri"/>
              </a:rPr>
              <a:t> of total units sold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7" name="Shape 97"/>
        <p:cNvGrpSpPr/>
        <p:nvPr/>
      </p:nvGrpSpPr>
      <p:grpSpPr>
        <a:xfrm>
          <a:off x="0" y="0"/>
          <a:ext cx="0" cy="0"/>
          <a:chOff x="0" y="0"/>
          <a:chExt cx="0" cy="0"/>
        </a:xfrm>
      </p:grpSpPr>
      <p:sp>
        <p:nvSpPr>
          <p:cNvPr id="98" name="Google Shape;98;p4"/>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0" y="0"/>
            <a:ext cx="137160" cy="51435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320040" y="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Brand Performance: Cola vs Fruit</a:t>
            </a:r>
            <a:endParaRPr b="0" i="0" sz="3000" u="none" cap="none" strike="noStrike">
              <a:solidFill>
                <a:schemeClr val="dk1"/>
              </a:solidFill>
              <a:latin typeface="Calibri"/>
              <a:ea typeface="Calibri"/>
              <a:cs typeface="Calibri"/>
              <a:sym typeface="Calibri"/>
            </a:endParaRPr>
          </a:p>
        </p:txBody>
      </p:sp>
      <p:sp>
        <p:nvSpPr>
          <p:cNvPr id="101" name="Google Shape;101;p4"/>
          <p:cNvSpPr/>
          <p:nvPr/>
        </p:nvSpPr>
        <p:spPr>
          <a:xfrm>
            <a:off x="274320" y="4709160"/>
            <a:ext cx="8595360" cy="320040"/>
          </a:xfrm>
          <a:prstGeom prst="rect">
            <a:avLst/>
          </a:prstGeom>
          <a:solidFill>
            <a:srgbClr val="EBF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365760" y="470916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000"/>
              <a:buFont typeface="Calibri"/>
              <a:buNone/>
            </a:pPr>
            <a:r>
              <a:rPr b="0" i="0" lang="en-US" sz="1000" u="none" cap="none" strike="noStrike">
                <a:solidFill>
                  <a:srgbClr val="1A202C"/>
                </a:solidFill>
                <a:latin typeface="Calibri"/>
                <a:ea typeface="Calibri"/>
                <a:cs typeface="Calibri"/>
                <a:sym typeface="Calibri"/>
              </a:rPr>
              <a:t>💡  Cola outsells Fruit by ~3,000 units and generates ~£4,100 more revenue — Cola is the dominant brand in the portfolio.</a:t>
            </a:r>
            <a:endParaRPr b="0" i="0" sz="1000" u="none" cap="none" strike="noStrike">
              <a:solidFill>
                <a:schemeClr val="dk1"/>
              </a:solidFill>
              <a:latin typeface="Calibri"/>
              <a:ea typeface="Calibri"/>
              <a:cs typeface="Calibri"/>
              <a:sym typeface="Calibri"/>
            </a:endParaRPr>
          </a:p>
        </p:txBody>
      </p:sp>
      <p:pic>
        <p:nvPicPr>
          <p:cNvPr id="103" name="Google Shape;103;p4" title="Total Market Volume (Units)"/>
          <p:cNvPicPr preferRelativeResize="0"/>
          <p:nvPr/>
        </p:nvPicPr>
        <p:blipFill>
          <a:blip r:embed="rId3">
            <a:alphaModFix/>
          </a:blip>
          <a:stretch>
            <a:fillRect/>
          </a:stretch>
        </p:blipFill>
        <p:spPr>
          <a:xfrm>
            <a:off x="365753" y="2317948"/>
            <a:ext cx="3867174" cy="2391201"/>
          </a:xfrm>
          <a:prstGeom prst="rect">
            <a:avLst/>
          </a:prstGeom>
          <a:noFill/>
          <a:ln>
            <a:noFill/>
          </a:ln>
        </p:spPr>
      </p:pic>
      <p:pic>
        <p:nvPicPr>
          <p:cNvPr id="104" name="Google Shape;104;p4" title="Financial Efficiency (Unit Yield)"/>
          <p:cNvPicPr preferRelativeResize="0"/>
          <p:nvPr/>
        </p:nvPicPr>
        <p:blipFill>
          <a:blip r:embed="rId4">
            <a:alphaModFix/>
          </a:blip>
          <a:stretch>
            <a:fillRect/>
          </a:stretch>
        </p:blipFill>
        <p:spPr>
          <a:xfrm>
            <a:off x="5002469" y="2317944"/>
            <a:ext cx="3867207" cy="2391201"/>
          </a:xfrm>
          <a:prstGeom prst="rect">
            <a:avLst/>
          </a:prstGeom>
          <a:noFill/>
          <a:ln>
            <a:noFill/>
          </a:ln>
        </p:spPr>
      </p:pic>
      <p:sp>
        <p:nvSpPr>
          <p:cNvPr id="105" name="Google Shape;105;p4"/>
          <p:cNvSpPr/>
          <p:nvPr/>
        </p:nvSpPr>
        <p:spPr>
          <a:xfrm>
            <a:off x="936750" y="960123"/>
            <a:ext cx="7270500" cy="17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00">
                <a:solidFill>
                  <a:srgbClr val="1A202C"/>
                </a:solidFill>
                <a:latin typeface="Calibri"/>
                <a:ea typeface="Calibri"/>
                <a:cs typeface="Calibri"/>
                <a:sym typeface="Calibri"/>
              </a:rPr>
              <a:t>Key Insights</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The Volume Engine: </a:t>
            </a:r>
            <a:r>
              <a:rPr lang="en-US" sz="1100">
                <a:solidFill>
                  <a:srgbClr val="1A202C"/>
                </a:solidFill>
                <a:latin typeface="Calibri"/>
                <a:ea typeface="Calibri"/>
                <a:cs typeface="Calibri"/>
                <a:sym typeface="Calibri"/>
              </a:rPr>
              <a:t>Brand Cola is the primary driver of market presence, outperforming the Fruit range by 3,266 units. This high volume results in a total revenue contribution of £48,415.37.</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Yield Efficiency:</a:t>
            </a:r>
            <a:r>
              <a:rPr lang="en-US" sz="1100">
                <a:solidFill>
                  <a:srgbClr val="1A202C"/>
                </a:solidFill>
                <a:latin typeface="Calibri"/>
                <a:ea typeface="Calibri"/>
                <a:cs typeface="Calibri"/>
                <a:sym typeface="Calibri"/>
              </a:rPr>
              <a:t> While lower in volume, Brand Fruit achieves a superior "True Yield" of £1.52 per unit. This makes it the most margin-efficient product line in the portfolio.</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Pricing Strategy: </a:t>
            </a:r>
            <a:r>
              <a:rPr lang="en-US" sz="1100">
                <a:solidFill>
                  <a:srgbClr val="1A202C"/>
                </a:solidFill>
                <a:latin typeface="Calibri"/>
                <a:ea typeface="Calibri"/>
                <a:cs typeface="Calibri"/>
                <a:sym typeface="Calibri"/>
              </a:rPr>
              <a:t>The business maintains a near-uniform pricing model across both brands. The £0.02 yield advantage held by the Fruit range suggests a slightly more premium price-point or lower discount frequency compared to Cola.</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Revenue Impact: </a:t>
            </a:r>
            <a:r>
              <a:rPr lang="en-US" sz="1100">
                <a:solidFill>
                  <a:srgbClr val="1A202C"/>
                </a:solidFill>
                <a:latin typeface="Calibri"/>
                <a:ea typeface="Calibri"/>
                <a:cs typeface="Calibri"/>
                <a:sym typeface="Calibri"/>
              </a:rPr>
              <a:t>Combined, the two brands generate a total revenue of £92,699.42, with Cola accounting for 52% of that total due to its sales velocity.</a:t>
            </a:r>
            <a:endParaRPr sz="1100">
              <a:solidFill>
                <a:srgbClr val="1A202C"/>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0" name="Shape 110"/>
        <p:cNvGrpSpPr/>
        <p:nvPr/>
      </p:nvGrpSpPr>
      <p:grpSpPr>
        <a:xfrm>
          <a:off x="0" y="0"/>
          <a:ext cx="0" cy="0"/>
          <a:chOff x="0" y="0"/>
          <a:chExt cx="0" cy="0"/>
        </a:xfrm>
      </p:grpSpPr>
      <p:sp>
        <p:nvSpPr>
          <p:cNvPr id="111" name="Google Shape;111;p6"/>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0" y="0"/>
            <a:ext cx="137160" cy="5143500"/>
          </a:xfrm>
          <a:prstGeom prst="rect">
            <a:avLst/>
          </a:prstGeom>
          <a:solidFill>
            <a:srgbClr val="7B1F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320040" y="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Strategic Analysis: Brand Flavours</a:t>
            </a:r>
            <a:endParaRPr b="0" i="0" sz="3000" u="none" cap="none" strike="noStrike">
              <a:solidFill>
                <a:schemeClr val="dk1"/>
              </a:solidFill>
              <a:latin typeface="Calibri"/>
              <a:ea typeface="Calibri"/>
              <a:cs typeface="Calibri"/>
              <a:sym typeface="Calibri"/>
            </a:endParaRPr>
          </a:p>
        </p:txBody>
      </p:sp>
      <p:pic>
        <p:nvPicPr>
          <p:cNvPr id="114" name="Google Shape;114;p6" title="Flavour Performance: Volume vs. Revenue"/>
          <p:cNvPicPr preferRelativeResize="0"/>
          <p:nvPr/>
        </p:nvPicPr>
        <p:blipFill>
          <a:blip r:embed="rId3">
            <a:alphaModFix/>
          </a:blip>
          <a:stretch>
            <a:fillRect/>
          </a:stretch>
        </p:blipFill>
        <p:spPr>
          <a:xfrm>
            <a:off x="137150" y="1159325"/>
            <a:ext cx="5791824" cy="3581270"/>
          </a:xfrm>
          <a:prstGeom prst="rect">
            <a:avLst/>
          </a:prstGeom>
          <a:noFill/>
          <a:ln>
            <a:noFill/>
          </a:ln>
        </p:spPr>
      </p:pic>
      <p:sp>
        <p:nvSpPr>
          <p:cNvPr id="115" name="Google Shape;115;p6"/>
          <p:cNvSpPr/>
          <p:nvPr/>
        </p:nvSpPr>
        <p:spPr>
          <a:xfrm>
            <a:off x="5928975" y="1159325"/>
            <a:ext cx="3113700" cy="202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02C"/>
              </a:buClr>
              <a:buSzPts val="1100"/>
              <a:buFont typeface="Calibri"/>
              <a:buNone/>
            </a:pPr>
            <a:r>
              <a:rPr b="1" lang="en-US" sz="1300">
                <a:solidFill>
                  <a:srgbClr val="1A202C"/>
                </a:solidFill>
                <a:latin typeface="Calibri"/>
                <a:ea typeface="Calibri"/>
                <a:cs typeface="Calibri"/>
                <a:sym typeface="Calibri"/>
              </a:rPr>
              <a:t>Key Insights</a:t>
            </a:r>
            <a:br>
              <a:rPr b="1" lang="en-US" sz="1300">
                <a:solidFill>
                  <a:srgbClr val="1A202C"/>
                </a:solidFill>
                <a:latin typeface="Calibri"/>
                <a:ea typeface="Calibri"/>
                <a:cs typeface="Calibri"/>
                <a:sym typeface="Calibri"/>
              </a:rPr>
            </a:br>
            <a:br>
              <a:rPr lang="en-US" sz="1100">
                <a:solidFill>
                  <a:srgbClr val="1A202C"/>
                </a:solidFill>
                <a:latin typeface="Calibri"/>
                <a:ea typeface="Calibri"/>
                <a:cs typeface="Calibri"/>
                <a:sym typeface="Calibri"/>
              </a:rPr>
            </a:br>
            <a:r>
              <a:rPr lang="en-US" sz="1100">
                <a:solidFill>
                  <a:srgbClr val="1A202C"/>
                </a:solidFill>
                <a:latin typeface="Calibri"/>
                <a:ea typeface="Calibri"/>
                <a:cs typeface="Calibri"/>
                <a:sym typeface="Calibri"/>
              </a:rPr>
              <a:t>The Hero Product: Cherry (Brand Cola) is the undisputed market leader, achieving the highest volume (9,302 units) and revenue (£13,445.17). It serves as the primary anchor for the entire product portfolio.</a:t>
            </a:r>
            <a:endParaRPr sz="1100">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t/>
            </a:r>
            <a:endParaRPr sz="1100">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lang="en-US" sz="1100">
                <a:solidFill>
                  <a:srgbClr val="1A202C"/>
                </a:solidFill>
                <a:latin typeface="Calibri"/>
                <a:ea typeface="Calibri"/>
                <a:cs typeface="Calibri"/>
                <a:sym typeface="Calibri"/>
              </a:rPr>
              <a:t>Revenue Efficiency Anomaly: A critical distinction exists between Normal (Brand Cola) and Standard (Brand Fruit):</a:t>
            </a:r>
            <a:endParaRPr sz="1100">
              <a:solidFill>
                <a:srgbClr val="1A202C"/>
              </a:solidFill>
              <a:latin typeface="Calibri"/>
              <a:ea typeface="Calibri"/>
              <a:cs typeface="Calibri"/>
              <a:sym typeface="Calibri"/>
            </a:endParaRPr>
          </a:p>
          <a:p>
            <a:pPr indent="-298450" lvl="0" marL="457200" marR="0" rtl="0" algn="l">
              <a:spcBef>
                <a:spcPts val="0"/>
              </a:spcBef>
              <a:spcAft>
                <a:spcPts val="0"/>
              </a:spcAft>
              <a:buClr>
                <a:srgbClr val="1A202C"/>
              </a:buClr>
              <a:buSzPts val="1100"/>
              <a:buFont typeface="Calibri"/>
              <a:buChar char="●"/>
            </a:pPr>
            <a:r>
              <a:rPr lang="en-US" sz="1100">
                <a:solidFill>
                  <a:srgbClr val="1A202C"/>
                </a:solidFill>
                <a:latin typeface="Calibri"/>
                <a:ea typeface="Calibri"/>
                <a:cs typeface="Calibri"/>
                <a:sym typeface="Calibri"/>
              </a:rPr>
              <a:t>Standard moves 193 more units than Normal.</a:t>
            </a:r>
            <a:endParaRPr sz="1100">
              <a:solidFill>
                <a:srgbClr val="1A202C"/>
              </a:solidFill>
              <a:latin typeface="Calibri"/>
              <a:ea typeface="Calibri"/>
              <a:cs typeface="Calibri"/>
              <a:sym typeface="Calibri"/>
            </a:endParaRPr>
          </a:p>
          <a:p>
            <a:pPr indent="-298450" lvl="0" marL="457200" marR="0" rtl="0" algn="l">
              <a:spcBef>
                <a:spcPts val="0"/>
              </a:spcBef>
              <a:spcAft>
                <a:spcPts val="0"/>
              </a:spcAft>
              <a:buClr>
                <a:srgbClr val="1A202C"/>
              </a:buClr>
              <a:buSzPts val="1100"/>
              <a:buFont typeface="Calibri"/>
              <a:buChar char="●"/>
            </a:pPr>
            <a:r>
              <a:rPr lang="en-US" sz="1100">
                <a:solidFill>
                  <a:srgbClr val="1A202C"/>
                </a:solidFill>
                <a:latin typeface="Calibri"/>
                <a:ea typeface="Calibri"/>
                <a:cs typeface="Calibri"/>
                <a:sym typeface="Calibri"/>
              </a:rPr>
              <a:t>However, Normal generates £1,296 more in revenue.</a:t>
            </a:r>
            <a:endParaRPr sz="1100">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t/>
            </a:r>
            <a:endParaRPr sz="1100">
              <a:solidFill>
                <a:srgbClr val="1A202C"/>
              </a:solidFill>
              <a:latin typeface="Calibri"/>
              <a:ea typeface="Calibri"/>
              <a:cs typeface="Calibri"/>
              <a:sym typeface="Calibri"/>
            </a:endParaRPr>
          </a:p>
          <a:p>
            <a:pPr indent="0" lvl="0" marL="0" marR="0" rtl="0" algn="l">
              <a:spcBef>
                <a:spcPts val="0"/>
              </a:spcBef>
              <a:spcAft>
                <a:spcPts val="0"/>
              </a:spcAft>
              <a:buClr>
                <a:srgbClr val="1A202C"/>
              </a:buClr>
              <a:buSzPts val="1100"/>
              <a:buFont typeface="Calibri"/>
              <a:buNone/>
            </a:pPr>
            <a:r>
              <a:rPr lang="en-US" sz="1100">
                <a:solidFill>
                  <a:srgbClr val="1A202C"/>
                </a:solidFill>
                <a:latin typeface="Calibri"/>
                <a:ea typeface="Calibri"/>
                <a:cs typeface="Calibri"/>
                <a:sym typeface="Calibri"/>
              </a:rPr>
              <a:t>Brand Tiering Impact: This confirms a price premium for the Cola brand. Brand Cola flavours (Normal, Cherry, Lemon, Vanilla) consistently show a higher "Revenue-to-Volume" ratio compared to the Fruit brand.</a:t>
            </a:r>
            <a:endParaRPr sz="1100">
              <a:solidFill>
                <a:srgbClr val="1A202C"/>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0" name="Shape 120"/>
        <p:cNvGrpSpPr/>
        <p:nvPr/>
      </p:nvGrpSpPr>
      <p:grpSpPr>
        <a:xfrm>
          <a:off x="0" y="0"/>
          <a:ext cx="0" cy="0"/>
          <a:chOff x="0" y="0"/>
          <a:chExt cx="0" cy="0"/>
        </a:xfrm>
      </p:grpSpPr>
      <p:sp>
        <p:nvSpPr>
          <p:cNvPr id="121" name="Google Shape;121;p5"/>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0" y="0"/>
            <a:ext cx="137160" cy="5143500"/>
          </a:xfrm>
          <a:prstGeom prst="rect">
            <a:avLst/>
          </a:pr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320040" y="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Market Analysis: Volume vs. Unit Value</a:t>
            </a:r>
            <a:endParaRPr b="0" i="0" sz="3000" u="none" cap="none" strike="noStrike">
              <a:solidFill>
                <a:schemeClr val="dk1"/>
              </a:solidFill>
              <a:latin typeface="Calibri"/>
              <a:ea typeface="Calibri"/>
              <a:cs typeface="Calibri"/>
              <a:sym typeface="Calibri"/>
            </a:endParaRPr>
          </a:p>
        </p:txBody>
      </p:sp>
      <p:pic>
        <p:nvPicPr>
          <p:cNvPr id="124" name="Google Shape;124;p5" title="Regional Volume Distribution"/>
          <p:cNvPicPr preferRelativeResize="0"/>
          <p:nvPr/>
        </p:nvPicPr>
        <p:blipFill>
          <a:blip r:embed="rId3">
            <a:alphaModFix/>
          </a:blip>
          <a:stretch>
            <a:fillRect/>
          </a:stretch>
        </p:blipFill>
        <p:spPr>
          <a:xfrm>
            <a:off x="137150" y="914400"/>
            <a:ext cx="4326426" cy="2675175"/>
          </a:xfrm>
          <a:prstGeom prst="rect">
            <a:avLst/>
          </a:prstGeom>
          <a:noFill/>
          <a:ln>
            <a:noFill/>
          </a:ln>
        </p:spPr>
      </p:pic>
      <p:pic>
        <p:nvPicPr>
          <p:cNvPr id="125" name="Google Shape;125;p5" title="Market Yield Analysis"/>
          <p:cNvPicPr preferRelativeResize="0"/>
          <p:nvPr/>
        </p:nvPicPr>
        <p:blipFill>
          <a:blip r:embed="rId4">
            <a:alphaModFix/>
          </a:blip>
          <a:stretch>
            <a:fillRect/>
          </a:stretch>
        </p:blipFill>
        <p:spPr>
          <a:xfrm>
            <a:off x="4367575" y="576175"/>
            <a:ext cx="4776426" cy="2953425"/>
          </a:xfrm>
          <a:prstGeom prst="rect">
            <a:avLst/>
          </a:prstGeom>
          <a:noFill/>
          <a:ln>
            <a:noFill/>
          </a:ln>
        </p:spPr>
      </p:pic>
      <p:sp>
        <p:nvSpPr>
          <p:cNvPr id="126" name="Google Shape;126;p5"/>
          <p:cNvSpPr/>
          <p:nvPr/>
        </p:nvSpPr>
        <p:spPr>
          <a:xfrm>
            <a:off x="936750" y="3411373"/>
            <a:ext cx="7270500" cy="17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00">
                <a:solidFill>
                  <a:srgbClr val="1A202C"/>
                </a:solidFill>
                <a:latin typeface="Calibri"/>
                <a:ea typeface="Calibri"/>
                <a:cs typeface="Calibri"/>
                <a:sym typeface="Calibri"/>
              </a:rPr>
              <a:t>Key Insights</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Volume Dominance:</a:t>
            </a:r>
            <a:r>
              <a:rPr lang="en-US" sz="1100">
                <a:solidFill>
                  <a:srgbClr val="1A202C"/>
                </a:solidFill>
                <a:latin typeface="Calibri"/>
                <a:ea typeface="Calibri"/>
                <a:cs typeface="Calibri"/>
                <a:sym typeface="Calibri"/>
              </a:rPr>
              <a:t> Spain and Ireland are the primary drivers of sales volume, together representing 39% of total units sold. They are the essential mass market foundations of the business.</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The UK Price Premium:</a:t>
            </a:r>
            <a:r>
              <a:rPr lang="en-US" sz="1100">
                <a:solidFill>
                  <a:srgbClr val="1A202C"/>
                </a:solidFill>
                <a:latin typeface="Calibri"/>
                <a:ea typeface="Calibri"/>
                <a:cs typeface="Calibri"/>
                <a:sym typeface="Calibri"/>
              </a:rPr>
              <a:t> Despite being a mid-tier volume market, the UK achieves the highest Average Unit Price at £1.68.</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Yield Efficiency:</a:t>
            </a:r>
            <a:r>
              <a:rPr lang="en-US" sz="1100">
                <a:solidFill>
                  <a:srgbClr val="1A202C"/>
                </a:solidFill>
                <a:latin typeface="Calibri"/>
                <a:ea typeface="Calibri"/>
                <a:cs typeface="Calibri"/>
                <a:sym typeface="Calibri"/>
              </a:rPr>
              <a:t> The UK generates significantly more revenue per unit than Germany (£1.40) or Italy (£1.41). This identifies the UK as the most efficient market in terms of financial return.</a:t>
            </a:r>
            <a:endParaRPr sz="1100">
              <a:solidFill>
                <a:srgbClr val="1A202C"/>
              </a:solidFill>
              <a:latin typeface="Calibri"/>
              <a:ea typeface="Calibri"/>
              <a:cs typeface="Calibri"/>
              <a:sym typeface="Calibri"/>
            </a:endParaRPr>
          </a:p>
          <a:p>
            <a:pPr indent="-317500" lvl="0" marL="457200" marR="0" rtl="0" algn="l">
              <a:spcBef>
                <a:spcPts val="0"/>
              </a:spcBef>
              <a:spcAft>
                <a:spcPts val="0"/>
              </a:spcAft>
              <a:buClr>
                <a:srgbClr val="1A202C"/>
              </a:buClr>
              <a:buSzPts val="1400"/>
              <a:buFont typeface="Calibri"/>
              <a:buChar char="●"/>
            </a:pPr>
            <a:r>
              <a:rPr b="1" lang="en-US" sz="1100">
                <a:solidFill>
                  <a:srgbClr val="1A202C"/>
                </a:solidFill>
                <a:latin typeface="Calibri"/>
                <a:ea typeface="Calibri"/>
                <a:cs typeface="Calibri"/>
                <a:sym typeface="Calibri"/>
              </a:rPr>
              <a:t>Brand Correlation:</a:t>
            </a:r>
            <a:r>
              <a:rPr lang="en-US" sz="1100">
                <a:solidFill>
                  <a:srgbClr val="1A202C"/>
                </a:solidFill>
                <a:latin typeface="Calibri"/>
                <a:ea typeface="Calibri"/>
                <a:cs typeface="Calibri"/>
                <a:sym typeface="Calibri"/>
              </a:rPr>
              <a:t> This regional success in the UK directly correlates with the high performance of the Brand Cola portfolio (Normal, Cherry, Vanilla) identified in our previous flavour analysis.</a:t>
            </a:r>
            <a:endParaRPr sz="1100">
              <a:solidFill>
                <a:srgbClr val="1A202C"/>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31" name="Shape 131"/>
        <p:cNvGrpSpPr/>
        <p:nvPr/>
      </p:nvGrpSpPr>
      <p:grpSpPr>
        <a:xfrm>
          <a:off x="0" y="0"/>
          <a:ext cx="0" cy="0"/>
          <a:chOff x="0" y="0"/>
          <a:chExt cx="0" cy="0"/>
        </a:xfrm>
      </p:grpSpPr>
      <p:sp>
        <p:nvSpPr>
          <p:cNvPr id="132" name="Google Shape;132;p7"/>
          <p:cNvSpPr/>
          <p:nvPr/>
        </p:nvSpPr>
        <p:spPr>
          <a:xfrm>
            <a:off x="0" y="0"/>
            <a:ext cx="9144000" cy="96012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0" y="0"/>
            <a:ext cx="137160" cy="5143500"/>
          </a:xfrm>
          <a:prstGeom prst="rect">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320040" y="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Top Performing Products</a:t>
            </a:r>
            <a:endParaRPr b="0" i="0" sz="3000" u="none" cap="none" strike="noStrike">
              <a:solidFill>
                <a:schemeClr val="dk1"/>
              </a:solidFill>
              <a:latin typeface="Calibri"/>
              <a:ea typeface="Calibri"/>
              <a:cs typeface="Calibri"/>
              <a:sym typeface="Calibri"/>
            </a:endParaRPr>
          </a:p>
        </p:txBody>
      </p:sp>
      <p:graphicFrame>
        <p:nvGraphicFramePr>
          <p:cNvPr id="135" name="Google Shape;135;p7"/>
          <p:cNvGraphicFramePr/>
          <p:nvPr/>
        </p:nvGraphicFramePr>
        <p:xfrm>
          <a:off x="320040" y="1143000"/>
          <a:ext cx="3000000" cy="3000000"/>
        </p:xfrm>
        <a:graphic>
          <a:graphicData uri="http://schemas.openxmlformats.org/drawingml/2006/table">
            <a:tbl>
              <a:tblPr>
                <a:noFill/>
                <a:tableStyleId>{83646939-882D-4A10-A2DC-D37454F488B9}</a:tableStyleId>
              </a:tblPr>
              <a:tblGrid>
                <a:gridCol w="640075"/>
                <a:gridCol w="1097275"/>
                <a:gridCol w="1371600"/>
                <a:gridCol w="1280150"/>
                <a:gridCol w="1280150"/>
                <a:gridCol w="1188725"/>
                <a:gridCol w="1645925"/>
              </a:tblGrid>
              <a:tr h="56692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Rank</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Brand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Flavour</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Market</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Units Sold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Unit Cost</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Revenue (£)</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0D1B2A"/>
                    </a:solidFill>
                  </a:tcPr>
                </a:tc>
              </a:tr>
              <a:tr h="566925">
                <a:tc>
                  <a:txBody>
                    <a:bodyPr/>
                    <a:lstStyle/>
                    <a:p>
                      <a:pPr indent="0" lvl="0" marL="0" marR="0" rtl="0" algn="ctr">
                        <a:spcBef>
                          <a:spcPts val="0"/>
                        </a:spcBef>
                        <a:spcAft>
                          <a:spcPts val="0"/>
                        </a:spcAft>
                        <a:buClr>
                          <a:srgbClr val="000000"/>
                        </a:buClr>
                        <a:buSzPts val="1200"/>
                        <a:buFont typeface="Calibri"/>
                        <a:buNone/>
                      </a:pPr>
                      <a:r>
                        <a:rPr b="1" lang="en-US" sz="1200" u="none" cap="none" strike="noStrike">
                          <a:solidFill>
                            <a:srgbClr val="000000"/>
                          </a:solidFill>
                        </a:rPr>
                        <a:t>🥇 1</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Cola</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Normal</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Spain</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1,945</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£1.92</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c>
                  <a:txBody>
                    <a:bodyPr/>
                    <a:lstStyle/>
                    <a:p>
                      <a:pPr indent="0" lvl="0" marL="0" marR="0" rtl="0" algn="ctr">
                        <a:spcBef>
                          <a:spcPts val="0"/>
                        </a:spcBef>
                        <a:spcAft>
                          <a:spcPts val="0"/>
                        </a:spcAft>
                        <a:buClr>
                          <a:srgbClr val="2E7D32"/>
                        </a:buClr>
                        <a:buSzPts val="1200"/>
                        <a:buFont typeface="Calibri"/>
                        <a:buNone/>
                      </a:pPr>
                      <a:r>
                        <a:rPr b="1" lang="en-US" sz="1200" u="none" cap="none" strike="noStrike">
                          <a:solidFill>
                            <a:srgbClr val="2E7D32"/>
                          </a:solidFill>
                        </a:rPr>
                        <a:t>£3,734</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8E1"/>
                    </a:solidFill>
                  </a:tcPr>
                </a:tc>
              </a:tr>
              <a:tr h="5669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 2</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Cola</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Cherry</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Ireland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1,832</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£1.83</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2E7D32"/>
                        </a:buClr>
                        <a:buSzPts val="1200"/>
                        <a:buFont typeface="Calibri"/>
                        <a:buNone/>
                      </a:pPr>
                      <a:r>
                        <a:rPr b="1" lang="en-US" sz="1200" u="none" cap="none" strike="noStrike">
                          <a:solidFill>
                            <a:srgbClr val="2E7D32"/>
                          </a:solidFill>
                        </a:rPr>
                        <a:t>£3,353</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r>
              <a:tr h="5669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 3</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Fruit</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Standard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UK</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1,680</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£1.81</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2E7D32"/>
                        </a:buClr>
                        <a:buSzPts val="1200"/>
                        <a:buFont typeface="Calibri"/>
                        <a:buNone/>
                      </a:pPr>
                      <a:r>
                        <a:rPr b="1" lang="en-US" sz="1200" u="none" cap="none" strike="noStrike">
                          <a:solidFill>
                            <a:srgbClr val="2E7D32"/>
                          </a:solidFill>
                        </a:rPr>
                        <a:t>£3,041</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r>
              <a:tr h="5669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4</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Cola</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Lemon</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Ireland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1,790</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£1.69</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ctr">
                        <a:spcBef>
                          <a:spcPts val="0"/>
                        </a:spcBef>
                        <a:spcAft>
                          <a:spcPts val="0"/>
                        </a:spcAft>
                        <a:buClr>
                          <a:srgbClr val="2E7D32"/>
                        </a:buClr>
                        <a:buSzPts val="1200"/>
                        <a:buFont typeface="Calibri"/>
                        <a:buNone/>
                      </a:pPr>
                      <a:r>
                        <a:rPr b="1" lang="en-US" sz="1200" u="none" cap="none" strike="noStrike">
                          <a:solidFill>
                            <a:srgbClr val="2E7D32"/>
                          </a:solidFill>
                        </a:rPr>
                        <a:t>£3,025</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r>
              <a:tr h="566925">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5</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Fruit</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Strawberry</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UK</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1,512</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000000"/>
                        </a:buClr>
                        <a:buSzPts val="1200"/>
                        <a:buFont typeface="Calibri"/>
                        <a:buNone/>
                      </a:pPr>
                      <a:r>
                        <a:rPr lang="en-US" sz="1200" u="none" cap="none" strike="noStrike">
                          <a:solidFill>
                            <a:srgbClr val="000000"/>
                          </a:solidFill>
                        </a:rPr>
                        <a:t>£1.99</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c>
                  <a:txBody>
                    <a:bodyPr/>
                    <a:lstStyle/>
                    <a:p>
                      <a:pPr indent="0" lvl="0" marL="0" marR="0" rtl="0" algn="ctr">
                        <a:spcBef>
                          <a:spcPts val="0"/>
                        </a:spcBef>
                        <a:spcAft>
                          <a:spcPts val="0"/>
                        </a:spcAft>
                        <a:buClr>
                          <a:srgbClr val="2E7D32"/>
                        </a:buClr>
                        <a:buSzPts val="1200"/>
                        <a:buFont typeface="Calibri"/>
                        <a:buNone/>
                      </a:pPr>
                      <a:r>
                        <a:rPr b="1" lang="en-US" sz="1200" u="none" cap="none" strike="noStrike">
                          <a:solidFill>
                            <a:srgbClr val="2E7D32"/>
                          </a:solidFill>
                        </a:rPr>
                        <a:t>£3,009</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3F4F6"/>
                    </a:solidFill>
                  </a:tcPr>
                </a:tc>
              </a:tr>
            </a:tbl>
          </a:graphicData>
        </a:graphic>
      </p:graphicFrame>
      <p:sp>
        <p:nvSpPr>
          <p:cNvPr id="136" name="Google Shape;136;p7"/>
          <p:cNvSpPr/>
          <p:nvPr/>
        </p:nvSpPr>
        <p:spPr>
          <a:xfrm>
            <a:off x="320040" y="4617720"/>
            <a:ext cx="8503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02C"/>
              </a:buClr>
              <a:buSzPts val="1050"/>
              <a:buFont typeface="Calibri"/>
              <a:buNone/>
            </a:pPr>
            <a:r>
              <a:rPr b="0" i="0" lang="en-US" sz="1050" u="none" cap="none" strike="noStrike">
                <a:solidFill>
                  <a:srgbClr val="1A202C"/>
                </a:solidFill>
                <a:latin typeface="Calibri"/>
                <a:ea typeface="Calibri"/>
                <a:cs typeface="Calibri"/>
                <a:sym typeface="Calibri"/>
              </a:rPr>
              <a:t>💡  Three of the top 5 products are Cola-based. Spain &amp; Ireland are the standout markets for top-revenue products.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41" name="Shape 141"/>
        <p:cNvGrpSpPr/>
        <p:nvPr/>
      </p:nvGrpSpPr>
      <p:grpSpPr>
        <a:xfrm>
          <a:off x="0" y="0"/>
          <a:ext cx="0" cy="0"/>
          <a:chOff x="0" y="0"/>
          <a:chExt cx="0" cy="0"/>
        </a:xfrm>
      </p:grpSpPr>
      <p:sp>
        <p:nvSpPr>
          <p:cNvPr id="142" name="Google Shape;142;p8"/>
          <p:cNvSpPr/>
          <p:nvPr/>
        </p:nvSpPr>
        <p:spPr>
          <a:xfrm>
            <a:off x="0" y="0"/>
            <a:ext cx="182880" cy="5143500"/>
          </a:xfrm>
          <a:prstGeom prst="rect">
            <a:avLst/>
          </a:prstGeom>
          <a:solidFill>
            <a:srgbClr val="028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6858000" y="-457200"/>
            <a:ext cx="3200400" cy="3200400"/>
          </a:xfrm>
          <a:prstGeom prst="ellipse">
            <a:avLst/>
          </a:prstGeom>
          <a:solidFill>
            <a:srgbClr val="1565C0">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365760" y="22860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Key Insights &amp; Conclusions</a:t>
            </a:r>
            <a:endParaRPr b="0" i="0" sz="3200" u="none" cap="none" strike="noStrike">
              <a:solidFill>
                <a:schemeClr val="dk1"/>
              </a:solidFill>
              <a:latin typeface="Calibri"/>
              <a:ea typeface="Calibri"/>
              <a:cs typeface="Calibri"/>
              <a:sym typeface="Calibri"/>
            </a:endParaRPr>
          </a:p>
        </p:txBody>
      </p:sp>
      <p:sp>
        <p:nvSpPr>
          <p:cNvPr id="145" name="Google Shape;145;p8"/>
          <p:cNvSpPr/>
          <p:nvPr/>
        </p:nvSpPr>
        <p:spPr>
          <a:xfrm>
            <a:off x="320040" y="1069848"/>
            <a:ext cx="502920" cy="502920"/>
          </a:xfrm>
          <a:prstGeom prst="ellipse">
            <a:avLst/>
          </a:prstGeom>
          <a:solidFill>
            <a:srgbClr val="E539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320040" y="106984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147" name="Google Shape;147;p8"/>
          <p:cNvSpPr/>
          <p:nvPr/>
        </p:nvSpPr>
        <p:spPr>
          <a:xfrm>
            <a:off x="960120" y="105156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3935"/>
              </a:buClr>
              <a:buSzPts val="1400"/>
              <a:buFont typeface="Calibri"/>
              <a:buNone/>
            </a:pPr>
            <a:r>
              <a:rPr b="1" i="0" lang="en-US" sz="1400" u="none" cap="none" strike="noStrike">
                <a:solidFill>
                  <a:srgbClr val="E53935"/>
                </a:solidFill>
                <a:latin typeface="Calibri"/>
                <a:ea typeface="Calibri"/>
                <a:cs typeface="Calibri"/>
                <a:sym typeface="Calibri"/>
              </a:rPr>
              <a:t>Cola is the Market Leader</a:t>
            </a:r>
            <a:endParaRPr b="0" i="0" sz="1400" u="none" cap="none" strike="noStrike">
              <a:solidFill>
                <a:schemeClr val="dk1"/>
              </a:solidFill>
              <a:latin typeface="Calibri"/>
              <a:ea typeface="Calibri"/>
              <a:cs typeface="Calibri"/>
              <a:sym typeface="Calibri"/>
            </a:endParaRPr>
          </a:p>
        </p:txBody>
      </p:sp>
      <p:sp>
        <p:nvSpPr>
          <p:cNvPr id="148" name="Google Shape;148;p8"/>
          <p:cNvSpPr/>
          <p:nvPr/>
        </p:nvSpPr>
        <p:spPr>
          <a:xfrm>
            <a:off x="960120" y="132588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D0E8"/>
              </a:buClr>
              <a:buSzPts val="1150"/>
              <a:buFont typeface="Calibri"/>
              <a:buNone/>
            </a:pPr>
            <a:r>
              <a:rPr lang="en-US" sz="1150">
                <a:solidFill>
                  <a:srgbClr val="B8D0E8"/>
                </a:solidFill>
                <a:latin typeface="Calibri"/>
                <a:ea typeface="Calibri"/>
                <a:cs typeface="Calibri"/>
                <a:sym typeface="Calibri"/>
              </a:rPr>
              <a:t>The brand Cola acts as the portfolio's primary volume driver, securing</a:t>
            </a:r>
            <a:r>
              <a:rPr b="0" i="0" lang="en-US" sz="1150" u="none" cap="none" strike="noStrike">
                <a:solidFill>
                  <a:srgbClr val="B8D0E8"/>
                </a:solidFill>
                <a:latin typeface="Calibri"/>
                <a:ea typeface="Calibri"/>
                <a:cs typeface="Calibri"/>
                <a:sym typeface="Calibri"/>
              </a:rPr>
              <a:t> 52.</a:t>
            </a:r>
            <a:r>
              <a:rPr lang="en-US" sz="1150">
                <a:solidFill>
                  <a:srgbClr val="B8D0E8"/>
                </a:solidFill>
                <a:latin typeface="Calibri"/>
                <a:ea typeface="Calibri"/>
                <a:cs typeface="Calibri"/>
                <a:sym typeface="Calibri"/>
              </a:rPr>
              <a:t>7</a:t>
            </a:r>
            <a:r>
              <a:rPr b="0" i="0" lang="en-US" sz="1150" u="none" cap="none" strike="noStrike">
                <a:solidFill>
                  <a:srgbClr val="B8D0E8"/>
                </a:solidFill>
                <a:latin typeface="Calibri"/>
                <a:ea typeface="Calibri"/>
                <a:cs typeface="Calibri"/>
                <a:sym typeface="Calibri"/>
              </a:rPr>
              <a:t>% of all units sold and 52.2% of total revenue</a:t>
            </a:r>
            <a:r>
              <a:rPr lang="en-US" sz="1150">
                <a:solidFill>
                  <a:srgbClr val="B8D0E8"/>
                </a:solidFill>
                <a:latin typeface="Calibri"/>
                <a:ea typeface="Calibri"/>
                <a:cs typeface="Calibri"/>
                <a:sym typeface="Calibri"/>
              </a:rPr>
              <a:t>. This indicates a strong consumer preference for the Cola-based range, marking it as the “low-risk” anchor for future product launches.</a:t>
            </a:r>
            <a:endParaRPr b="0" i="0" sz="1150" u="none" cap="none" strike="noStrike">
              <a:solidFill>
                <a:schemeClr val="dk1"/>
              </a:solidFill>
              <a:latin typeface="Calibri"/>
              <a:ea typeface="Calibri"/>
              <a:cs typeface="Calibri"/>
              <a:sym typeface="Calibri"/>
            </a:endParaRPr>
          </a:p>
        </p:txBody>
      </p:sp>
      <p:sp>
        <p:nvSpPr>
          <p:cNvPr id="149" name="Google Shape;149;p8"/>
          <p:cNvSpPr/>
          <p:nvPr/>
        </p:nvSpPr>
        <p:spPr>
          <a:xfrm>
            <a:off x="320040" y="2075688"/>
            <a:ext cx="502920" cy="502920"/>
          </a:xfrm>
          <a:prstGeom prst="ellipse">
            <a:avLst/>
          </a:pr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320040" y="207568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02</a:t>
            </a:r>
            <a:endParaRPr b="0" i="0" sz="1200" u="none" cap="none" strike="noStrike">
              <a:solidFill>
                <a:schemeClr val="dk1"/>
              </a:solidFill>
              <a:latin typeface="Calibri"/>
              <a:ea typeface="Calibri"/>
              <a:cs typeface="Calibri"/>
              <a:sym typeface="Calibri"/>
            </a:endParaRPr>
          </a:p>
        </p:txBody>
      </p:sp>
      <p:sp>
        <p:nvSpPr>
          <p:cNvPr id="151" name="Google Shape;151;p8"/>
          <p:cNvSpPr/>
          <p:nvPr/>
        </p:nvSpPr>
        <p:spPr>
          <a:xfrm>
            <a:off x="960120" y="205740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7C00"/>
              </a:buClr>
              <a:buSzPts val="1400"/>
              <a:buFont typeface="Calibri"/>
              <a:buNone/>
            </a:pPr>
            <a:r>
              <a:rPr b="1" i="0" lang="en-US" sz="1400" u="none" cap="none" strike="noStrike">
                <a:solidFill>
                  <a:srgbClr val="F57C00"/>
                </a:solidFill>
                <a:latin typeface="Calibri"/>
                <a:ea typeface="Calibri"/>
                <a:cs typeface="Calibri"/>
                <a:sym typeface="Calibri"/>
              </a:rPr>
              <a:t>Spain &amp; Ireland Drive Revenue</a:t>
            </a:r>
            <a:endParaRPr b="0" i="0" sz="1400" u="none" cap="none" strike="noStrike">
              <a:solidFill>
                <a:schemeClr val="dk1"/>
              </a:solidFill>
              <a:latin typeface="Calibri"/>
              <a:ea typeface="Calibri"/>
              <a:cs typeface="Calibri"/>
              <a:sym typeface="Calibri"/>
            </a:endParaRPr>
          </a:p>
        </p:txBody>
      </p:sp>
      <p:sp>
        <p:nvSpPr>
          <p:cNvPr id="152" name="Google Shape;152;p8"/>
          <p:cNvSpPr/>
          <p:nvPr/>
        </p:nvSpPr>
        <p:spPr>
          <a:xfrm>
            <a:off x="960120" y="2384116"/>
            <a:ext cx="7863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D0E8"/>
              </a:buClr>
              <a:buSzPts val="1150"/>
              <a:buFont typeface="Calibri"/>
              <a:buNone/>
            </a:pPr>
            <a:r>
              <a:rPr b="0" i="0" lang="en-US" sz="1150" u="none" cap="none" strike="noStrike">
                <a:solidFill>
                  <a:srgbClr val="B8D0E8"/>
                </a:solidFill>
                <a:latin typeface="Calibri"/>
                <a:ea typeface="Calibri"/>
                <a:cs typeface="Calibri"/>
                <a:sym typeface="Calibri"/>
              </a:rPr>
              <a:t>Spain (£18,510) and Ireland (£17,606) are the top two markets</a:t>
            </a:r>
            <a:r>
              <a:rPr lang="en-US" sz="1150">
                <a:solidFill>
                  <a:srgbClr val="B8D0E8"/>
                </a:solidFill>
                <a:latin typeface="Calibri"/>
                <a:ea typeface="Calibri"/>
                <a:cs typeface="Calibri"/>
                <a:sym typeface="Calibri"/>
              </a:rPr>
              <a:t>, contributing 39% of total revenue despite representing 33% of the regional footprint. </a:t>
            </a:r>
            <a:r>
              <a:rPr b="0" i="0" lang="en-US" sz="1150" u="none" cap="none" strike="noStrike">
                <a:solidFill>
                  <a:srgbClr val="B8D0E8"/>
                </a:solidFill>
                <a:latin typeface="Calibri"/>
                <a:ea typeface="Calibri"/>
                <a:cs typeface="Calibri"/>
                <a:sym typeface="Calibri"/>
              </a:rPr>
              <a:t>These markets are the</a:t>
            </a:r>
            <a:r>
              <a:rPr lang="en-US" sz="1150">
                <a:solidFill>
                  <a:srgbClr val="B8D0E8"/>
                </a:solidFill>
                <a:latin typeface="Calibri"/>
                <a:ea typeface="Calibri"/>
                <a:cs typeface="Calibri"/>
                <a:sym typeface="Calibri"/>
              </a:rPr>
              <a:t> growth engines</a:t>
            </a:r>
            <a:r>
              <a:rPr b="0" i="0" lang="en-US" sz="1150" u="none" cap="none" strike="noStrike">
                <a:solidFill>
                  <a:srgbClr val="B8D0E8"/>
                </a:solidFill>
                <a:latin typeface="Calibri"/>
                <a:ea typeface="Calibri"/>
                <a:cs typeface="Calibri"/>
                <a:sym typeface="Calibri"/>
              </a:rPr>
              <a:t> of the business</a:t>
            </a:r>
            <a:r>
              <a:rPr lang="en-US" sz="1150">
                <a:solidFill>
                  <a:srgbClr val="B8D0E8"/>
                </a:solidFill>
                <a:latin typeface="Calibri"/>
                <a:ea typeface="Calibri"/>
                <a:cs typeface="Calibri"/>
                <a:sym typeface="Calibri"/>
              </a:rPr>
              <a:t> and s</a:t>
            </a:r>
            <a:r>
              <a:rPr b="0" i="0" lang="en-US" sz="1150" u="none" cap="none" strike="noStrike">
                <a:solidFill>
                  <a:srgbClr val="B8D0E8"/>
                </a:solidFill>
                <a:latin typeface="Calibri"/>
                <a:ea typeface="Calibri"/>
                <a:cs typeface="Calibri"/>
                <a:sym typeface="Calibri"/>
              </a:rPr>
              <a:t>uccess here should be used as a blueprint for scaling underperforming regions like Italy.</a:t>
            </a:r>
            <a:endParaRPr b="0" i="0" sz="1150" u="none" cap="none" strike="noStrike">
              <a:solidFill>
                <a:schemeClr val="dk1"/>
              </a:solidFill>
              <a:latin typeface="Calibri"/>
              <a:ea typeface="Calibri"/>
              <a:cs typeface="Calibri"/>
              <a:sym typeface="Calibri"/>
            </a:endParaRPr>
          </a:p>
        </p:txBody>
      </p:sp>
      <p:sp>
        <p:nvSpPr>
          <p:cNvPr id="153" name="Google Shape;153;p8"/>
          <p:cNvSpPr/>
          <p:nvPr/>
        </p:nvSpPr>
        <p:spPr>
          <a:xfrm>
            <a:off x="320040" y="3081528"/>
            <a:ext cx="502920" cy="502920"/>
          </a:xfrm>
          <a:prstGeom prst="ellipse">
            <a:avLst/>
          </a:prstGeom>
          <a:solidFill>
            <a:srgbClr val="7B1F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320040" y="30815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03</a:t>
            </a:r>
            <a:endParaRPr b="0" i="0" sz="1200" u="none" cap="none" strike="noStrike">
              <a:solidFill>
                <a:schemeClr val="dk1"/>
              </a:solidFill>
              <a:latin typeface="Calibri"/>
              <a:ea typeface="Calibri"/>
              <a:cs typeface="Calibri"/>
              <a:sym typeface="Calibri"/>
            </a:endParaRPr>
          </a:p>
        </p:txBody>
      </p:sp>
      <p:sp>
        <p:nvSpPr>
          <p:cNvPr id="155" name="Google Shape;155;p8"/>
          <p:cNvSpPr/>
          <p:nvPr/>
        </p:nvSpPr>
        <p:spPr>
          <a:xfrm>
            <a:off x="960120" y="306324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1FA2"/>
              </a:buClr>
              <a:buSzPts val="1400"/>
              <a:buFont typeface="Calibri"/>
              <a:buNone/>
            </a:pPr>
            <a:r>
              <a:rPr b="1" i="0" lang="en-US" sz="1400" u="none" cap="none" strike="noStrike">
                <a:solidFill>
                  <a:srgbClr val="7B1FA2"/>
                </a:solidFill>
                <a:latin typeface="Calibri"/>
                <a:ea typeface="Calibri"/>
                <a:cs typeface="Calibri"/>
                <a:sym typeface="Calibri"/>
              </a:rPr>
              <a:t>Cherry is the Most Popular Flavour</a:t>
            </a:r>
            <a:endParaRPr b="0" i="0" sz="1400" u="none" cap="none" strike="noStrike">
              <a:solidFill>
                <a:schemeClr val="dk1"/>
              </a:solidFill>
              <a:latin typeface="Calibri"/>
              <a:ea typeface="Calibri"/>
              <a:cs typeface="Calibri"/>
              <a:sym typeface="Calibri"/>
            </a:endParaRPr>
          </a:p>
        </p:txBody>
      </p:sp>
      <p:sp>
        <p:nvSpPr>
          <p:cNvPr id="156" name="Google Shape;156;p8"/>
          <p:cNvSpPr/>
          <p:nvPr/>
        </p:nvSpPr>
        <p:spPr>
          <a:xfrm>
            <a:off x="960120" y="333756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D0E8"/>
              </a:buClr>
              <a:buSzPts val="1150"/>
              <a:buFont typeface="Calibri"/>
              <a:buNone/>
            </a:pPr>
            <a:r>
              <a:rPr lang="en-US" sz="1150">
                <a:solidFill>
                  <a:srgbClr val="B8D0E8"/>
                </a:solidFill>
                <a:latin typeface="Calibri"/>
                <a:ea typeface="Calibri"/>
                <a:cs typeface="Calibri"/>
                <a:sym typeface="Calibri"/>
              </a:rPr>
              <a:t>Cherry leads all individual flavours with 9,302 units (£13.4k revenue). In contrast, Vanilla shows the lowest engagement. Cherry is a hero product. Resources should be shifted from Vanilla toward Cherry-based marketing to capitalise on existing momentum.</a:t>
            </a:r>
            <a:endParaRPr b="0" i="0" sz="1150" u="none" cap="none" strike="noStrike">
              <a:solidFill>
                <a:schemeClr val="dk1"/>
              </a:solidFill>
              <a:latin typeface="Calibri"/>
              <a:ea typeface="Calibri"/>
              <a:cs typeface="Calibri"/>
              <a:sym typeface="Calibri"/>
            </a:endParaRPr>
          </a:p>
        </p:txBody>
      </p:sp>
      <p:sp>
        <p:nvSpPr>
          <p:cNvPr id="157" name="Google Shape;157;p8"/>
          <p:cNvSpPr/>
          <p:nvPr/>
        </p:nvSpPr>
        <p:spPr>
          <a:xfrm>
            <a:off x="320040" y="4087368"/>
            <a:ext cx="502920" cy="502920"/>
          </a:xfrm>
          <a:prstGeom prst="ellipse">
            <a:avLst/>
          </a:prstGeom>
          <a:solidFill>
            <a:srgbClr val="028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320040" y="40873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04</a:t>
            </a:r>
            <a:endParaRPr b="0" i="0" sz="1200" u="none" cap="none" strike="noStrike">
              <a:solidFill>
                <a:schemeClr val="dk1"/>
              </a:solidFill>
              <a:latin typeface="Calibri"/>
              <a:ea typeface="Calibri"/>
              <a:cs typeface="Calibri"/>
              <a:sym typeface="Calibri"/>
            </a:endParaRPr>
          </a:p>
        </p:txBody>
      </p:sp>
      <p:sp>
        <p:nvSpPr>
          <p:cNvPr id="159" name="Google Shape;159;p8"/>
          <p:cNvSpPr/>
          <p:nvPr/>
        </p:nvSpPr>
        <p:spPr>
          <a:xfrm>
            <a:off x="960120" y="406908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8D1"/>
              </a:buClr>
              <a:buSzPts val="1400"/>
              <a:buFont typeface="Calibri"/>
              <a:buNone/>
            </a:pPr>
            <a:r>
              <a:rPr b="1" i="0" lang="en-US" sz="1400" u="none" cap="none" strike="noStrike">
                <a:solidFill>
                  <a:srgbClr val="0288D1"/>
                </a:solidFill>
                <a:latin typeface="Calibri"/>
                <a:ea typeface="Calibri"/>
                <a:cs typeface="Calibri"/>
                <a:sym typeface="Calibri"/>
              </a:rPr>
              <a:t>Price Does Not Always Drive Volume</a:t>
            </a:r>
            <a:endParaRPr b="0" i="0" sz="1400" u="none" cap="none" strike="noStrike">
              <a:solidFill>
                <a:schemeClr val="dk1"/>
              </a:solidFill>
              <a:latin typeface="Calibri"/>
              <a:ea typeface="Calibri"/>
              <a:cs typeface="Calibri"/>
              <a:sym typeface="Calibri"/>
            </a:endParaRPr>
          </a:p>
        </p:txBody>
      </p:sp>
      <p:sp>
        <p:nvSpPr>
          <p:cNvPr id="160" name="Google Shape;160;p8"/>
          <p:cNvSpPr/>
          <p:nvPr/>
        </p:nvSpPr>
        <p:spPr>
          <a:xfrm>
            <a:off x="960120" y="4378330"/>
            <a:ext cx="7863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D0E8"/>
              </a:buClr>
              <a:buSzPts val="1150"/>
              <a:buFont typeface="Calibri"/>
              <a:buNone/>
            </a:pPr>
            <a:r>
              <a:rPr b="0" i="0" lang="en-US" sz="1150" u="none" cap="none" strike="noStrike">
                <a:solidFill>
                  <a:srgbClr val="B8D0E8"/>
                </a:solidFill>
                <a:latin typeface="Calibri"/>
                <a:ea typeface="Calibri"/>
                <a:cs typeface="Calibri"/>
                <a:sym typeface="Calibri"/>
              </a:rPr>
              <a:t>Normal Cola in Spain achieves the highest single-product revenue (£3,734)</a:t>
            </a:r>
            <a:r>
              <a:rPr lang="en-US" sz="1150">
                <a:solidFill>
                  <a:srgbClr val="B8D0E8"/>
                </a:solidFill>
                <a:latin typeface="Calibri"/>
                <a:ea typeface="Calibri"/>
                <a:cs typeface="Calibri"/>
                <a:sym typeface="Calibri"/>
              </a:rPr>
              <a:t> at a premium price of </a:t>
            </a:r>
            <a:r>
              <a:rPr b="0" i="0" lang="en-US" sz="1150" u="none" cap="none" strike="noStrike">
                <a:solidFill>
                  <a:srgbClr val="B8D0E8"/>
                </a:solidFill>
                <a:latin typeface="Calibri"/>
                <a:ea typeface="Calibri"/>
                <a:cs typeface="Calibri"/>
                <a:sym typeface="Calibri"/>
              </a:rPr>
              <a:t>£1.92</a:t>
            </a:r>
            <a:r>
              <a:rPr lang="en-US" sz="1150">
                <a:solidFill>
                  <a:srgbClr val="B8D0E8"/>
                </a:solidFill>
                <a:latin typeface="Calibri"/>
                <a:ea typeface="Calibri"/>
                <a:cs typeface="Calibri"/>
                <a:sym typeface="Calibri"/>
              </a:rPr>
              <a:t>. This shows that there is price elasticity within the portfolio, meaning customers are willing to pay more for the right product in the right market, justifying higher margins elsewhere.</a:t>
            </a:r>
            <a:endParaRPr b="0" i="0" sz="1150" u="none" cap="none" strike="noStrike">
              <a:solidFill>
                <a:schemeClr val="dk1"/>
              </a:solidFill>
              <a:latin typeface="Calibri"/>
              <a:ea typeface="Calibri"/>
              <a:cs typeface="Calibri"/>
              <a:sym typeface="Calibri"/>
            </a:endParaRPr>
          </a:p>
        </p:txBody>
      </p:sp>
      <p:sp>
        <p:nvSpPr>
          <p:cNvPr id="161" name="Google Shape;161;p8"/>
          <p:cNvSpPr/>
          <p:nvPr/>
        </p:nvSpPr>
        <p:spPr>
          <a:xfrm>
            <a:off x="320040" y="4800600"/>
            <a:ext cx="85039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06070"/>
              </a:buClr>
              <a:buSzPts val="900"/>
              <a:buFont typeface="Calibri"/>
              <a:buNone/>
            </a:pPr>
            <a:r>
              <a:rPr b="0" i="0" lang="en-US" sz="900" u="none" cap="none" strike="noStrike">
                <a:solidFill>
                  <a:srgbClr val="506070"/>
                </a:solidFill>
                <a:latin typeface="Calibri"/>
                <a:ea typeface="Calibri"/>
                <a:cs typeface="Calibri"/>
                <a:sym typeface="Calibri"/>
              </a:rPr>
              <a:t>NCFE Level 2 Data Analysis  •  Dataset: 48 cleaned records  •  6 countries  •  2 brands  •  8 flavours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2026-04-06T00:00:13Z</dcterms:created>
  <dc:creator>Data Analysis Assignment</dc:creator>
</cp:coreProperties>
</file>